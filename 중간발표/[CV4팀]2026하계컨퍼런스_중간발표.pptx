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7" r:id="rId7"/>
    <p:sldId id="262" r:id="rId8"/>
    <p:sldId id="268" r:id="rId9"/>
    <p:sldId id="264" r:id="rId10"/>
    <p:sldId id="265" r:id="rId11"/>
  </p:sldIdLst>
  <p:sldSz cx="9144000" cy="5143500" type="screen16x9"/>
  <p:notesSz cx="6858000" cy="9144000"/>
  <p:embeddedFontLst>
    <p:embeddedFont>
      <p:font typeface="NanumGothic" panose="020D0604000000000000" pitchFamily="34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6" roundtripDataSignature="AMtx7mhF9jdrkSd81mOCqnISMtt3bhXh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88630" autoAdjust="0"/>
  </p:normalViewPr>
  <p:slideViewPr>
    <p:cSldViewPr snapToGrid="0">
      <p:cViewPr varScale="1">
        <p:scale>
          <a:sx n="149" d="100"/>
          <a:sy n="149" d="100"/>
        </p:scale>
        <p:origin x="1168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b00f5af5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3ab00f5af5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583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endParaRPr dirty="0">
              <a:solidFill>
                <a:srgbClr val="1F1F1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f0c4636bd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9f0c4636bd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1339750" y="2380000"/>
            <a:ext cx="5600000" cy="1477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ko-KR" altLang="en-US" sz="2500" b="1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CUAI 하계 컨퍼런스  CV 4팀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ko-KR" altLang="en-US" sz="1500" b="1" i="0" u="none" strike="noStrike" cap="none" dirty="0">
                <a:solidFill>
                  <a:srgbClr val="4A5878"/>
                </a:solidFill>
                <a:latin typeface="Arial"/>
                <a:ea typeface="Arial"/>
                <a:cs typeface="Arial"/>
                <a:sym typeface="Arial"/>
              </a:rPr>
              <a:t>저조도 개선 · 압축 통합 코덱  |  중간발표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2026.07.28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altLang="en-US" sz="1400" i="0" u="none" strike="noStrike" cap="none" dirty="0">
                <a:solidFill>
                  <a:srgbClr val="19264B"/>
                </a:solidFill>
                <a:latin typeface="Arial"/>
                <a:ea typeface="Arial"/>
                <a:cs typeface="Arial"/>
                <a:sym typeface="Arial"/>
              </a:rPr>
              <a:t>발표자 : </a:t>
            </a:r>
            <a:r>
              <a:rPr lang="ko-KR" altLang="en-US" dirty="0">
                <a:solidFill>
                  <a:srgbClr val="19264B"/>
                </a:solidFill>
              </a:rPr>
              <a:t>인선우</a:t>
            </a:r>
            <a:endParaRPr lang="ko-KR" altLang="en-US" sz="1400" i="0" u="none" strike="noStrike" cap="none" dirty="0">
              <a:solidFill>
                <a:srgbClr val="19264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56;p1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" name="Google Shape;57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연구 개요 (Recap)</a:t>
            </a: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1408975" y="1035000"/>
            <a:ext cx="7550000" cy="3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연구 목표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19264B"/>
                </a:solidFill>
              </a:rPr>
              <a:t>야간 CCTV·드론 등 극저조도 환경을 위한 「저조도 개선 + 압축」 통합 End-to-End 코덱</a:t>
            </a:r>
          </a:p>
          <a:p>
            <a:pPr marL="22860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19264B"/>
                </a:solidFill>
              </a:rPr>
              <a:t>Base Model : CompressAI bmshj2018_hyperprior (Scale Hyperprior)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05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핵심 기여 3가지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19264B"/>
                </a:solidFill>
              </a:rPr>
              <a:t>1.  Task 확장  —  인공 가우시안 노이즈가 아닌 실제 저조도 데이터(LOL)로 학습해 밝기 복원까지 동시 수행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19264B"/>
                </a:solidFill>
              </a:rPr>
              <a:t>2.  CBAM  —  채널·공간 Attention으로 경량 구조를 유지하며 저조도 특징을 강조 (Edge 디바이스 탑재 고려)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50" dirty="0">
                <a:solidFill>
                  <a:srgbClr val="19264B"/>
                </a:solidFill>
              </a:rPr>
              <a:t>3.  Smoothed Edge Loss  —  MSE의 Oversmoothing을 보완해 윤곽선·문자 등 고주파 성분 보존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15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최종 손실 함수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200" b="1" dirty="0">
              <a:solidFill>
                <a:srgbClr val="19264B"/>
              </a:solidFill>
            </a:endParaRPr>
          </a:p>
        </p:txBody>
      </p:sp>
      <p:pic>
        <p:nvPicPr>
          <p:cNvPr id="900" name="Formula 900"/>
          <p:cNvPicPr preferRelativeResize="0"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729000" y="3160000"/>
            <a:ext cx="4631951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694944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진행 현황 요약</a:t>
            </a: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1408176" y="1033271"/>
            <a:ext cx="7406640" cy="2349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[완료]  1~2주차</a:t>
            </a:r>
            <a:r>
              <a:rPr lang="ko-KR" altLang="en-US" sz="1150" dirty="0">
                <a:solidFill>
                  <a:srgbClr val="19264B"/>
                </a:solidFill>
              </a:rPr>
              <a:t>   ·  문제 정의 및 선행 연구 조사 (Cheng et al., ECCV 2022)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[완료]  2주차</a:t>
            </a:r>
            <a:r>
              <a:rPr lang="ko-KR" altLang="en-US" sz="1150" dirty="0">
                <a:solidFill>
                  <a:srgbClr val="19264B"/>
                </a:solidFill>
              </a:rPr>
              <a:t>   ·  LOL 데이터셋 확보 및 </a:t>
            </a:r>
            <a:r>
              <a:rPr lang="en-US" altLang="ko-KR" sz="1150" dirty="0">
                <a:solidFill>
                  <a:srgbClr val="19264B"/>
                </a:solidFill>
              </a:rPr>
              <a:t>baseline</a:t>
            </a:r>
            <a:r>
              <a:rPr lang="ko-KR" altLang="en-US" sz="1150" dirty="0">
                <a:solidFill>
                  <a:srgbClr val="19264B"/>
                </a:solidFill>
              </a:rPr>
              <a:t> 구현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[완료]  3주차</a:t>
            </a:r>
            <a:r>
              <a:rPr lang="ko-KR" altLang="en-US" sz="1150" dirty="0">
                <a:solidFill>
                  <a:srgbClr val="19264B"/>
                </a:solidFill>
              </a:rPr>
              <a:t>   ·  CBAM 모듈 구현 및 삽입 위치(encoder / decoder / none) 파라미터화</a:t>
            </a:r>
            <a:endParaRPr lang="en-US" altLang="ko-KR" sz="115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[완료]  4주차</a:t>
            </a:r>
            <a:r>
              <a:rPr lang="ko-KR" altLang="en-US" sz="1150" dirty="0">
                <a:solidFill>
                  <a:srgbClr val="19264B"/>
                </a:solidFill>
              </a:rPr>
              <a:t>   ·  Baseline 3 학습 300 epoch 완주 및 eval15 정량·정성 평가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[예정]  5주차</a:t>
            </a:r>
            <a:r>
              <a:rPr lang="ko-KR" altLang="en-US" sz="1150" dirty="0">
                <a:solidFill>
                  <a:srgbClr val="19264B"/>
                </a:solidFill>
              </a:rPr>
              <a:t>   ·  Ours(CBAM + Edge Loss) 학습 및 단계별 Ablation 비교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[예정]  5~6주차</a:t>
            </a:r>
            <a:r>
              <a:rPr lang="ko-KR" altLang="en-US" sz="1150" dirty="0">
                <a:solidFill>
                  <a:srgbClr val="19264B"/>
                </a:solidFill>
              </a:rPr>
              <a:t>   ·  quality별 다중 학습으로 RD-Curve 작성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32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[예정]  6주차</a:t>
            </a:r>
            <a:r>
              <a:rPr lang="ko-KR" altLang="en-US" sz="1150" dirty="0">
                <a:solidFill>
                  <a:srgbClr val="19264B"/>
                </a:solidFill>
              </a:rPr>
              <a:t>   ·  최종 발표 자료 정리 (8/25)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5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요약  ·  구현 · 인프라 · 기준선 학습까지 완료.  밝기 복원은 성공했으나 윤곽 뭉개짐이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             확인되어 Edge Loss 도입의 필요성을 데이터로 확보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694944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구현 ①  Smoothed Edge Loss</a:t>
            </a: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1408975" y="1035000"/>
            <a:ext cx="7550000" cy="3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rgbClr val="19264B"/>
                </a:solidFill>
              </a:rPr>
              <a:t>설계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19264B"/>
                </a:solidFill>
              </a:rPr>
              <a:t>Sobel 커널로 gradient magnitude 추출 (BT.601 휘도 채널 기준)</a:t>
            </a:r>
          </a:p>
          <a:p>
            <a:pPr marL="0" lvl="0" indent="0" algn="l" rtl="0">
              <a:lnSpc>
                <a:spcPct val="112000"/>
              </a:lnSpc>
              <a:spcBef>
                <a:spcPts val="300"/>
              </a:spcBef>
              <a:spcAft>
                <a:spcPts val="800"/>
              </a:spcAft>
              <a:buNone/>
            </a:pPr>
            <a:endParaRPr lang="ko-KR" altLang="en-US" sz="12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2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rgbClr val="19264B"/>
                </a:solidFill>
              </a:rPr>
              <a:t>문제 1  —  데이터 정합 오차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19264B"/>
                </a:solidFill>
              </a:rPr>
              <a:t>LOL의 low / high pair는 1~3px 미세하게 어긋나 있어, 날카로운 엣지 맵을 그대로 비교하면 정답을 복원해도 ghosting 페널티가 발생</a:t>
            </a:r>
          </a:p>
          <a:p>
            <a:pPr marL="22860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19264B"/>
                </a:solidFill>
              </a:rPr>
              <a:t>→ 엣지 맵에 Gaussian blur를 적용해 미세 어긋남에 둔감한 손실로 변환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05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ko-KR" altLang="en-US" sz="1100" b="1" dirty="0">
                <a:solidFill>
                  <a:srgbClr val="19264B"/>
                </a:solidFill>
              </a:rPr>
              <a:t>문제 2  —  손실 항 스케일 불균형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dirty="0">
                <a:solidFill>
                  <a:srgbClr val="19264B"/>
                </a:solidFill>
              </a:rPr>
              <a:t>MSE 항의 실효 계수가 λ·255² ≈ 227.6으로 압도적이라 Edge 항의 기여도가 1% 미만</a:t>
            </a:r>
          </a:p>
          <a:p>
            <a:pPr marL="22860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50" dirty="0">
                <a:solidFill>
                  <a:srgbClr val="19264B"/>
                </a:solidFill>
              </a:rPr>
              <a:t>→ calibrate_edge_weight()로 각 항의 실제 크기를 측정해 목표 비중에 맞는 γ를 자동 산출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05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100" b="1" dirty="0">
                <a:solidFill>
                  <a:srgbClr val="19264B"/>
                </a:solidFill>
              </a:rPr>
              <a:t>Ablation 보호  ·  mse_blur_sigma 기본값 0  →  옵션을 켜지 않으면 기존 baseline과 완전히 동일</a:t>
            </a:r>
          </a:p>
        </p:txBody>
      </p:sp>
      <p:pic>
        <p:nvPicPr>
          <p:cNvPr id="901" name="Formula 901"/>
          <p:cNvPicPr preferRelativeResize="0"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729000" y="1626000"/>
            <a:ext cx="3617501" cy="301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694944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구현 ②  CBAM 및 Ablation 설계</a:t>
            </a: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1408176" y="1033271"/>
            <a:ext cx="7406640" cy="2109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CBAM (Convolutional Block Attention Module)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Channel Attention → Spatial Attention 순차 적용  (in_channels = model.M, reduction = 16)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삽입 위치를 config로 파라미터화 :  encoder(g_a 뒤) / decoder(g_s 앞) / none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Ablation 설계  —  한 번에 한 가지 변수만 변경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Baseline 1</a:t>
            </a:r>
            <a:r>
              <a:rPr lang="ko-KR" altLang="en-US" sz="1080" dirty="0">
                <a:solidFill>
                  <a:srgbClr val="19264B"/>
                </a:solidFill>
              </a:rPr>
              <a:t>  (완료)     순정 CompressAI, 학습 없음  →  압축 백본의 RD 특성 파악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Baseline 2</a:t>
            </a:r>
            <a:r>
              <a:rPr lang="ko-KR" altLang="en-US" sz="1080" dirty="0">
                <a:solidFill>
                  <a:srgbClr val="19264B"/>
                </a:solidFill>
              </a:rPr>
              <a:t>  (완료)     인공 가우시안 노이즈 학습  →  실제 저조도에서 실패, Domain Shift 근거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Baseline 3</a:t>
            </a:r>
            <a:r>
              <a:rPr lang="ko-KR" altLang="en-US" sz="1080" dirty="0">
                <a:solidFill>
                  <a:srgbClr val="19264B"/>
                </a:solidFill>
              </a:rPr>
              <a:t>  (완료)     LOL 학습 + 순수 RD Loss (CBAM ✕, Edge ✕)  →  공식 비교 기준선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Ours</a:t>
            </a:r>
            <a:r>
              <a:rPr lang="ko-KR" altLang="en-US" sz="1080" dirty="0">
                <a:solidFill>
                  <a:srgbClr val="19264B"/>
                </a:solidFill>
              </a:rPr>
              <a:t>           (예정)     Baseline 3 + CBAM + Edge Loss  →  두 기여의 효과를 단독 측정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694944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구현 ③  Baseline 1 · 2 및 RD-Curve</a:t>
            </a: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1408176" y="1033271"/>
            <a:ext cx="425196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Baseline 1  —  순정 CompressAI (학습 없음)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사전학습 bmshj2018_hyperprior를 eval15에 그대로 적용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quality 1 / 2 / 3 각각 model.compress()로 실제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비트스트림을 생성해 BPP를 실측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측정 결과  (eval15 15장 평균)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11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q = 1</a:t>
            </a:r>
            <a:r>
              <a:rPr lang="ko-KR" altLang="en-US" sz="1080" dirty="0">
                <a:solidFill>
                  <a:srgbClr val="19264B"/>
                </a:solidFill>
              </a:rPr>
              <a:t>      BPP 0.035      PSNR 35.59 dB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11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q = 2</a:t>
            </a:r>
            <a:r>
              <a:rPr lang="ko-KR" altLang="en-US" sz="1080" dirty="0">
                <a:solidFill>
                  <a:srgbClr val="19264B"/>
                </a:solidFill>
              </a:rPr>
              <a:t>      BPP 0.047      PSNR 36.73 dB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11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q = 3</a:t>
            </a:r>
            <a:r>
              <a:rPr lang="ko-KR" altLang="en-US" sz="1080" dirty="0">
                <a:solidFill>
                  <a:srgbClr val="19264B"/>
                </a:solidFill>
              </a:rPr>
              <a:t>      BPP 0.064      PSNR 37.87 dB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→ quality를 올리면 용량과 화질이 함께 증가하는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    정상적인 Rate-Distortion 곡선 확인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Baseline 2  —  가우시안 JDC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깨끗한 사진에 인공 노이즈(σ = 25/255)를 합성해 학습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4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→ 실제 저조도에서 밝기 개선 실패,  기존 논문 방식의</a:t>
            </a:r>
          </a:p>
          <a:p>
            <a:pPr marL="5715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    Domain Shift 한계를 실증</a:t>
            </a:r>
          </a:p>
        </p:txBody>
      </p:sp>
      <p:pic>
        <p:nvPicPr>
          <p:cNvPr id="71" name="RDCurve"/>
          <p:cNvPicPr preferRelativeResize="0"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5742432" y="1207008"/>
            <a:ext cx="3127248" cy="225856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RDNote"/>
          <p:cNvSpPr txBox="1"/>
          <p:nvPr/>
        </p:nvSpPr>
        <p:spPr>
          <a:xfrm>
            <a:off x="5742432" y="3703320"/>
            <a:ext cx="3127248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930" b="1" dirty="0">
                <a:solidFill>
                  <a:srgbClr val="19264B"/>
                </a:solidFill>
              </a:rPr>
              <a:t>주의  ·  위 PSNR은 압축 충실도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930" b="1" dirty="0">
                <a:solidFill>
                  <a:srgbClr val="19264B"/>
                </a:solidFill>
              </a:rPr>
              <a:t>            (복원 vs 입력) 기준으로,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930" b="1" dirty="0">
                <a:solidFill>
                  <a:srgbClr val="19264B"/>
                </a:solidFill>
              </a:rPr>
              <a:t>            개선 성능(복원 vs 정답)과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930" b="1" dirty="0">
                <a:solidFill>
                  <a:srgbClr val="19264B"/>
                </a:solidFill>
              </a:rPr>
              <a:t>            축이 서로 다름</a:t>
            </a:r>
          </a:p>
        </p:txBody>
      </p:sp>
      <p:pic>
        <p:nvPicPr>
          <p:cNvPr id="950" name="B2 Failure Strip"/>
          <p:cNvPicPr preferRelativeResize="0"/>
          <p:nvPr/>
        </p:nvPicPr>
        <p:blipFill rotWithShape="1">
          <a:blip r:embed="rId4">
            <a:alphaModFix/>
          </a:blip>
          <a:srcRect/>
          <a:stretch>
            <a:fillRect/>
          </a:stretch>
        </p:blipFill>
        <p:spPr>
          <a:xfrm>
            <a:off x="1500000" y="4360000"/>
            <a:ext cx="2074149" cy="676500"/>
          </a:xfrm>
          <a:prstGeom prst="rect">
            <a:avLst/>
          </a:prstGeom>
          <a:noFill/>
          <a:ln w="9525">
            <a:solidFill>
              <a:srgbClr val="C8CDD9"/>
            </a:solidFill>
          </a:ln>
        </p:spPr>
      </p:pic>
      <p:sp>
        <p:nvSpPr>
          <p:cNvPr id="951" name="B2 Caption"/>
          <p:cNvSpPr txBox="1"/>
          <p:nvPr/>
        </p:nvSpPr>
        <p:spPr>
          <a:xfrm>
            <a:off x="3754149" y="4400000"/>
            <a:ext cx="5139851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160"/>
              </a:spcAft>
              <a:buNone/>
            </a:pPr>
            <a:r>
              <a:rPr lang="ko-KR" altLang="en-US" sz="1000" dirty="0">
                <a:solidFill>
                  <a:srgbClr val="5A6478"/>
                </a:solidFill>
              </a:rPr>
              <a:t>입력 · Baseline 2 출력 · 정답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ko-KR" altLang="en-US" sz="1100" b="1" dirty="0">
                <a:solidFill>
                  <a:srgbClr val="B03A2E"/>
                </a:solidFill>
              </a:rPr>
              <a:t>출력이 입력보다 오히려 어두움 — PSNR 4.48 dB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" dirty="0">
                <a:solidFill>
                  <a:srgbClr val="19264B"/>
                </a:solidFill>
              </a:rPr>
              <a:t>밝기 개선이 전혀 일어나지 않음을 확인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694944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Baseline 3 학습 결과 (정량)</a:t>
            </a: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1408176" y="1033271"/>
            <a:ext cx="7406640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학습 설정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Model   :  bmshj2018_hyperprior (quality = 2, pretrained)   /   CBAM : none   /   γ : 0.0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Data     :  LOL our485 (485 pairs), 256×256 random crop + horizontal flip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Optim   :  Adam  lr 1e-4 (main) / 1e-3 (aux),   λ = 0.0035,   batch 32,   300 epochs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Loss     :  R_bpp  +  λ · 255² · MSE      (순수 Rate-Distortion, Edge 항 없음)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학습 로그  (WandB, 300 epoch 완주 · 256×256 crop 기준)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Loss_Total  3.97          BPP  0.331          MSE_Term  3.64          Edge_Term  0.00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MSE_Term은 20~30 epoch에서 급락 후 정체  →  단순 구조의 표현력 한계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eval15 정량 평가  (학습에 쓰지 않은 15장 · 전체 해상도 · 실제 비트스트림)</a:t>
            </a:r>
          </a:p>
        </p:txBody>
      </p:sp>
      <p:sp>
        <p:nvSpPr>
          <p:cNvPr id="71" name="Card"/>
          <p:cNvSpPr/>
          <p:nvPr/>
        </p:nvSpPr>
        <p:spPr>
          <a:xfrm>
            <a:off x="1463040" y="3611880"/>
            <a:ext cx="2240280" cy="841248"/>
          </a:xfrm>
          <a:prstGeom prst="roundRect">
            <a:avLst>
              <a:gd name="adj" fmla="val 14000"/>
            </a:avLst>
          </a:prstGeom>
          <a:solidFill>
            <a:srgbClr val="19264B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</a:rPr>
              <a:t>7.76 → 18.07 dB</a:t>
            </a:r>
          </a:p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>
                <a:solidFill>
                  <a:srgbClr val="C9D4EC"/>
                </a:solidFill>
              </a:rPr>
              <a:t>PSNR  ( +10.31 dB )</a:t>
            </a:r>
          </a:p>
        </p:txBody>
      </p:sp>
      <p:sp>
        <p:nvSpPr>
          <p:cNvPr id="72" name="Card"/>
          <p:cNvSpPr/>
          <p:nvPr/>
        </p:nvSpPr>
        <p:spPr>
          <a:xfrm>
            <a:off x="3995928" y="3611880"/>
            <a:ext cx="2240280" cy="841248"/>
          </a:xfrm>
          <a:prstGeom prst="roundRect">
            <a:avLst>
              <a:gd name="adj" fmla="val 14000"/>
            </a:avLst>
          </a:prstGeom>
          <a:solidFill>
            <a:srgbClr val="2E4B9B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</a:rPr>
              <a:t>0.848</a:t>
            </a:r>
          </a:p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>
                <a:solidFill>
                  <a:srgbClr val="C9D4EC"/>
                </a:solidFill>
              </a:rPr>
              <a:t>SSIM</a:t>
            </a:r>
          </a:p>
        </p:txBody>
      </p:sp>
      <p:sp>
        <p:nvSpPr>
          <p:cNvPr id="73" name="Card"/>
          <p:cNvSpPr/>
          <p:nvPr/>
        </p:nvSpPr>
        <p:spPr>
          <a:xfrm>
            <a:off x="6528816" y="3611880"/>
            <a:ext cx="2240280" cy="841248"/>
          </a:xfrm>
          <a:prstGeom prst="roundRect">
            <a:avLst>
              <a:gd name="adj" fmla="val 14000"/>
            </a:avLst>
          </a:prstGeom>
          <a:solidFill>
            <a:srgbClr val="2E4B9B"/>
          </a:solidFill>
          <a:ln>
            <a:noFill/>
          </a:ln>
        </p:spPr>
        <p:txBody>
          <a:bodyPr spcFirstLastPara="1" wrap="square" lIns="45700" tIns="45700" rIns="45700" bIns="45700" anchor="ctr">
            <a:no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800" b="1" dirty="0">
                <a:solidFill>
                  <a:srgbClr val="FFFFFF"/>
                </a:solidFill>
              </a:rPr>
              <a:t>0.173</a:t>
            </a:r>
          </a:p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900" dirty="0">
                <a:solidFill>
                  <a:srgbClr val="C9D4EC"/>
                </a:solidFill>
              </a:rPr>
              <a:t>BPP  (bits per pixel)</a:t>
            </a:r>
          </a:p>
        </p:txBody>
      </p:sp>
      <p:sp>
        <p:nvSpPr>
          <p:cNvPr id="74" name="Verdict"/>
          <p:cNvSpPr txBox="1"/>
          <p:nvPr/>
        </p:nvSpPr>
        <p:spPr>
          <a:xfrm>
            <a:off x="1463040" y="459943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판정  ·  밝기 복원이 정상 작동함을 확인  →  Ours와 비교할 공식 기준선으로 채택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694944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Baseline 3 복원 결과</a:t>
            </a: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6263640" y="1033271"/>
            <a:ext cx="2697480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관측 결과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ko-KR" altLang="en-US" sz="1100" b="1" dirty="0">
                <a:solidFill>
                  <a:srgbClr val="19264B"/>
                </a:solidFill>
              </a:rPr>
              <a:t>밝기 복원  —  성공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극단적으로 어두운 입력에서도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전반적 밝기와 색감을 복원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PSNR  7.76 → 18.07 dB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140"/>
              </a:spcAft>
              <a:buNone/>
            </a:pPr>
            <a:r>
              <a:rPr lang="ko-KR" altLang="en-US" sz="1100" b="1" dirty="0">
                <a:solidFill>
                  <a:srgbClr val="19264B"/>
                </a:solidFill>
              </a:rPr>
              <a:t>윤곽선  —  뭉개짐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간판 글씨 · 직물 질감 등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고주파 디테일이 소실되는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전형적 Oversmoothing 발생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7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050" b="1" dirty="0">
                <a:solidFill>
                  <a:srgbClr val="19264B"/>
                </a:solidFill>
              </a:rPr>
              <a:t>→  MSE 단독 손실의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050" b="1" dirty="0">
                <a:solidFill>
                  <a:srgbClr val="19264B"/>
                </a:solidFill>
              </a:rPr>
              <a:t>     구조적 한계를 확인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4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050" b="1" dirty="0">
                <a:solidFill>
                  <a:srgbClr val="19264B"/>
                </a:solidFill>
              </a:rPr>
              <a:t>→  Edge Loss 도입의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050" b="1" dirty="0">
                <a:solidFill>
                  <a:srgbClr val="19264B"/>
                </a:solidFill>
              </a:rPr>
              <a:t>     근거를 정성적으로 확보</a:t>
            </a:r>
          </a:p>
        </p:txBody>
      </p:sp>
      <p:pic>
        <p:nvPicPr>
          <p:cNvPr id="71" name="B3Grid"/>
          <p:cNvPicPr preferRelativeResize="0"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371600" y="1051560"/>
            <a:ext cx="4800600" cy="361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b00f5af53_0_8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" name="Google Shape;63;g3ab00f5af53_0_8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4" name="Google Shape;64;g3ab00f5af53_0_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g3ab00f5af53_0_8"/>
          <p:cNvSpPr txBox="1"/>
          <p:nvPr/>
        </p:nvSpPr>
        <p:spPr>
          <a:xfrm>
            <a:off x="1408975" y="373782"/>
            <a:ext cx="694944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ko-KR" altLang="en-US" sz="2000" b="1" i="0" u="none" strike="noStrike" cap="none" dirty="0">
                <a:solidFill>
                  <a:srgbClr val="19264B"/>
                </a:solidFill>
                <a:latin typeface="NanumGothic"/>
                <a:ea typeface="NanumGothic"/>
                <a:cs typeface="NanumGothic"/>
                <a:sym typeface="Nanum Gothic"/>
              </a:rPr>
              <a:t>향후 계획</a:t>
            </a:r>
          </a:p>
        </p:txBody>
      </p:sp>
      <p:sp>
        <p:nvSpPr>
          <p:cNvPr id="70" name="Google Shape;70;g3ab00f5af53_0_8"/>
          <p:cNvSpPr txBox="1"/>
          <p:nvPr/>
        </p:nvSpPr>
        <p:spPr>
          <a:xfrm>
            <a:off x="1408176" y="1033271"/>
            <a:ext cx="7406640" cy="2834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4주차  (현재)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Baseline 3 기준선 확보 완료</a:t>
            </a: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5주차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단계별 Ablation 학습 :  (a) Edge Loss만 추가   (b) CBAM만 추가   (c) 둘 다 적용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CBAM 삽입 위치(encoder vs decoder) 비교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5~6주차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quality 1 / 2 / 3 다중 학습으로 Ours RD-Curve 작성  →  Baseline 3과 동일 축에서 비교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간판 텍스트 · 질감 영역 zoom-in 정성 비교로 Edge Loss 효과 시각화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lang="ko-KR" altLang="en-US" sz="1150" b="1" dirty="0">
                <a:solidFill>
                  <a:srgbClr val="19264B"/>
                </a:solidFill>
              </a:rPr>
              <a:t>6주차</a:t>
            </a:r>
          </a:p>
          <a:p>
            <a:pPr marL="114300" lvl="0" indent="0" algn="l" rtl="0">
              <a:lnSpc>
                <a:spcPct val="112000"/>
              </a:lnSpc>
              <a:spcBef>
                <a:spcPts val="0"/>
              </a:spcBef>
              <a:spcAft>
                <a:spcPts val="90"/>
              </a:spcAft>
              <a:buNone/>
            </a:pPr>
            <a:r>
              <a:rPr lang="ko-KR" altLang="en-US" sz="1080" dirty="0">
                <a:solidFill>
                  <a:srgbClr val="19264B"/>
                </a:solidFill>
              </a:rPr>
              <a:t>최종 발표 자료 정리  (8/25)</a:t>
            </a: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600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60"/>
              </a:spcAft>
              <a:buNone/>
            </a:pPr>
            <a:r>
              <a:rPr lang="ko-KR" altLang="en-US" sz="1080" b="1" dirty="0">
                <a:solidFill>
                  <a:srgbClr val="19264B"/>
                </a:solidFill>
              </a:rPr>
              <a:t>추가 검토  ·  학습 데이터 확장 (LOL-v2 Real + Synthetic 우선, LSRW 차순위)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0c4636bd_0_57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g39f0c4636bd_0_57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1" name="Google Shape;101;g39f0c4636bd_0_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9f0c4636bd_0_57"/>
          <p:cNvSpPr txBox="1"/>
          <p:nvPr/>
        </p:nvSpPr>
        <p:spPr>
          <a:xfrm>
            <a:off x="3810000" y="2217750"/>
            <a:ext cx="2373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ko" sz="34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sz="30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1020</Words>
  <Application>Microsoft Macintosh PowerPoint</Application>
  <PresentationFormat>On-screen Show (16:9)</PresentationFormat>
  <Paragraphs>127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NanumGothic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인선우</cp:lastModifiedBy>
  <cp:revision>11</cp:revision>
  <dcterms:modified xsi:type="dcterms:W3CDTF">2026-07-28T09:04:51Z</dcterms:modified>
</cp:coreProperties>
</file>