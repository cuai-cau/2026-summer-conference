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1" r:id="rId1"/>
  </p:sldMasterIdLst>
  <p:notesMasterIdLst>
    <p:notesMasterId r:id="rId2"/>
  </p:notes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current project status (2026-07-27)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/workspace/scratch/69e832e01e20/upload/선행연구 (1).pdf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https://arxiv.org/abs/2310.04408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https://arxiv.org/abs/2408.09777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https://arxiv.org/abs/2402.09727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/workspace/scratch/69e832e01e20/tmp/materials/zip1/inner/image.png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/workspace/scratch/69e832e01e20/tmp/materials/zip4/inner/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current project status (2026-07-27)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https://weekly.munhak.com/articleDetail/95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project specification: text length exceeds 100,000 Korean characters.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Cosine similarity formula is standard linear-algebra notation; diagram values are illustrative.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project specification and question taxonomy (2026-07-27).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exact question examples; slide choices are shortened without changing their meaning.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optional needle plan (25 needles at 4% intervals; generated with GPT-5.6).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current project roadmap (2026-07-27).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/workspace/scratch/69e832e01e20/tmp/materials/zip2/inner/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/workspace/scratch/69e832e01e20/tmp/materials/zip4/inner/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https://huggingface.co/paust/pko-t5-base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https://aihub.or.kr/aihubdata/data/view.do?dataSetSn=97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https://korquad.github.io/category/1.0_KOR.html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https://korquad.github.io/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/workspace/scratch/69e832e01e20/tmp/materials/zip4/inner/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https://build.nvidia.com/mistralai/ministral-14b-instruct-2512/modelcard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https://build.nvidia.com/qwen/qwen3-next-80b-a3b-instruct/modelcard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- User-provided evaluation-text length exceeds 100,000 Korean characters.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[Sources]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b962ffdba3f14a74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2090048e5d5747c1" Type="http://schemas.openxmlformats.org/officeDocument/2006/relationships/theme" Target="../theme/theme1.xml"  /><Relationship Id="R4532fa361bd04da0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2fa361bd0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LONG</a:t>
            </a:r>
            <a:r>
              <a:rPr lang="ko-KR" altLang="en-US"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ko-KR"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CONTEXT</a:t>
            </a:r>
            <a:r>
              <a:rPr lang="ko-KR" altLang="en-US"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 인식 연구</a:t>
            </a:r>
            <a:endParaRPr lang="ko-KR" altLang="en-US" sz="58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240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lang="ko-KR" altLang="en-US" sz="2400">
                <a:solidFill>
                  <a:srgbClr val="69717d"/>
                </a:solidFill>
                <a:latin typeface="Arial"/>
                <a:ea typeface="Arial"/>
                <a:cs typeface="Arial"/>
              </a:rPr>
              <a:t>팀원 </a:t>
            </a:r>
            <a:r>
              <a:rPr lang="en-US" altLang="ko-KR" sz="2400">
                <a:solidFill>
                  <a:srgbClr val="69717d"/>
                </a:solidFill>
                <a:latin typeface="Arial"/>
                <a:ea typeface="Arial"/>
                <a:cs typeface="Arial"/>
              </a:rPr>
              <a:t>:</a:t>
            </a:r>
            <a:r>
              <a:rPr lang="ko-KR" altLang="en-US" sz="2400">
                <a:solidFill>
                  <a:srgbClr val="69717d"/>
                </a:solidFill>
                <a:latin typeface="Arial"/>
                <a:ea typeface="Arial"/>
                <a:cs typeface="Arial"/>
              </a:rPr>
              <a:t> 이경환</a:t>
            </a:r>
            <a:endParaRPr lang="ko-KR" altLang="en-US" sz="240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400050" y="1485900"/>
            <a:ext cx="18097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footer-3"/>
          <p:cNvSpPr>
            <a:spLocks noGrp="1"/>
          </p:cNvSpPr>
          <p:nvPr/>
        </p:nvSpPr>
        <p:spPr>
          <a:xfrm>
            <a:off x="11191875" y="6324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b">
            <a:normAutofit fontScale="80000"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03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01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선행연구에는 ‘질문으로 다시 꺼내기’가 없음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4" name="Content-Placeholder-1-5"/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5" name="Content-Placeholder-2-6"/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6" name="eyebrow-MIDTERM · PRIOR WORK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MIDTERM · PRIOR WORK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yebrow-right-MIDTERM · PRIOR WORK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기억하는 프롬프트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400050" y="1562100"/>
            <a:ext cx="11391900" cy="19050"/>
          </a:xfrm>
          <a:prstGeom prst="rect">
            <a:avLst/>
          </a:prstGeom>
          <a:solidFill>
            <a:srgbClr val="e24b4b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research-gap"/>
          <p:cNvSpPr>
            <a:spLocks noGrp="1"/>
          </p:cNvSpPr>
          <p:nvPr/>
        </p:nvSpPr>
        <p:spPr>
          <a:xfrm>
            <a:off x="400050" y="1762125"/>
            <a:ext cx="11391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325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RECOMP와 구조는 가깝지만,</a:t>
            </a:r>
            <a:endParaRPr sz="2325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  <a:p>
            <a:pPr algn="ctr">
              <a:defRPr sz="2325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질문 생성형 검사효과 모델은 선행연구에 없습니다.</a:t>
            </a:r>
            <a:endParaRPr sz="2325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00050" y="3257550"/>
            <a:ext cx="3562350" cy="47625"/>
          </a:xfrm>
          <a:prstGeom prst="rect">
            <a:avLst/>
          </a:prstGeom>
          <a:solidFill>
            <a:srgbClr val="168a74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400050" y="3476625"/>
            <a:ext cx="3562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75" b="1">
                <a:solidFill>
                  <a:srgbClr val="168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a74"/>
                </a:solidFill>
                <a:latin typeface="Arial"/>
                <a:ea typeface="Arial"/>
                <a:cs typeface="Arial"/>
              </a:rPr>
              <a:t>RECOMP</a:t>
            </a:r>
            <a:endParaRPr sz="1875" b="1">
              <a:solidFill>
                <a:srgbClr val="168a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400050" y="4010025"/>
            <a:ext cx="333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추출·추상 압축기를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별도 소형 모델로 학습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lvl="0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기준은 요약 유사도가 아니라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최종 QA 정답률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4314825" y="3257550"/>
            <a:ext cx="3562350" cy="47625"/>
          </a:xfrm>
          <a:prstGeom prst="rect">
            <a:avLst/>
          </a:prstGeom>
          <a:solidFill>
            <a:srgbClr val="c85a3d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4314825" y="3476625"/>
            <a:ext cx="3562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75" b="1">
                <a:solidFill>
                  <a:srgbClr val="c8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5a3d"/>
                </a:solidFill>
                <a:latin typeface="Arial"/>
                <a:ea typeface="Arial"/>
                <a:cs typeface="Arial"/>
              </a:rPr>
              <a:t>Multi-Step Pipeline</a:t>
            </a:r>
            <a:endParaRPr sz="1875" b="1">
              <a:solidFill>
                <a:srgbClr val="c85a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314825" y="4010025"/>
            <a:ext cx="333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추출 → 추상 순서를 검증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lvl="0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T5 계열에서는 추출 단계가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오히려 손해일 수 있음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→ ablation 근거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8229600" y="3257550"/>
            <a:ext cx="3562350" cy="47625"/>
          </a:xfrm>
          <a:prstGeom prst="rect">
            <a:avLst/>
          </a:prstGeom>
          <a:solidFill>
            <a:srgbClr val="3e64b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229600" y="3476625"/>
            <a:ext cx="3562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75" b="1">
                <a:solidFill>
                  <a:srgbClr val="3e64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e64b5"/>
                </a:solidFill>
                <a:latin typeface="Arial"/>
                <a:ea typeface="Arial"/>
                <a:cs typeface="Arial"/>
              </a:rPr>
              <a:t>ReadAgent</a:t>
            </a:r>
            <a:endParaRPr sz="1875" b="1">
              <a:solidFill>
                <a:srgbClr val="3e64b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229600" y="4010025"/>
            <a:ext cx="333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페이지별 gist memory로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사람의 읽기를 모사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lvl="0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프롬프팅 기반이며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12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2">
                <a:solidFill>
                  <a:srgbClr val="111318"/>
                </a:solidFill>
                <a:latin typeface="Arial"/>
                <a:ea typeface="Arial"/>
                <a:cs typeface="Arial"/>
              </a:rPr>
              <a:t>검사효과 개입은 없음</a:t>
            </a:r>
            <a:endParaRPr sz="1612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-Shape-534-p58-1"/>
          <p:cNvSpPr>
            <a:spLocks noGrp="1"/>
          </p:cNvSpPr>
          <p:nvPr/>
        </p:nvSpPr>
        <p:spPr>
          <a:xfrm>
            <a:off x="393668" y="1838801"/>
            <a:ext cx="5533168" cy="415556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2" name="Google-Shape-532-p58-3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02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-Shape-533-p58-4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되뇌기 2종 × 검사효과, 6조건 비교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Google-Shape-534-p58-5"/>
          <p:cNvSpPr>
            <a:spLocks noGrp="1"/>
          </p:cNvSpPr>
          <p:nvPr/>
        </p:nvSpPr>
        <p:spPr>
          <a:xfrm>
            <a:off x="6265069" y="2192655"/>
            <a:ext cx="5537168" cy="380171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5" name="eyebrow-EXPERIMENT MAP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EXPERIMENT MAP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yebrow-right-EXPERIMENT MAP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동일 원문 · 동일 질문 · 동일 채점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00050" y="14668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424"/>
          </a:bodyPr>
          <a:lstStyle/>
          <a:p>
            <a:pPr algn="l">
              <a:defRPr sz="16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전체 파이프라인</a:t>
            </a:r>
            <a:endParaRPr sz="16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6267450" y="14668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424"/>
          </a:bodyPr>
          <a:lstStyle/>
          <a:p>
            <a:pPr algn="l">
              <a:defRPr sz="16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평가 조건 6개</a:t>
            </a:r>
            <a:endParaRPr sz="16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3000375" y="2562225"/>
            <a:ext cx="20955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3000375" y="3514725"/>
            <a:ext cx="20955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3000375" y="4467225"/>
            <a:ext cx="20955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819150" y="192405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09650" y="2038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『지구에서 반걸음』</a:t>
            </a:r>
            <a:endParaRPr sz="16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3390900" y="20669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14회 · 10만 자+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819150" y="287655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1009650" y="29908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의미 기반 청크 분할</a:t>
            </a:r>
            <a:endParaRPr sz="16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3390900" y="30194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인접 문장 코사인 유사도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19150" y="382905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edf5ff"/>
          </a:solidFill>
          <a:ln w="19050">
            <a:solidFill>
              <a:srgbClr val="3d8d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009650" y="3943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424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조건별 컨텍스트 구성</a:t>
            </a:r>
            <a:endParaRPr sz="16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3390900" y="39719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베이스라인 2 + 개입 4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819150" y="4972050"/>
            <a:ext cx="4572000" cy="647700"/>
          </a:xfrm>
          <a:prstGeom prst="roundRect">
            <a:avLst>
              <a:gd name="adj" fmla="val 11765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009650" y="5086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424"/>
          </a:bodyPr>
          <a:lstStyle/>
          <a:p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동일 최종 QA · 채점</a:t>
            </a:r>
            <a:endParaRPr sz="16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3390900" y="5114925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r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객관식 정확도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6267450" y="1933575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l">
              <a:defRPr sz="13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비교 기준</a:t>
            </a:r>
            <a:endParaRPr sz="13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6267450" y="2276475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6362700" y="2343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0 · Closed-book</a:t>
            </a:r>
            <a:endParaRPr sz="15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9220200" y="2276475"/>
            <a:ext cx="2571750" cy="552450"/>
          </a:xfrm>
          <a:prstGeom prst="roundRect">
            <a:avLst>
              <a:gd name="adj" fmla="val 13793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9315450" y="23431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 · Raw full-context</a:t>
            </a:r>
            <a:endParaRPr sz="15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6267450" y="31623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l">
              <a:defRPr sz="13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개입 조건 · 공통 백본 pko-t5</a:t>
            </a:r>
            <a:endParaRPr sz="13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6267450" y="3562350"/>
            <a:ext cx="25717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4288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6419850" y="36957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667"/>
          </a:bodyPr>
          <a:lstStyle/>
          <a:p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 · 유지형 되뇌기</a:t>
            </a:r>
            <a:endParaRPr sz="15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6419850" y="40481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핵심 사실을 그대로 반복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9220200" y="3562350"/>
            <a:ext cx="25717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4288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9372600" y="36957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667"/>
          </a:bodyPr>
          <a:lstStyle/>
          <a:p>
            <a:pPr algn="l">
              <a:defRPr sz="15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3 · 정교화 되뇌기</a:t>
            </a:r>
            <a:endParaRPr sz="15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"/>
          <p:cNvSpPr>
            <a:spLocks noGrp="1"/>
          </p:cNvSpPr>
          <p:nvPr/>
        </p:nvSpPr>
        <p:spPr>
          <a:xfrm>
            <a:off x="9372600" y="40481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앞선 맥락과 연결해 재진술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"/>
          <p:cNvSpPr>
            <a:spLocks noGrp="1"/>
          </p:cNvSpPr>
          <p:nvPr/>
        </p:nvSpPr>
        <p:spPr>
          <a:xfrm>
            <a:off x="6267450" y="4686300"/>
            <a:ext cx="2571750" cy="895350"/>
          </a:xfrm>
          <a:prstGeom prst="roundRect">
            <a:avLst>
              <a:gd name="adj" fmla="val 8511"/>
            </a:avLst>
          </a:prstGeom>
          <a:solidFill>
            <a:srgbClr val="edf5ff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7" name=""/>
          <p:cNvSpPr>
            <a:spLocks noGrp="1"/>
          </p:cNvSpPr>
          <p:nvPr/>
        </p:nvSpPr>
        <p:spPr>
          <a:xfrm>
            <a:off x="6419850" y="48196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667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· 유지 + 검사</a:t>
            </a: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"/>
          <p:cNvSpPr>
            <a:spLocks noGrp="1"/>
          </p:cNvSpPr>
          <p:nvPr/>
        </p:nvSpPr>
        <p:spPr>
          <a:xfrm>
            <a:off x="6419850" y="51720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유지 출력에 질문·답 추가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"/>
          <p:cNvSpPr>
            <a:spLocks noGrp="1"/>
          </p:cNvSpPr>
          <p:nvPr/>
        </p:nvSpPr>
        <p:spPr>
          <a:xfrm>
            <a:off x="9220200" y="4686300"/>
            <a:ext cx="2571750" cy="895350"/>
          </a:xfrm>
          <a:prstGeom prst="roundRect">
            <a:avLst>
              <a:gd name="adj" fmla="val 8511"/>
            </a:avLst>
          </a:prstGeom>
          <a:solidFill>
            <a:srgbClr val="edf5ff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0" name=""/>
          <p:cNvSpPr>
            <a:spLocks noGrp="1"/>
          </p:cNvSpPr>
          <p:nvPr/>
        </p:nvSpPr>
        <p:spPr>
          <a:xfrm>
            <a:off x="9372600" y="48196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6667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 · 정교화 + 검사</a:t>
            </a: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"/>
          <p:cNvSpPr>
            <a:spLocks noGrp="1"/>
          </p:cNvSpPr>
          <p:nvPr/>
        </p:nvSpPr>
        <p:spPr>
          <a:xfrm>
            <a:off x="9372600" y="51720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38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69717d"/>
                </a:solidFill>
                <a:latin typeface="Arial"/>
                <a:ea typeface="Arial"/>
                <a:cs typeface="Arial"/>
              </a:rPr>
              <a:t>정교화 출력에 질문·답 추가</a:t>
            </a:r>
            <a:endParaRPr sz="1238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"/>
          <p:cNvSpPr>
            <a:spLocks noGrp="1"/>
          </p:cNvSpPr>
          <p:nvPr/>
        </p:nvSpPr>
        <p:spPr>
          <a:xfrm>
            <a:off x="6267450" y="58769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ctr">
              <a:defRPr sz="1350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질문 생성형은 단독 비교하지 않고 A/B에 결합합니다.</a:t>
            </a:r>
            <a:endParaRPr sz="1350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지금까지 한 일</a:t>
            </a:r>
            <a:endParaRPr sz="58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240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69717d"/>
                </a:solidFill>
                <a:latin typeface="Arial"/>
                <a:ea typeface="Arial"/>
                <a:cs typeface="Arial"/>
              </a:rPr>
              <a:t>청크 분할 · 최종 평가 문항 제작</a:t>
            </a:r>
            <a:endParaRPr sz="240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PROGRESS</a:t>
            </a: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400050" y="1485900"/>
            <a:ext cx="18097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footer-3"/>
          <p:cNvSpPr>
            <a:spLocks noGrp="1"/>
          </p:cNvSpPr>
          <p:nvPr/>
        </p:nvSpPr>
        <p:spPr>
          <a:xfrm>
            <a:off x="11191875" y="6324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b">
            <a:normAutofit fontScale="80000"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03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-Rectangle-5-1"/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Rounded-Rectangle-6-2"/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Rounded-Rectangle-7-3"/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Slide-Number-Placeholder-1-4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04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itle-2-5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평가 문서: 『지구에서 반걸음』 한 편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ontent-Placeholder-9-6"/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연재 전체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하나의 평가 문서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ontent-Placeholder-10-7"/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완결 시점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모델 공개 이후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tent-Placeholder-11-8"/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한두 문단이 아닌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롱 컨텍스트</a:t>
            </a:r>
            <a:endParaRPr sz="157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Content-Placeholder-9-9"/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14회</a:t>
            </a:r>
            <a:endParaRPr sz="4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tent-Placeholder-9-10"/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100K+자</a:t>
            </a:r>
            <a:endParaRPr sz="4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ontent-Placeholder-9-11"/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4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2026</a:t>
            </a:r>
            <a:endParaRPr sz="4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tent-Placeholder-15-12"/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8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318"/>
                </a:solidFill>
                <a:latin typeface="Arial"/>
                <a:ea typeface="Arial"/>
                <a:cs typeface="Arial"/>
              </a:rPr>
              <a:t>주간 문학동네 연재 · 신미나 × 호시노 도모유키</a:t>
            </a:r>
            <a:endParaRPr sz="180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8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318"/>
                </a:solidFill>
                <a:latin typeface="Arial"/>
                <a:ea typeface="Arial"/>
                <a:cs typeface="Arial"/>
              </a:rPr>
              <a:t>완결본 전체가 모델 공개 뒤까지 이어져 사전학습 반영 가능성을 낮춘 최신 텍스트</a:t>
            </a:r>
            <a:endParaRPr sz="180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eyebrow-EVALUATION SET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 SET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eyebrow-right-EVALUATION SET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최종 평가 데이터 고정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05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코사인 유사도로 의미가 바뀌는 지점 탐색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4" name="Content-Placeholder-3-5"/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5" name="eyebrow-SEMANTIC CHUNKING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SEMANTIC CHUNKING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yebrow-right-SEMANTIC CHUNKING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인접 문장 임베딩 비교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00050" y="192405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코사인 유사도</a:t>
            </a:r>
            <a:endParaRPr sz="19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400050" y="247650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edf5ff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666750" y="2733675"/>
            <a:ext cx="499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cos(A, B) = (A · B) / (‖A‖ ‖B‖)</a:t>
            </a:r>
            <a:endParaRPr sz="2175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00050" y="3743325"/>
            <a:ext cx="5334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1에 가까움  →  같은 주제·사건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값이 크게 하락  →  의미 경계 후보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lvl="0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경계 뒤에는 너무 짧은 청크를 합치고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최대 입력 길이만 제한합니다.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6257925" y="192405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인접 문장 유사도 · 개념도</a:t>
            </a:r>
            <a:endParaRPr sz="19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7486650" y="241935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7696200" y="25241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6667"/>
          </a:bodyPr>
          <a:lstStyle/>
          <a:p>
            <a:pPr algn="l">
              <a:defRPr sz="15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318"/>
                </a:solidFill>
                <a:latin typeface="Arial"/>
                <a:ea typeface="Arial"/>
                <a:cs typeface="Arial"/>
              </a:rPr>
              <a:t>문장 1</a:t>
            </a:r>
            <a:endParaRPr sz="150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6296025" y="29146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000"/>
          </a:bodyPr>
          <a:lstStyle/>
          <a:p>
            <a:pPr algn="r">
              <a:defRPr sz="120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0.91</a:t>
            </a:r>
            <a:endParaRPr sz="120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7048500" y="3019425"/>
            <a:ext cx="323850" cy="190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7486650" y="31242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7696200" y="32289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6667"/>
          </a:bodyPr>
          <a:lstStyle/>
          <a:p>
            <a:pPr algn="l">
              <a:defRPr sz="15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318"/>
                </a:solidFill>
                <a:latin typeface="Arial"/>
                <a:ea typeface="Arial"/>
                <a:cs typeface="Arial"/>
              </a:rPr>
              <a:t>문장 2</a:t>
            </a:r>
            <a:endParaRPr sz="150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6296025" y="36195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000"/>
          </a:bodyPr>
          <a:lstStyle/>
          <a:p>
            <a:pPr algn="r">
              <a:defRPr sz="120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0.86</a:t>
            </a:r>
            <a:endParaRPr sz="120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7048500" y="3724275"/>
            <a:ext cx="323850" cy="190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7486650" y="382905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7696200" y="39338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6667"/>
          </a:bodyPr>
          <a:lstStyle/>
          <a:p>
            <a:pPr algn="l">
              <a:defRPr sz="15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318"/>
                </a:solidFill>
                <a:latin typeface="Arial"/>
                <a:ea typeface="Arial"/>
                <a:cs typeface="Arial"/>
              </a:rPr>
              <a:t>문장 3</a:t>
            </a:r>
            <a:endParaRPr sz="150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6296025" y="4324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000"/>
          </a:bodyPr>
          <a:lstStyle/>
          <a:p>
            <a:pPr algn="r">
              <a:defRPr sz="1200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0.28</a:t>
            </a:r>
            <a:endParaRPr sz="1200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7048500" y="4429125"/>
            <a:ext cx="323850" cy="38100"/>
          </a:xfrm>
          <a:prstGeom prst="rect">
            <a:avLst/>
          </a:prstGeom>
          <a:solidFill>
            <a:srgbClr val="e24b4b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7486650" y="45339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4288">
            <a:solidFill>
              <a:srgbClr val="e24b4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7696200" y="463867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6667"/>
          </a:bodyPr>
          <a:lstStyle/>
          <a:p>
            <a:pPr algn="l">
              <a:defRPr sz="1500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문장 4 · 새 장면</a:t>
            </a:r>
            <a:endParaRPr sz="1500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6296025" y="50292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5000"/>
          </a:bodyPr>
          <a:lstStyle/>
          <a:p>
            <a:pPr algn="r">
              <a:defRPr sz="120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0.88</a:t>
            </a:r>
            <a:endParaRPr sz="120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7048500" y="5133975"/>
            <a:ext cx="323850" cy="19050"/>
          </a:xfrm>
          <a:prstGeom prst="rect">
            <a:avLst/>
          </a:prstGeom>
          <a:solidFill>
            <a:srgbClr val="c8cdd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7486650" y="523875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f2f3f5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7696200" y="53435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6667"/>
          </a:bodyPr>
          <a:lstStyle/>
          <a:p>
            <a:pPr algn="l">
              <a:defRPr sz="150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318"/>
                </a:solidFill>
                <a:latin typeface="Arial"/>
                <a:ea typeface="Arial"/>
                <a:cs typeface="Arial"/>
              </a:rPr>
              <a:t>문장 5</a:t>
            </a:r>
            <a:endParaRPr sz="150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6257925" y="5981700"/>
            <a:ext cx="552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270"/>
          </a:bodyPr>
          <a:lstStyle/>
          <a:p>
            <a:pPr algn="ctr">
              <a:defRPr sz="1313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69717d"/>
                </a:solidFill>
                <a:latin typeface="Arial"/>
                <a:ea typeface="Arial"/>
                <a:cs typeface="Arial"/>
              </a:rPr>
              <a:t>낮은 지점에서 청크를 나누면 사건·대화가 중간에서 잘릴 가능성을 줄일 수 있습니다.</a:t>
            </a:r>
            <a:endParaRPr sz="1313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1-2"/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06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-2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5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60문항의 구분 기준: ‘얼마나 멀리 연결해야 하는가’</a:t>
            </a:r>
            <a:endParaRPr sz="352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ntent-Placeholder-9-4"/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01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단일 장면 사실 확인형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한 문장 또는 한 문단만으로 해결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지역 정보 회수 능력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02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중간 문맥 결합형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1~2회차 떨어진 두 문맥을 연결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사건·대화의 연속성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-Placeholder-9-6"/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03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장거리 문맥 결합형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3회차 이상 떨어진 정보 2개+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작품 전체의 변화 이해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ontent-Placeholder-10-7"/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60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현재 제작 기준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선지 중복이 커지기 전의 마지노선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5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318"/>
                </a:solidFill>
                <a:latin typeface="Arial"/>
                <a:ea typeface="Arial"/>
                <a:cs typeface="Arial"/>
              </a:rPr>
              <a:t>평가력이 부족하면 100문항으로 확대</a:t>
            </a:r>
            <a:endParaRPr sz="165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yebrow-EVALUATION QUESTIONS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 QUESTIONS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yebrow-right-EVALUATION QUESTIONS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현재 60문항 · 필요 시 100문항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393668" y="1955768"/>
            <a:ext cx="5537168" cy="47625"/>
          </a:xfrm>
          <a:prstGeom prst="rect">
            <a:avLst/>
          </a:prstGeom>
          <a:solidFill>
            <a:srgbClr val="168a74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6256592" y="1955768"/>
            <a:ext cx="5537168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393668" y="3940778"/>
            <a:ext cx="5537168" cy="47625"/>
          </a:xfrm>
          <a:prstGeom prst="rect">
            <a:avLst/>
          </a:prstGeom>
          <a:solidFill>
            <a:srgbClr val="e24b4b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6256592" y="3940778"/>
            <a:ext cx="5537168" cy="47625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07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같은 객관식, 서로 다른 문맥 거리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4" name="Content-Placeholder-1-5"/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5" name="Content-Placeholder-2-6"/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6" name="eyebrow-QUESTION EXAMPLES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QUESTION EXAMPLES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yebrow-right-QUESTION EXAMPLES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실제 문항 · 선지는 발표용으로 축약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400050" y="1381125"/>
            <a:ext cx="11391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지역 검색만으로 높은 점수를 받지 못하도록, 장거리 결합 문항을 함께 배치했습니다.</a:t>
            </a:r>
            <a:endParaRPr sz="18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400050" y="2000250"/>
            <a:ext cx="3562350" cy="39814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00050" y="2000250"/>
            <a:ext cx="3562350" cy="66675"/>
          </a:xfrm>
          <a:prstGeom prst="rect">
            <a:avLst/>
          </a:prstGeom>
          <a:solidFill>
            <a:srgbClr val="168a74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571500" y="22288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952"/>
          </a:bodyPr>
          <a:lstStyle/>
          <a:p>
            <a:pPr algn="l">
              <a:defRPr sz="1575" b="1">
                <a:solidFill>
                  <a:srgbClr val="168a7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8a74"/>
                </a:solidFill>
                <a:latin typeface="Arial"/>
                <a:ea typeface="Arial"/>
                <a:cs typeface="Arial"/>
              </a:rPr>
              <a:t>단일 장면</a:t>
            </a:r>
            <a:endParaRPr sz="1575" b="1">
              <a:solidFill>
                <a:srgbClr val="168a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571500" y="2628900"/>
            <a:ext cx="3219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호시노에게 매주 하는 풋살이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특별히 필요한 이유는 무엇인가?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590550" y="362902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① 소설 인물·사건을 관찰하는 시간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590550" y="415290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② 응원 구호를 연습하는 유일한 시간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590550" y="467677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③ 난청을 회복시키는 운동 치료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514350" y="5143500"/>
            <a:ext cx="3333750" cy="447675"/>
          </a:xfrm>
          <a:prstGeom prst="roundRect">
            <a:avLst>
              <a:gd name="adj" fmla="val 17021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590550" y="520065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1">
                <a:solidFill>
                  <a:srgbClr val="168a74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68a74"/>
                </a:solidFill>
                <a:latin typeface="Arial"/>
                <a:ea typeface="Arial"/>
                <a:cs typeface="Arial"/>
              </a:rPr>
              <a:t>④ 경기 중 머릿속 설명 목소리가 멈춤</a:t>
            </a:r>
            <a:endParaRPr sz="1238" b="1">
              <a:solidFill>
                <a:srgbClr val="168a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4314825" y="2000250"/>
            <a:ext cx="3562350" cy="39814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4314825" y="2000250"/>
            <a:ext cx="3562350" cy="6667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4486275" y="22288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952"/>
          </a:bodyPr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중간 문맥</a:t>
            </a:r>
            <a:endParaRPr sz="1575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4486275" y="2628900"/>
            <a:ext cx="3219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500"/>
          </a:bodyPr>
          <a:lstStyle/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레지던시가 없었다면 만났을지 묻자,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신미나는 그 체류의 의미를 어떻게 답했는가?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4429125" y="3571875"/>
            <a:ext cx="3333750" cy="447675"/>
          </a:xfrm>
          <a:prstGeom prst="roundRect">
            <a:avLst>
              <a:gd name="adj" fmla="val 17021"/>
            </a:avLst>
          </a:prstGeom>
          <a:solidFill>
            <a:srgbClr val="edf5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4505325" y="362902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7500" lnSpcReduction="20000"/>
          </a:bodyPr>
          <a:lstStyle/>
          <a:p>
            <a:pPr algn="l">
              <a:defRPr sz="1238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① 익숙한 언어에서 물러나 함께 ‘언어의 아기’가 된 기회</a:t>
            </a:r>
            <a:endParaRPr sz="1238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4505325" y="415290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② 호시노를 만나기 위한 명목상의 여행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4505325" y="467677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③ 일본어 습득 뒤 이주하기 위한 준비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4505325" y="520065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④ 서울의 생활을 그대로 옮긴 체류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229600" y="2000250"/>
            <a:ext cx="3562350" cy="398145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1430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8229600" y="2000250"/>
            <a:ext cx="3562350" cy="66675"/>
          </a:xfrm>
          <a:prstGeom prst="rect">
            <a:avLst/>
          </a:prstGeom>
          <a:solidFill>
            <a:srgbClr val="e24b4b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401050" y="2228850"/>
            <a:ext cx="3219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952"/>
          </a:bodyPr>
          <a:lstStyle/>
          <a:p>
            <a:pPr algn="l">
              <a:defRPr sz="1575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장거리 문맥</a:t>
            </a:r>
            <a:endParaRPr sz="1575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8401050" y="2628900"/>
            <a:ext cx="32194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신미나가 시의 거리와 빈칸을 이해하는 방식은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후반에 어떻게 수정되는가?</a:t>
            </a:r>
            <a:endParaRPr sz="1538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8420100" y="362902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① 빈칸은 상대를 고립시키는 장치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8420100" y="415290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② 빈칸은 관계와 무관한 미적 장식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8343900" y="4619625"/>
            <a:ext cx="3333750" cy="447675"/>
          </a:xfrm>
          <a:prstGeom prst="roundRect">
            <a:avLst>
              <a:gd name="adj" fmla="val 17021"/>
            </a:avLst>
          </a:prstGeom>
          <a:solidFill>
            <a:srgbClr val="fff0f0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8420100" y="467677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500"/>
          </a:bodyPr>
          <a:lstStyle/>
          <a:p>
            <a:pPr algn="l">
              <a:defRPr sz="1238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③ 타인의 숨이 드는 여백 → 오래 머물면 고립</a:t>
            </a:r>
            <a:endParaRPr sz="1238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"/>
          <p:cNvSpPr>
            <a:spLocks noGrp="1"/>
          </p:cNvSpPr>
          <p:nvPr/>
        </p:nvSpPr>
        <p:spPr>
          <a:xfrm>
            <a:off x="8420100" y="5200650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④ 이해를 막기 위해 설명을 모두 제거</a:t>
            </a:r>
            <a:endParaRPr sz="1238" b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-Number-Placeholder-3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08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-10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니들로 위치별 장문 기억의 약점 확인</a:t>
            </a:r>
            <a:endParaRPr lang="ko-KR" altLang="en-US"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/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Google-Shape-2261-p159-6"/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Google-Shape-2262-p159-7"/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Content-Placeholder-15-8"/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10" name="Text-Placeholder-16-11"/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11" name="Text-Placeholder-16-12"/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12" name="Text-Placeholder-16-13"/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13" name="eyebrow-OPTIONAL · NEEDLE-IN-A-HAYSTACK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OPTIONAL · NEEDLE-IN-A-HAYSTACK</a:t>
            </a:r>
            <a:endParaRPr sz="1050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eyebrow-right-OPTIONAL · NEEDLE-IN-A-HAYSTACK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아직 미착수 · 일정에 따라 제외 가능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00050" y="1381125"/>
            <a:ext cx="11391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75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318"/>
                </a:solidFill>
                <a:latin typeface="Arial"/>
                <a:ea typeface="Arial"/>
                <a:cs typeface="Arial"/>
              </a:rPr>
              <a:t>원문에 합성 사실을 삽입하고 나중에 질문해, 어느 위치의 정보가 사라지는지 측정합니다.</a:t>
            </a:r>
            <a:endParaRPr sz="1875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0" y="3105150"/>
            <a:ext cx="12192000" cy="457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needle-timeline"/>
          <p:cNvSpPr>
            <a:spLocks noGrp="1"/>
          </p:cNvSpPr>
          <p:nvPr/>
        </p:nvSpPr>
        <p:spPr>
          <a:xfrm>
            <a:off x="400050" y="3305175"/>
            <a:ext cx="11201400" cy="19050"/>
          </a:xfrm>
          <a:prstGeom prst="rect">
            <a:avLst/>
          </a:prstGeom>
          <a:solidFill>
            <a:srgbClr val="111318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needle-dot-01"/>
          <p:cNvSpPr>
            <a:spLocks noGrp="1"/>
          </p:cNvSpPr>
          <p:nvPr/>
        </p:nvSpPr>
        <p:spPr>
          <a:xfrm>
            <a:off x="805243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needle-dot-02"/>
          <p:cNvSpPr>
            <a:spLocks noGrp="1"/>
          </p:cNvSpPr>
          <p:nvPr/>
        </p:nvSpPr>
        <p:spPr>
          <a:xfrm>
            <a:off x="1253299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needle-dot-03"/>
          <p:cNvSpPr>
            <a:spLocks noGrp="1"/>
          </p:cNvSpPr>
          <p:nvPr/>
        </p:nvSpPr>
        <p:spPr>
          <a:xfrm>
            <a:off x="1701356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needle-dot-04"/>
          <p:cNvSpPr>
            <a:spLocks noGrp="1"/>
          </p:cNvSpPr>
          <p:nvPr/>
        </p:nvSpPr>
        <p:spPr>
          <a:xfrm>
            <a:off x="2149412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needle-dot-05"/>
          <p:cNvSpPr>
            <a:spLocks noGrp="1"/>
          </p:cNvSpPr>
          <p:nvPr/>
        </p:nvSpPr>
        <p:spPr>
          <a:xfrm>
            <a:off x="2597468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needle-dot-06"/>
          <p:cNvSpPr>
            <a:spLocks noGrp="1"/>
          </p:cNvSpPr>
          <p:nvPr/>
        </p:nvSpPr>
        <p:spPr>
          <a:xfrm>
            <a:off x="3045524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needle-dot-07"/>
          <p:cNvSpPr>
            <a:spLocks noGrp="1"/>
          </p:cNvSpPr>
          <p:nvPr/>
        </p:nvSpPr>
        <p:spPr>
          <a:xfrm>
            <a:off x="3493579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needle-dot-08"/>
          <p:cNvSpPr>
            <a:spLocks noGrp="1"/>
          </p:cNvSpPr>
          <p:nvPr/>
        </p:nvSpPr>
        <p:spPr>
          <a:xfrm>
            <a:off x="3941636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needle-dot-09"/>
          <p:cNvSpPr>
            <a:spLocks noGrp="1"/>
          </p:cNvSpPr>
          <p:nvPr/>
        </p:nvSpPr>
        <p:spPr>
          <a:xfrm>
            <a:off x="4389692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needle-dot-10"/>
          <p:cNvSpPr>
            <a:spLocks noGrp="1"/>
          </p:cNvSpPr>
          <p:nvPr/>
        </p:nvSpPr>
        <p:spPr>
          <a:xfrm>
            <a:off x="4837748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needle-dot-11"/>
          <p:cNvSpPr>
            <a:spLocks noGrp="1"/>
          </p:cNvSpPr>
          <p:nvPr/>
        </p:nvSpPr>
        <p:spPr>
          <a:xfrm>
            <a:off x="5285804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needle-dot-12"/>
          <p:cNvSpPr>
            <a:spLocks noGrp="1"/>
          </p:cNvSpPr>
          <p:nvPr/>
        </p:nvSpPr>
        <p:spPr>
          <a:xfrm>
            <a:off x="5733860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needle-dot-13"/>
          <p:cNvSpPr>
            <a:spLocks noGrp="1"/>
          </p:cNvSpPr>
          <p:nvPr/>
        </p:nvSpPr>
        <p:spPr>
          <a:xfrm>
            <a:off x="6158103" y="3248025"/>
            <a:ext cx="133350" cy="133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needle-dot-14"/>
          <p:cNvSpPr>
            <a:spLocks noGrp="1"/>
          </p:cNvSpPr>
          <p:nvPr/>
        </p:nvSpPr>
        <p:spPr>
          <a:xfrm>
            <a:off x="6629971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needle-dot-15"/>
          <p:cNvSpPr>
            <a:spLocks noGrp="1"/>
          </p:cNvSpPr>
          <p:nvPr/>
        </p:nvSpPr>
        <p:spPr>
          <a:xfrm>
            <a:off x="7078028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needle-dot-16"/>
          <p:cNvSpPr>
            <a:spLocks noGrp="1"/>
          </p:cNvSpPr>
          <p:nvPr/>
        </p:nvSpPr>
        <p:spPr>
          <a:xfrm>
            <a:off x="7526084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4" name="needle-dot-17"/>
          <p:cNvSpPr>
            <a:spLocks noGrp="1"/>
          </p:cNvSpPr>
          <p:nvPr/>
        </p:nvSpPr>
        <p:spPr>
          <a:xfrm>
            <a:off x="7974139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5" name="needle-dot-18"/>
          <p:cNvSpPr>
            <a:spLocks noGrp="1"/>
          </p:cNvSpPr>
          <p:nvPr/>
        </p:nvSpPr>
        <p:spPr>
          <a:xfrm>
            <a:off x="8422196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needle-dot-19"/>
          <p:cNvSpPr>
            <a:spLocks noGrp="1"/>
          </p:cNvSpPr>
          <p:nvPr/>
        </p:nvSpPr>
        <p:spPr>
          <a:xfrm>
            <a:off x="8870252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7" name="needle-dot-20"/>
          <p:cNvSpPr>
            <a:spLocks noGrp="1"/>
          </p:cNvSpPr>
          <p:nvPr/>
        </p:nvSpPr>
        <p:spPr>
          <a:xfrm>
            <a:off x="9318308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" name="needle-dot-21"/>
          <p:cNvSpPr>
            <a:spLocks noGrp="1"/>
          </p:cNvSpPr>
          <p:nvPr/>
        </p:nvSpPr>
        <p:spPr>
          <a:xfrm>
            <a:off x="9766364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needle-dot-22"/>
          <p:cNvSpPr>
            <a:spLocks noGrp="1"/>
          </p:cNvSpPr>
          <p:nvPr/>
        </p:nvSpPr>
        <p:spPr>
          <a:xfrm>
            <a:off x="10214420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0" name="needle-dot-23"/>
          <p:cNvSpPr>
            <a:spLocks noGrp="1"/>
          </p:cNvSpPr>
          <p:nvPr/>
        </p:nvSpPr>
        <p:spPr>
          <a:xfrm>
            <a:off x="10662476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1" name="needle-dot-24"/>
          <p:cNvSpPr>
            <a:spLocks noGrp="1"/>
          </p:cNvSpPr>
          <p:nvPr/>
        </p:nvSpPr>
        <p:spPr>
          <a:xfrm>
            <a:off x="11110532" y="3271838"/>
            <a:ext cx="85725" cy="85725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" name="needle-dot-25"/>
          <p:cNvSpPr>
            <a:spLocks noGrp="1"/>
          </p:cNvSpPr>
          <p:nvPr/>
        </p:nvSpPr>
        <p:spPr>
          <a:xfrm>
            <a:off x="11534775" y="3248025"/>
            <a:ext cx="133350" cy="1333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3" name=""/>
          <p:cNvSpPr>
            <a:spLocks noGrp="1"/>
          </p:cNvSpPr>
          <p:nvPr/>
        </p:nvSpPr>
        <p:spPr>
          <a:xfrm>
            <a:off x="323850" y="2914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l">
              <a:defRPr sz="13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0%</a:t>
            </a:r>
            <a:endParaRPr sz="13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"/>
          <p:cNvSpPr>
            <a:spLocks noGrp="1"/>
          </p:cNvSpPr>
          <p:nvPr/>
        </p:nvSpPr>
        <p:spPr>
          <a:xfrm>
            <a:off x="5791200" y="29146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ctr">
              <a:defRPr sz="13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50%</a:t>
            </a:r>
            <a:endParaRPr sz="13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"/>
          <p:cNvSpPr>
            <a:spLocks noGrp="1"/>
          </p:cNvSpPr>
          <p:nvPr/>
        </p:nvSpPr>
        <p:spPr>
          <a:xfrm>
            <a:off x="11125200" y="29146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185"/>
          </a:bodyPr>
          <a:lstStyle/>
          <a:p>
            <a:pPr algn="r">
              <a:defRPr sz="135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100%</a:t>
            </a:r>
            <a:endParaRPr sz="135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"/>
          <p:cNvSpPr>
            <a:spLocks noGrp="1"/>
          </p:cNvSpPr>
          <p:nvPr/>
        </p:nvSpPr>
        <p:spPr>
          <a:xfrm>
            <a:off x="400050" y="38957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097"/>
          </a:bodyPr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4% 간격</a:t>
            </a:r>
            <a:endParaRPr sz="2325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"/>
          <p:cNvSpPr>
            <a:spLocks noGrp="1"/>
          </p:cNvSpPr>
          <p:nvPr/>
        </p:nvSpPr>
        <p:spPr>
          <a:xfrm>
            <a:off x="4314825" y="38957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097"/>
          </a:bodyPr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25개 니들</a:t>
            </a:r>
            <a:endParaRPr sz="2325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"/>
          <p:cNvSpPr>
            <a:spLocks noGrp="1"/>
          </p:cNvSpPr>
          <p:nvPr/>
        </p:nvSpPr>
        <p:spPr>
          <a:xfrm>
            <a:off x="8229600" y="389572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097"/>
          </a:bodyPr>
          <a:lstStyle/>
          <a:p>
            <a:pPr algn="l">
              <a:defRPr sz="2325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선택 실험</a:t>
            </a:r>
            <a:endParaRPr sz="2325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"/>
          <p:cNvSpPr>
            <a:spLocks noGrp="1"/>
          </p:cNvSpPr>
          <p:nvPr/>
        </p:nvSpPr>
        <p:spPr>
          <a:xfrm>
            <a:off x="400050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지피티-5.6으로 합성 사실 생성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위치별 회수율을 같은 문항 형식으로 비교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"/>
          <p:cNvSpPr>
            <a:spLocks noGrp="1"/>
          </p:cNvSpPr>
          <p:nvPr/>
        </p:nvSpPr>
        <p:spPr>
          <a:xfrm>
            <a:off x="4314825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모델이 앞·중간·뒤 정보를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균등하게 기억하는지 진단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"/>
          <p:cNvSpPr>
            <a:spLocks noGrp="1"/>
          </p:cNvSpPr>
          <p:nvPr/>
        </p:nvSpPr>
        <p:spPr>
          <a:xfrm>
            <a:off x="8229600" y="45148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아직 제작·삽입 전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시간이 부족하면 본 실험에서 제외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3-1"/>
          <p:cNvSpPr>
            <a:spLocks noGrp="1"/>
          </p:cNvSpPr>
          <p:nvPr/>
        </p:nvSpPr>
        <p:spPr>
          <a:xfrm>
            <a:off x="393668" y="2579942"/>
            <a:ext cx="9448800" cy="3624263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앞으로 할 일</a:t>
            </a:r>
            <a:endParaRPr sz="585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392240"/>
            <a:ext cx="6157817" cy="64912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</a:t>
            </a: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7886700" y="392240"/>
            <a:ext cx="3911632" cy="64912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r">
              <a:defRPr sz="180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모델 학습 · 실제 평가</a:t>
            </a:r>
            <a:endParaRPr sz="180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400050" y="1485900"/>
            <a:ext cx="18097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footer-9"/>
          <p:cNvSpPr>
            <a:spLocks noGrp="1"/>
          </p:cNvSpPr>
          <p:nvPr/>
        </p:nvSpPr>
        <p:spPr>
          <a:xfrm>
            <a:off x="11191875" y="6324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b">
            <a:normAutofit fontScale="80000"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09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10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6조건에서 압축 효과와 검사효과 분리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ntent-Placeholder-15-4"/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6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9717d"/>
                </a:solidFill>
                <a:latin typeface="Arial"/>
                <a:ea typeface="Arial"/>
                <a:cs typeface="Arial"/>
              </a:rPr>
              <a:t>베이스라인 2개 + 개입 4개 · 네 개입은 동일한 paust/pko-t5 백본에서 출발</a:t>
            </a:r>
            <a:endParaRPr sz="16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="393668" y="2251043"/>
          <a:ext cx="11382375" cy="3965458"/>
        </p:xfrm>
        <a:graphic>
          <a:graphicData uri="http://schemas.openxmlformats.org/drawingml/2006/table">
            <a:tbl>
              <a:tblGrid>
                <a:gridCol w="552450"/>
                <a:gridCol w="2238375"/>
                <a:gridCol w="2476500"/>
                <a:gridCol w="2190750"/>
                <a:gridCol w="3924300"/>
              </a:tblGrid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  <a:endParaRPr sz="135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11131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</a:t>
                      </a:r>
                      <a:endParaRPr sz="135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11131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컨텍스트</a:t>
                      </a:r>
                      <a:endParaRPr sz="135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11131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개입</a:t>
                      </a:r>
                      <a:endParaRPr sz="135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11131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핵심 비교</a:t>
                      </a:r>
                      <a:endParaRPr sz="1350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111318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Closed-book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질문만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없음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오염 진단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Raw full-context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원문 전체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없음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압축의 기준선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f2f3f5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유지형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핵심 사실 반복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1 vs 2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정교화형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맥락 연결 재진술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1 vs 3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유지 + 검사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A 출력 + Q&amp;A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A + C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2 vs 4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275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정교화 + 검사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B 출력 + Q&amp;A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B + C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75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3 vs 5</a:t>
                      </a:r>
                      <a:endParaRPr sz="1275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edf5ff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공통 백본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paust/pko-t5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한국어 전용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OOV 없는 BBPE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small → base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</a:tr>
              <a:tr h="436954"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선정 이유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동일 출발점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3규모 제공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파인튜닝 전제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>
                        <a:defRPr/>
                      </a:pPr>
                      <a:r>
                        <a:rPr sz="120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조건 간 비교 통제</a:t>
                      </a:r>
                      <a:endParaRPr sz="1200" b="1">
                        <a:solidFill>
                          <a:srgbClr val="111318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solidFill>
                      <a:srgbClr val="d7e8ff"/>
                    </a:solidFill>
                  </a:tcPr>
                </a:tc>
              </a:tr>
            </a:tbl>
          </a:graphicData>
        </a:graphic>
      </p:graphicFrame>
      <p:sp>
        <p:nvSpPr>
          <p:cNvPr id="5" name="eyebrow-SIX CONDITIONS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SIX CONDITIONS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yebrow-right-SIX CONDITIONS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공통 백본 · 모델 차이 통제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11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학습 데이터: 두 개입의 역할에 맞춘 분담</a:t>
            </a:r>
            <a:endParaRPr sz="36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ounded-Rectangle-1-4"/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Content-Placeholder-10-5"/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168a7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8a74"/>
                </a:solidFill>
                <a:latin typeface="Arial"/>
                <a:ea typeface="Arial"/>
                <a:cs typeface="Arial"/>
              </a:rPr>
              <a:t>AIHub 문서요약</a:t>
            </a:r>
            <a:endParaRPr sz="2100" b="1">
              <a:solidFill>
                <a:srgbClr val="168a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ntent-Placeholder-15-6"/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wrap="square" lIns="0" tIns="0" rIns="0" bIns="0">
            <a:normAutofit fontScale="82777"/>
          </a:bodyPr>
          <a:lstStyle/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원문 40만 건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추출요약 40만 + 생성요약 40만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유지형·정교화형을 같은 분포에서 학습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한계: 뉴스·기고·판결문 중심, 소설 아님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-Rectangle-7-7"/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Content-Placeholder-10-8"/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KorQuAD 1.0 ↔ 2.0</a:t>
            </a:r>
            <a:endParaRPr sz="21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tent-Placeholder-15-9"/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wrap="square" lIns="0" tIns="0" rIns="0" bIns="0">
            <a:normAutofit fontScale="82777"/>
          </a:bodyPr>
          <a:lstStyle/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1.0 · 66,181 QA · 1~2문단 · 추출형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→ 청크 단위 QG에 적합, 우선 채택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2.0 · 100K+ QA · 위키 전체·표·목록·HTML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538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11318"/>
                </a:solidFill>
                <a:latin typeface="Arial"/>
                <a:ea typeface="Arial"/>
                <a:cs typeface="Arial"/>
              </a:rPr>
              <a:t>→ 더 길지만 전처리 복잡, 현재 구조와 불일치</a:t>
            </a:r>
            <a:endParaRPr sz="1538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Content-Placeholder-15-10"/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725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318"/>
                </a:solidFill>
                <a:latin typeface="Arial"/>
                <a:ea typeface="Arial"/>
                <a:cs typeface="Arial"/>
              </a:rPr>
              <a:t>같은 원문에서 ‘그대로 고르기’와 ‘다시 쓰기’를 함께 배우고,</a:t>
            </a:r>
            <a:endParaRPr sz="1725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1725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318"/>
                </a:solidFill>
                <a:latin typeface="Arial"/>
                <a:ea typeface="Arial"/>
                <a:cs typeface="Arial"/>
              </a:rPr>
              <a:t>질문 생성은 문맥과 정답으로부터 질문을 만드는 역방향 과제로 학습합니다.</a:t>
            </a:r>
            <a:endParaRPr sz="1725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eyebrow-TRAINING DATA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TRAINING DATA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eyebrow-right-TRAINING DATA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요약 2종 · 질문 생성 1종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400050" y="5953125"/>
            <a:ext cx="1139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106"/>
          </a:bodyPr>
          <a:lstStyle/>
          <a:p>
            <a:pPr algn="ctr">
              <a:defRPr sz="1313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AIHub를 택한 이유: 대규모 한국어 데이터 중 추출요약과 생성요약을 같은 원문에 함께 제공</a:t>
            </a:r>
            <a:endParaRPr sz="1313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-Shape-532-p58-2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12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-Shape-533-p58-3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5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최종 QA 모델: 크기만 바꿔 동일 실험 반복</a:t>
            </a:r>
            <a:endParaRPr sz="3525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-Shape-534-p58-4"/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4" name="Content-Placeholder-3-5"/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ko-KR" altLang="en-US"/>
          </a:p>
        </p:txBody>
      </p:sp>
      <p:sp>
        <p:nvSpPr>
          <p:cNvPr id="5" name="eyebrow-NVIDIA NIM · SWAPPABLE"/>
          <p:cNvSpPr>
            <a:spLocks noGrp="1"/>
          </p:cNvSpPr>
          <p:nvPr/>
        </p:nvSpPr>
        <p:spPr>
          <a:xfrm>
            <a:off x="400050" y="152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NVIDIA NIM · SWAPPABLE</a:t>
            </a:r>
            <a:endParaRPr sz="10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yebrow-right-NVIDIA NIM · SWAPPABLE"/>
          <p:cNvSpPr>
            <a:spLocks noGrp="1"/>
          </p:cNvSpPr>
          <p:nvPr/>
        </p:nvSpPr>
        <p:spPr>
          <a:xfrm>
            <a:off x="7524750" y="152400"/>
            <a:ext cx="426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714"/>
          </a:bodyPr>
          <a:lstStyle/>
          <a:p>
            <a:pPr algn="r">
              <a:defRPr sz="105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9717d"/>
                </a:solidFill>
                <a:latin typeface="Arial"/>
                <a:ea typeface="Arial"/>
                <a:cs typeface="Arial"/>
              </a:rPr>
              <a:t>MODEL_ID만 변경</a:t>
            </a:r>
            <a:endParaRPr sz="105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400050" y="1857375"/>
            <a:ext cx="5143500" cy="3667125"/>
          </a:xfrm>
          <a:prstGeom prst="roundRect">
            <a:avLst>
              <a:gd name="adj" fmla="val 2078"/>
            </a:avLst>
          </a:prstGeom>
          <a:solidFill>
            <a:srgbClr val="f2f3f5"/>
          </a:solidFill>
          <a:ln w="9525">
            <a:solidFill>
              <a:srgbClr val="c8cdd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6648450" y="1857375"/>
            <a:ext cx="5143500" cy="3667125"/>
          </a:xfrm>
          <a:prstGeom prst="roundRect">
            <a:avLst>
              <a:gd name="adj" fmla="val 2078"/>
            </a:avLst>
          </a:prstGeom>
          <a:solidFill>
            <a:srgbClr val="edf5ff"/>
          </a:solidFill>
          <a:ln w="14288">
            <a:solidFill>
              <a:srgbClr val="3d8dff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5753100" y="3381375"/>
            <a:ext cx="6667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 rot="10800000">
            <a:off x="5753100" y="3857625"/>
            <a:ext cx="66675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666750" y="2095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00" b="1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9717d"/>
                </a:solidFill>
                <a:latin typeface="Arial"/>
                <a:ea typeface="Arial"/>
                <a:cs typeface="Arial"/>
              </a:rPr>
              <a:t>SMALL</a:t>
            </a:r>
            <a:endParaRPr sz="1200" b="1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mall-model-id"/>
          <p:cNvSpPr>
            <a:spLocks noGrp="1"/>
          </p:cNvSpPr>
          <p:nvPr/>
        </p:nvSpPr>
        <p:spPr>
          <a:xfrm>
            <a:off x="666750" y="2552700"/>
            <a:ext cx="457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rPr>
              <a:t>mistralai/ministral-</a:t>
            </a:r>
            <a:endParaRPr sz="2025" b="1">
              <a:solidFill>
                <a:srgbClr val="111318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rPr>
              <a:t>14b-instruct-2512</a:t>
            </a:r>
            <a:endParaRPr sz="2025" b="1">
              <a:solidFill>
                <a:srgbClr val="11131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666750" y="3638550"/>
            <a:ext cx="1905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0952"/>
          </a:bodyPr>
          <a:lstStyle/>
          <a:p>
            <a:pPr algn="l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14B</a:t>
            </a:r>
            <a:endParaRPr sz="42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666750" y="4286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9717d"/>
                </a:solidFill>
                <a:latin typeface="Arial"/>
                <a:ea typeface="Arial"/>
                <a:cs typeface="Arial"/>
              </a:rPr>
              <a:t>전체 매개변수 활성</a:t>
            </a:r>
            <a:endParaRPr sz="14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666750" y="49053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1667"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262,144 tokens</a:t>
            </a:r>
            <a:endParaRPr sz="18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6915150" y="20955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LARGE</a:t>
            </a:r>
            <a:endParaRPr sz="12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large-model-id"/>
          <p:cNvSpPr>
            <a:spLocks noGrp="1"/>
          </p:cNvSpPr>
          <p:nvPr/>
        </p:nvSpPr>
        <p:spPr>
          <a:xfrm>
            <a:off x="6915150" y="2552700"/>
            <a:ext cx="457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rPr>
              <a:t>qwen/qwen3-next-</a:t>
            </a:r>
            <a:endParaRPr sz="2025" b="1">
              <a:solidFill>
                <a:srgbClr val="111318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111318"/>
                </a:solidFill>
                <a:latin typeface="Courier New"/>
                <a:ea typeface="Courier New"/>
                <a:cs typeface="Courier New"/>
              </a:rPr>
              <a:t>80b-a3b-instruct</a:t>
            </a:r>
            <a:endParaRPr sz="2025" b="1">
              <a:solidFill>
                <a:srgbClr val="111318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6915150" y="3638550"/>
            <a:ext cx="428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80B / 3.9B active</a:t>
            </a:r>
            <a:endParaRPr sz="345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6915150" y="4286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9717d"/>
                </a:solidFill>
                <a:latin typeface="Arial"/>
                <a:ea typeface="Arial"/>
                <a:cs typeface="Arial"/>
              </a:rPr>
              <a:t>혼합 전문가 구조</a:t>
            </a:r>
            <a:endParaRPr sz="14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6915150" y="49053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1667"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262,144 tokens</a:t>
            </a:r>
            <a:endParaRPr sz="18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400050" y="5838825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350"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256K 컨텍스트 → 10만 자+ 원문 전체 투입 목표 · 실제 실행 전 토크나이저로 길이와 출력 여유분 확인</a:t>
            </a:r>
            <a:endParaRPr sz="1350" b="1">
              <a:solidFill>
                <a:srgbClr val="e24b4b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-3-1"/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pPr algn="l">
              <a:defRPr sz="5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발표를 마치며</a:t>
            </a:r>
            <a:endParaRPr sz="5400" b="1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/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2400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69717d"/>
                </a:solidFill>
                <a:latin typeface="Arial"/>
                <a:ea typeface="Arial"/>
                <a:cs typeface="Arial"/>
              </a:rPr>
              <a:t>감사합니다</a:t>
            </a:r>
            <a:endParaRPr sz="2400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/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END</a:t>
            </a:r>
            <a:endParaRPr sz="1500" b="1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400050" y="1485900"/>
            <a:ext cx="180975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footer-13"/>
          <p:cNvSpPr>
            <a:spLocks noGrp="1"/>
          </p:cNvSpPr>
          <p:nvPr/>
        </p:nvSpPr>
        <p:spPr>
          <a:xfrm>
            <a:off x="11191875" y="63246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b">
            <a:normAutofit fontScale="80000"/>
          </a:bodyPr>
          <a:lstStyle/>
          <a:p>
            <a:pPr algn="r">
              <a:defRPr sz="1125">
                <a:solidFill>
                  <a:srgbClr val="69717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69717d"/>
                </a:solidFill>
                <a:latin typeface="Arial"/>
                <a:ea typeface="Arial"/>
                <a:cs typeface="Arial"/>
              </a:rPr>
              <a:t>13</a:t>
            </a:r>
            <a:endParaRPr sz="1125">
              <a:solidFill>
                <a:srgbClr val="69717d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827</ep:Words>
  <ep:PresentationFormat>Converted Presentation</ep:PresentationFormat>
  <ep:Paragraphs>201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dick0</cp:lastModifiedBy>
  <dcterms:modified xsi:type="dcterms:W3CDTF">2026-07-28T09:33:27.030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