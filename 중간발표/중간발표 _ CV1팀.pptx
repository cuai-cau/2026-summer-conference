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 autoCompressPictures="0">
  <p:sldMasterIdLst>
    <p:sldMasterId id="2147483659" r:id="rId1"/>
  </p:sldMasterIdLst>
  <p:notesMasterIdLst>
    <p:notesMasterId r:id="rId2"/>
  </p:notesMasterIdLst>
  <p:sldIdLst>
    <p:sldId id="256" r:id="rId3"/>
    <p:sldId id="258" r:id="rId4"/>
    <p:sldId id="275" r:id="rId5"/>
    <p:sldId id="276" r:id="rId6"/>
    <p:sldId id="297" r:id="rId7"/>
    <p:sldId id="277" r:id="rId8"/>
    <p:sldId id="278" r:id="rId9"/>
    <p:sldId id="279" r:id="rId10"/>
    <p:sldId id="287" r:id="rId11"/>
    <p:sldId id="288" r:id="rId12"/>
    <p:sldId id="298" r:id="rId13"/>
    <p:sldId id="299" r:id="rId14"/>
    <p:sldId id="289" r:id="rId15"/>
    <p:sldId id="300" r:id="rId16"/>
    <p:sldId id="290" r:id="rId17"/>
    <p:sldId id="291" r:id="rId18"/>
    <p:sldId id="301" r:id="rId19"/>
    <p:sldId id="274" r:id="rId20"/>
  </p:sldIdLst>
  <p:sldSz cx="9144000" cy="5143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Comments="0">
  <p:normalViewPr snapVertSplitter="1">
    <p:restoredLeft sz="12579"/>
    <p:restoredTop sz="71875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16"/>
        <p:guide pos="2876"/>
      </p:guideLst>
    </p:cSldViewPr>
  </p:slideViewPr>
  <p:notesTextViewPr>
    <p:cViewPr>
      <p:scale>
        <a:sx n="105" d="100"/>
        <a:sy n="105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presProps" Target="presProps.xml"  /><Relationship Id="rId22" Type="http://schemas.openxmlformats.org/officeDocument/2006/relationships/viewProps" Target="viewProps.xml"  /><Relationship Id="rId23" Type="http://schemas.openxmlformats.org/officeDocument/2006/relationships/theme" Target="theme/theme1.xml"  /><Relationship Id="rId24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 lvl="0">
              <a:defRPr/>
            </a:pPr>
            <a:endParaRPr lang="ko-KR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slide" Target="../slides/slide14.xml"  /><Relationship Id="rId2" Type="http://schemas.openxmlformats.org/officeDocument/2006/relationships/notesMaster" Target="../notesMasters/notesMaster1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slide" Target="../slides/slide15.xml"  /><Relationship Id="rId2" Type="http://schemas.openxmlformats.org/officeDocument/2006/relationships/notesMaster" Target="../notesMasters/notesMaster1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slide" Target="../slides/slide16.xml"  /><Relationship Id="rId2" Type="http://schemas.openxmlformats.org/officeDocument/2006/relationships/notesMaster" Target="../notesMasters/notesMaster1.xml"  /></Relationships>
</file>

<file path=ppt/notesSlides/_rels/notesSlide17.xml.rels><?xml version="1.0" encoding="UTF-8" standalone="yes" ?><Relationships xmlns="http://schemas.openxmlformats.org/package/2006/relationships"><Relationship Id="rId1" Type="http://schemas.openxmlformats.org/officeDocument/2006/relationships/slide" Target="../slides/slide17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6accca8d1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6accca8d1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여기부터는 스터디 발표에 쓰이는 PPT 슬라이드입니다!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6accca8d1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6accca8d1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목차는 크게 </a:t>
            </a:r>
            <a:r>
              <a:rPr lang="en-US" altLang="ko-KR"/>
              <a:t>8</a:t>
            </a:r>
            <a:r>
              <a:rPr lang="ko-KR" altLang="en-US"/>
              <a:t>개로 나눠봤습니다</a:t>
            </a:r>
            <a:r>
              <a:rPr lang="en-US" altLang="ko-KR"/>
              <a:t>.</a:t>
            </a:r>
            <a:r>
              <a:rPr lang="ko-KR" altLang="en-US"/>
              <a:t> </a:t>
            </a:r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6accca8d11_0_1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6accca8d1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1149580"/>
      </p:ext>
    </p:extLst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6accca8d11_0_1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6accca8d1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312086"/>
      </p:ext>
    </p:extLst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6accca8d11_0_1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6accca8d1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9145462"/>
      </p:ext>
    </p:extLst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6accca8d11_0_1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6accca8d1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1457873"/>
      </p:ext>
    </p:extLst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6accca8d11_0_1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6accca8d1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## STEP3. Dataset 구축</a:t>
            </a: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STEP3에서는 모델이 바로 사용할 수 있는 Dataset을 구성했습니다.</a:t>
            </a: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Dataset은 이미지를 읽어 Tensor로 변환하고, 라벨과 Mask를 함께 반환하도록 구현했습니다.</a:t>
            </a: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이렇게 반환된 **Image, Label, Mask** 세 가지 정보는 이후 모델과 Loss 계산까지 그대로 전달해서 STEP2에서 생성한 결측 정보가 중간에 사라지지 않도록 했습니다. </a:t>
            </a: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## STEP3.1 Data Leakage 수정</a:t>
            </a: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프로젝트를 진행하면서 가장 중요했던 수정 중 하나가 **Data Leakage 문제**였습니다.</a:t>
            </a: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초기에는 라벨 정규화를 train과 validation을 나누기 전에 전체 데이터로 계산하고 있었습니다.</a:t>
            </a: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이 경우 validation 데이터의 정보가 평균과 표준편차 계산에 포함되기 때문에 실제보다 성능이 좋게 나올 수 있습니다.</a:t>
            </a: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실제로 기존 방식과 수정한 방식의 평균값을 비교했을 때 Tg 평균이 약 99.7에서 98.1로 달라지는 것을 확인했고,</a:t>
            </a: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이를 통해 Leakage가 실제로 존재한다는 것을 확인했습니다.</a:t>
            </a: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그래서 정규화 통계는 반드시 **각 Fold의 train 데이터만으로 계산**하도록 구조를 변경했습니다.</a:t>
            </a: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이 수정 덕분에 이후 K-Fold Cross Validation도 데이터 누수 없이 안전하게 적용할 수 있었습니다.</a:t>
            </a: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1007357"/>
      </p:ext>
    </p:extLst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6accca8d11_0_1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6accca8d1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모델은 ResNet18을 Backbone으로 사용했습니다.</a:t>
            </a: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ResNet18은 ImageNet으로 사전학습된 모델이기 때문에 상대적으로 적은 데이터에서도 안정적인 성능을 기대할 수 있습니다. 또한 Factory 패턴을 적용하여 향후 EfficientNet이나 다른 Backbone으로 교체하더라도 모델 전체를 수정하지 않고 쉽게 확장할 수 있도록 설계했습니다.</a:t>
            </a: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0600285"/>
      </p:ext>
    </p:extLst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6accca8d11_0_1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6accca8d1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3570859"/>
      </p:ext>
    </p:extLst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6accca8d11_0_1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6accca8d1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이제 모델 학습결과에 대해 말씀드리겠습니다</a:t>
            </a:r>
            <a:r>
              <a:rPr lang="en-US" altLang="ko-KR"/>
              <a:t>.</a:t>
            </a:r>
            <a:r>
              <a:rPr lang="ko-KR" altLang="en-US"/>
              <a:t>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4361780"/>
      </p:ext>
    </p:extLst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6accca8d11_0_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6accca8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/>
              <a:t>여기부터는 스터디 발표에 쓰이는 PPT 슬라이드입니다!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58039145"/>
      </p:ext>
    </p:extLst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6accca8d11_0_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6accca8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/>
              <a:t>&gt; 다음으로 외부 데이터를 병합하여 학습 데이터를 약 12.6% 증가시켰습니다.</a:t>
            </a: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/>
              <a:t>&gt; </a:t>
            </a: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/>
              <a:t>&gt; 단일 Validation 환경에서는 Baseline과 유사하거나 일부 지표에서 더 좋은 성능을 보였습니다.</a:t>
            </a: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/>
              <a:t>&gt; </a:t>
            </a: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/>
              <a:t>&gt; 이는 추가된 데이터가 모델 학습에 긍정적인 영향을 줄 가능성을 보여주지만, Validation 데이터 구성이 달라 직접적인 성능 비교에는 한계가 있습니다</a:t>
            </a:r>
            <a:r>
              <a:rPr lang="en-US" altLang="ko-KR"/>
              <a:t>.</a:t>
            </a:r>
            <a:endParaRPr lang="en-US" altLang="ko-K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/>
              <a:t>또한 Merged 모델은 더 많은 데이터를 학습했기 때문에, 일반화 성능은 별도로 검증할 필요가 있다고 판단했습니다.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/>
              <a:t>그래서 저희는 단일 Split 결과만으로 모델을 평가하지 않고, **5-Fold Cross Validation을 추가로 수행했습니다.**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2060921"/>
      </p:ext>
    </p:extLst>
  </p:cSld>
  <p:clrMapOvr>
    <a:masterClrMapping/>
  </p:clrMapOvr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6accca8d11_0_1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6accca8d1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K-Fold를 적용한 이유는 크게 두 가지입니다.</a:t>
            </a: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첫 번째는 **일반화 성능을 보다 신뢰성 있게 평가하기 위해서**입니다.</a:t>
            </a: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두 번째 이유는 프로젝트를 진행하면서 확인했던 **Data Leakage 문제를 해결한 이후**, 보다 신뢰할 수 있는 평가 환경을 만들기 위해서였습니다.</a:t>
            </a: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즉, K-Fold는 단순히 성능을 높이기 위한 과정이 아니라, **모델을 더욱 신뢰성 있게 평가하기 위한 과정**이라고 볼 수 있습니다.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4208661"/>
      </p:ext>
    </p:extLst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6accca8d11_0_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6accca8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다음은 천체적으로 종합비교를 한 결과입니다.</a:t>
            </a: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baseline과 merged는 앞에서 말씀드렸고 k fold 결과값은 </a:t>
            </a: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&gt; 평균 MAE는 약 0.337, RMSE는 약 0.541로 단일 Validation보다 오차가 다소 증가했습니다.</a:t>
            </a: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&gt; </a:t>
            </a: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&gt; 이는 성능 저하라기보다 모든 데이터를 Validation으로 평가하는 더 엄격한 검증 환경과 Data Leakage 제거의 영향으로 해석했습니다.</a:t>
            </a: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&gt; </a:t>
            </a: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&gt; 또한 평균 R²는 약 0.70 수준을 유지하여 모델이 다양한 데이터 분할에서도 일정 수준 이상의 일반화 성능을 보임을 확인했습니다.</a:t>
            </a: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물론 Fold마다 성능 차이는 존재했습니다.</a:t>
            </a: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예를 들어 Fold4는 가장 좋은 성능을 보였고, Fold2는 상대적으로 낮은 성능을 보였습니다.</a:t>
            </a: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하지만 이러한 차이 역시 특정 데이터 분할의 영향을 반영하는 것으로 볼 수 있으며,</a:t>
            </a: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전체 평균으로 보면 모델은 비교적 안정적인 성능을 유지했다고 판단했습니다.</a:t>
            </a: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0100536"/>
      </p:ext>
    </p:extLst>
  </p:cSld>
  <p:clrMapOvr>
    <a:masterClrMapping/>
  </p:clrMapOvr>
</p:notes>
</file>

<file path=ppt/notesSlides/notesSlide1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6accca8d11_0_1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6accca8d1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&gt; 이번 실험을 통해 단순히 Validation Loss를 낮추는 것보다 **모델을 얼마나 신뢰할 수 있는 환경에서 평가했는지가 더 중요하다는 점**을 확인했습니다.</a:t>
            </a: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&gt; </a:t>
            </a: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&gt; 외부 데이터 병합을 통해 학습 데이터를 확장했고, Data Leakage를 수정한 뒤 K-Fold Cross Validation을 적용하여 보다 신뢰성 있는 일반화 성능을 평가했습니다.</a:t>
            </a: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&gt; </a:t>
            </a: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&gt; 따라서 이번 프로젝트의 성과는 **최저 Loss를 달성한 것보다, 신뢰성 있는 평가 파이프라인을 구축했다는 점**에 의미가 있다고 생각합니다.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3520608"/>
      </p:ext>
    </p:extLst>
  </p:cSld>
  <p:clrMapOvr>
    <a:masterClrMapping/>
  </p:clrMapOvr>
</p:notes>
</file>

<file path=ppt/notesSlides/notesSlide1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6accca8d11_0_1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6accca8d1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377471"/>
      </p:ext>
    </p:extLst>
  </p:cSld>
  <p:clrMapOvr>
    <a:masterClrMapping/>
  </p:clrMapOvr>
</p:notes>
</file>

<file path=ppt/notesSlides/notesSlide1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6accca8d11_0_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6accca8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/>
              <a:t>여기부터는 스터디 발표에 쓰이는 PPT 슬라이드입니다!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82354178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1.png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Title slide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Section header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Title and body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Title and two columns" type="twoColTx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Title only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One column text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Main point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Section title and description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Caption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-8275" y="-84750"/>
            <a:ext cx="9254700" cy="5231400"/>
          </a:xfrm>
          <a:prstGeom prst="rect">
            <a:avLst/>
          </a:prstGeom>
          <a:solidFill>
            <a:srgbClr val="19264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" name="Google Shape;45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1049750" y="3137425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0"/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0"/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0"/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" name="Google Shape;49;p10"/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" name="Google Shape;50;p10"/>
          <p:cNvSpPr/>
          <p:nvPr/>
        </p:nvSpPr>
        <p:spPr>
          <a:xfrm>
            <a:off x="1060050" y="211800"/>
            <a:ext cx="7420500" cy="471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0"/>
          <p:cNvSpPr txBox="1"/>
          <p:nvPr/>
        </p:nvSpPr>
        <p:spPr>
          <a:xfrm>
            <a:off x="1469575" y="510025"/>
            <a:ext cx="14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/>
        </p:nvSpPr>
        <p:spPr>
          <a:xfrm>
            <a:off x="146888" y="59400"/>
            <a:ext cx="11295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8</a:t>
            </a: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기 활동 소개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800">
                <a:solidFill>
                  <a:srgbClr val="777777"/>
                </a:solidFill>
                <a:latin typeface="Nanum Gothic"/>
                <a:ea typeface="Nanum Gothic"/>
                <a:cs typeface="Nanum Gothic"/>
                <a:sym typeface="Nanum Gothic"/>
              </a:rPr>
              <a:t>9</a:t>
            </a:r>
            <a:r>
              <a:rPr b="1" lang="ko" sz="800">
                <a:solidFill>
                  <a:srgbClr val="777777"/>
                </a:solidFill>
                <a:latin typeface="Nanum Gothic"/>
                <a:ea typeface="Nanum Gothic"/>
                <a:cs typeface="Nanum Gothic"/>
                <a:sym typeface="Nanum Gothic"/>
              </a:rPr>
              <a:t>기 활동 안내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정기세션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99999"/>
                </a:solidFill>
                <a:latin typeface="Nanum Gothic"/>
                <a:ea typeface="Nanum Gothic"/>
                <a:cs typeface="Nanum Gothic"/>
                <a:sym typeface="Nanum Gothic"/>
              </a:rPr>
              <a:t>CUAI Github</a:t>
            </a:r>
            <a:endParaRPr sz="800">
              <a:solidFill>
                <a:srgbClr val="999999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Basic Track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Advanced Track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스터디 소개</a:t>
            </a:r>
            <a:endParaRPr b="1"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AI </a:t>
            </a:r>
            <a:r>
              <a:rPr b="1"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세미나 소개</a:t>
            </a:r>
            <a:endParaRPr sz="800">
              <a:solidFill>
                <a:srgbClr val="999999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99999"/>
                </a:solidFill>
                <a:latin typeface="Nanum Gothic"/>
                <a:ea typeface="Nanum Gothic"/>
                <a:cs typeface="Nanum Gothic"/>
                <a:sym typeface="Nanum Gothic"/>
              </a:rPr>
              <a:t>CUAI 장학</a:t>
            </a:r>
            <a:r>
              <a:rPr lang="ko" sz="800">
                <a:solidFill>
                  <a:srgbClr val="999999"/>
                </a:solidFill>
                <a:latin typeface="Nanum Gothic"/>
                <a:ea typeface="Nanum Gothic"/>
                <a:cs typeface="Nanum Gothic"/>
                <a:sym typeface="Nanum Gothic"/>
              </a:rPr>
              <a:t>금</a:t>
            </a:r>
            <a:endParaRPr sz="800">
              <a:solidFill>
                <a:srgbClr val="999999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Big number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Blank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xmlns:mc="http://schemas.openxmlformats.org/markup-compatibility/2006" xmlns:hp="http://schemas.haansoft.com/office/presentation/8.0" mc:Ignorable="hp" hp:hslDur="500"/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1.xml"  /><Relationship Id="rId3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1.xml"  /><Relationship Id="rId3" Type="http://schemas.openxmlformats.org/officeDocument/2006/relationships/image" Target="../media/image1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1.xml"  /><Relationship Id="rId3" Type="http://schemas.openxmlformats.org/officeDocument/2006/relationships/image" Target="../media/image2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11.xml"  /><Relationship Id="rId3" Type="http://schemas.openxmlformats.org/officeDocument/2006/relationships/image" Target="../media/image2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11.xml"  /><Relationship Id="rId3" Type="http://schemas.openxmlformats.org/officeDocument/2006/relationships/image" Target="../media/image3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11.xml"  /><Relationship Id="rId3" Type="http://schemas.openxmlformats.org/officeDocument/2006/relationships/image" Target="../media/image2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11.xml"  /><Relationship Id="rId3" Type="http://schemas.openxmlformats.org/officeDocument/2006/relationships/image" Target="../media/image2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11.xml"  /><Relationship Id="rId3" Type="http://schemas.openxmlformats.org/officeDocument/2006/relationships/image" Target="../media/image2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11.xml"  /><Relationship Id="rId3" Type="http://schemas.openxmlformats.org/officeDocument/2006/relationships/image" Target="../media/image2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11.xml"  /><Relationship Id="rId3" Type="http://schemas.openxmlformats.org/officeDocument/2006/relationships/image" Target="../media/image2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1.xml"  /><Relationship Id="rId2" Type="http://schemas.openxmlformats.org/officeDocument/2006/relationships/slideLayout" Target="../slideLayouts/slideLayout11.xml"  /><Relationship Id="rId3" Type="http://schemas.openxmlformats.org/officeDocument/2006/relationships/image" Target="../media/image3.png"  /><Relationship Id="rId4" Type="http://schemas.openxmlformats.org/officeDocument/2006/relationships/image" Target="../media/image4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2.xml"  /><Relationship Id="rId2" Type="http://schemas.openxmlformats.org/officeDocument/2006/relationships/slideLayout" Target="../slideLayouts/slideLayout11.xml"  /><Relationship Id="rId3" Type="http://schemas.openxmlformats.org/officeDocument/2006/relationships/image" Target="../media/image3.png"  /><Relationship Id="rId4" Type="http://schemas.openxmlformats.org/officeDocument/2006/relationships/image" Target="../media/image5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3.xml"  /><Relationship Id="rId2" Type="http://schemas.openxmlformats.org/officeDocument/2006/relationships/slideLayout" Target="../slideLayouts/slideLayout11.xml"  /><Relationship Id="rId3" Type="http://schemas.openxmlformats.org/officeDocument/2006/relationships/image" Target="../media/image2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4.xml"  /><Relationship Id="rId2" Type="http://schemas.openxmlformats.org/officeDocument/2006/relationships/slideLayout" Target="../slideLayouts/slideLayout11.xml"  /><Relationship Id="rId3" Type="http://schemas.openxmlformats.org/officeDocument/2006/relationships/image" Target="../media/image3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5.xml"  /><Relationship Id="rId2" Type="http://schemas.openxmlformats.org/officeDocument/2006/relationships/slideLayout" Target="../slideLayouts/slideLayout11.xml"  /><Relationship Id="rId3" Type="http://schemas.openxmlformats.org/officeDocument/2006/relationships/image" Target="../media/image2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6.xml"  /><Relationship Id="rId2" Type="http://schemas.openxmlformats.org/officeDocument/2006/relationships/slideLayout" Target="../slideLayouts/slideLayout11.xml"  /><Relationship Id="rId3" Type="http://schemas.openxmlformats.org/officeDocument/2006/relationships/image" Target="../media/image2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7.xml"  /><Relationship Id="rId2" Type="http://schemas.openxmlformats.org/officeDocument/2006/relationships/slideLayout" Target="../slideLayouts/slideLayout11.xml"  /><Relationship Id="rId3" Type="http://schemas.openxmlformats.org/officeDocument/2006/relationships/image" Target="../media/image3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3"/>
          <p:cNvSpPr txBox="1"/>
          <p:nvPr/>
        </p:nvSpPr>
        <p:spPr>
          <a:xfrm>
            <a:off x="1339750" y="2710050"/>
            <a:ext cx="4979400" cy="15533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2500" b="1">
                <a:solidFill>
                  <a:srgbClr val="19264b"/>
                </a:solidFill>
              </a:rPr>
              <a:t>고분자 물성 예측 프로젝트</a:t>
            </a:r>
            <a:endParaRPr lang="ko" sz="2500" b="1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>
                <a:solidFill>
                  <a:srgbClr val="19264b"/>
                </a:solidFill>
              </a:rPr>
              <a:t>2026.07.2</a:t>
            </a:r>
            <a:r>
              <a:rPr lang="en-US" altLang="ko-KR">
                <a:solidFill>
                  <a:srgbClr val="19264b"/>
                </a:solidFill>
              </a:rPr>
              <a:t>8</a:t>
            </a:r>
            <a:endParaRPr lang="en-US" altLang="ko-KR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1100">
                <a:solidFill>
                  <a:srgbClr val="19264b"/>
                </a:solidFill>
              </a:rPr>
              <a:t>발표자 : </a:t>
            </a:r>
            <a:r>
              <a:rPr lang="ko-KR" altLang="en-US" sz="1100">
                <a:solidFill>
                  <a:srgbClr val="19264b"/>
                </a:solidFill>
              </a:rPr>
              <a:t>김강민</a:t>
            </a:r>
            <a:r>
              <a:rPr lang="en-US" altLang="ko-KR" sz="1100">
                <a:solidFill>
                  <a:srgbClr val="19264b"/>
                </a:solidFill>
              </a:rPr>
              <a:t>,</a:t>
            </a:r>
            <a:r>
              <a:rPr lang="ko-KR" altLang="en-US" sz="1100">
                <a:solidFill>
                  <a:srgbClr val="19264b"/>
                </a:solidFill>
              </a:rPr>
              <a:t> 정효림 </a:t>
            </a:r>
            <a:r>
              <a:rPr lang="en-US" altLang="ko-KR" sz="1100">
                <a:solidFill>
                  <a:srgbClr val="19264b"/>
                </a:solidFill>
              </a:rPr>
              <a:t>(CV1</a:t>
            </a:r>
            <a:r>
              <a:rPr lang="ko-KR" altLang="en-US" sz="1100">
                <a:solidFill>
                  <a:srgbClr val="19264b"/>
                </a:solidFill>
              </a:rPr>
              <a:t>팀</a:t>
            </a:r>
            <a:r>
              <a:rPr lang="en-US" altLang="ko-KR" sz="1100">
                <a:solidFill>
                  <a:srgbClr val="19264b"/>
                </a:solidFill>
              </a:rPr>
              <a:t>)</a:t>
            </a:r>
            <a:endParaRPr lang="en-US" altLang="ko-KR" sz="1100">
              <a:solidFill>
                <a:srgbClr val="19264b"/>
              </a:solidFill>
            </a:endParaRPr>
          </a:p>
        </p:txBody>
      </p:sp>
      <p:cxnSp>
        <p:nvCxnSpPr>
          <p:cNvPr id="65" name="Google Shape;65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6" name="Google Shape;6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2" name="Google Shape;82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목차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408975" y="950000"/>
            <a:ext cx="67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19264B"/>
                </a:solidFill>
                <a:latin typeface="맑은 고딕"/>
              </a:rPr>
              <a:t>01   </a:t>
            </a:r>
            <a:r>
              <a:rPr sz="1400">
                <a:solidFill>
                  <a:srgbClr val="595959"/>
                </a:solidFill>
                <a:latin typeface="맑은 고딕"/>
              </a:rPr>
              <a:t>프로젝트 소개 및 연구 배경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19264B"/>
                </a:solidFill>
                <a:latin typeface="맑은 고딕"/>
              </a:rPr>
              <a:t>02   </a:t>
            </a:r>
            <a:r>
              <a:rPr sz="1400">
                <a:solidFill>
                  <a:srgbClr val="595959"/>
                </a:solidFill>
                <a:latin typeface="맑은 고딕"/>
              </a:rPr>
              <a:t>전체 Pipeline 설계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19264B"/>
                </a:solidFill>
                <a:latin typeface="맑은 고딕"/>
              </a:rPr>
              <a:t>03   </a:t>
            </a:r>
            <a:r>
              <a:rPr sz="1400">
                <a:solidFill>
                  <a:srgbClr val="595959"/>
                </a:solidFill>
                <a:latin typeface="맑은 고딕"/>
              </a:rPr>
              <a:t>데이터 전처리 · Dataset 구축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19264B"/>
                </a:solidFill>
                <a:latin typeface="맑은 고딕"/>
              </a:rPr>
              <a:t>04   </a:t>
            </a:r>
            <a:r>
              <a:rPr sz="1400">
                <a:solidFill>
                  <a:srgbClr val="595959"/>
                </a:solidFill>
                <a:latin typeface="맑은 고딕"/>
              </a:rPr>
              <a:t>모델 구조 및 학습 엔진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19264B"/>
                </a:solidFill>
                <a:latin typeface="맑은 고딕"/>
              </a:rPr>
              <a:t>05   </a:t>
            </a:r>
            <a:r>
              <a:rPr sz="1400">
                <a:solidFill>
                  <a:srgbClr val="595959"/>
                </a:solidFill>
                <a:latin typeface="맑은 고딕"/>
              </a:rPr>
              <a:t>학습 결과 및 K-Fold 검증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19264B"/>
                </a:solidFill>
                <a:latin typeface="맑은 고딕"/>
              </a:rPr>
              <a:t>06   </a:t>
            </a:r>
            <a:r>
              <a:rPr sz="1400">
                <a:solidFill>
                  <a:srgbClr val="595959"/>
                </a:solidFill>
                <a:latin typeface="맑은 고딕"/>
              </a:rPr>
              <a:t>결과 분석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19264B"/>
                </a:solidFill>
                <a:latin typeface="맑은 고딕"/>
              </a:rPr>
              <a:t>07   </a:t>
            </a:r>
            <a:r>
              <a:rPr sz="1400">
                <a:solidFill>
                  <a:srgbClr val="595959"/>
                </a:solidFill>
                <a:latin typeface="맑은 고딕"/>
              </a:rPr>
              <a:t>한계 및 향후 연구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19264B"/>
                </a:solidFill>
                <a:latin typeface="맑은 고딕"/>
              </a:rPr>
              <a:t>08   </a:t>
            </a:r>
            <a:r>
              <a:rPr sz="1400">
                <a:solidFill>
                  <a:srgbClr val="595959"/>
                </a:solidFill>
                <a:latin typeface="맑은 고딕"/>
              </a:rPr>
              <a:t>결론</a:t>
            </a:r>
          </a:p>
        </p:txBody>
      </p:sp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2" name="Google Shape;82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3" name="Google Shape;83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/>
          <p:nvPr/>
        </p:nvSpPr>
        <p:spPr>
          <a:xfrm>
            <a:off x="1408975" y="306875"/>
            <a:ext cx="4979400" cy="5275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>
                <a:solidFill>
                  <a:srgbClr val="19264b"/>
                </a:solidFill>
                <a:latin typeface="나눔고딕 ExtraBold"/>
                <a:ea typeface="나눔고딕 ExtraBold"/>
                <a:cs typeface="나눔고딕 ExtraBold"/>
                <a:sym typeface="나눔고딕 ExtraBold"/>
              </a:rPr>
              <a:t>프로젝트 소개 및 연구 배경</a:t>
            </a:r>
            <a:endParaRPr lang="ko-KR" altLang="en-US" sz="2000">
              <a:solidFill>
                <a:srgbClr val="19264b"/>
              </a:solidFill>
              <a:latin typeface="나눔고딕 ExtraBold"/>
              <a:ea typeface="나눔고딕 ExtraBold"/>
              <a:cs typeface="나눔고딕 ExtraBold"/>
              <a:sym typeface="나눔고딕 ExtraBold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408975" y="950000"/>
            <a:ext cx="6700000" cy="3229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400">
                <a:solidFill>
                  <a:schemeClr val="tx1"/>
                </a:solidFill>
                <a:latin typeface="맑은 고딕"/>
              </a:rPr>
              <a:t>SMILES → 5개 물성(Tg, Density, FFV, Tc, Rg) 동시 예측</a:t>
            </a:r>
            <a:endParaRPr sz="1400">
              <a:solidFill>
                <a:schemeClr val="tx1"/>
              </a:solidFill>
              <a:latin typeface="맑은 고딕"/>
            </a:endParaRPr>
          </a:p>
          <a:p>
            <a:pPr marL="228600" lvl="0" indent="-228600" algn="l"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400">
                <a:solidFill>
                  <a:schemeClr val="tx1"/>
                </a:solidFill>
                <a:latin typeface="맑은 고딕"/>
              </a:rPr>
              <a:t>NeurIPS Open Polymer Prediction 2025 (Kaggle)</a:t>
            </a:r>
            <a:endParaRPr sz="1400">
              <a:solidFill>
                <a:schemeClr val="tx1"/>
              </a:solidFill>
              <a:latin typeface="맑은 고딕"/>
            </a:endParaRPr>
          </a:p>
          <a:p>
            <a:pPr marL="228600" lvl="0" indent="-228600" algn="l"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400">
                <a:solidFill>
                  <a:schemeClr val="tx1"/>
                </a:solidFill>
                <a:latin typeface="맑은 고딕"/>
              </a:rPr>
              <a:t>최종 목표 : 신소재 후보 Virtual Screening</a:t>
            </a:r>
            <a:endParaRPr sz="1400">
              <a:solidFill>
                <a:schemeClr val="tx1"/>
              </a:solidFill>
              <a:latin typeface="맑은 고딕"/>
            </a:endParaRPr>
          </a:p>
          <a:p>
            <a:pPr marL="228600" lvl="0" indent="-228600" algn="l"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endParaRPr sz="1400">
              <a:solidFill>
                <a:schemeClr val="tx1"/>
              </a:solidFill>
              <a:latin typeface="맑은 고딕"/>
            </a:endParaRPr>
          </a:p>
          <a:p>
            <a:pPr marL="228600" lvl="0" indent="-228600" algn="l"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endParaRPr sz="1400">
              <a:solidFill>
                <a:schemeClr val="tx1"/>
              </a:solidFill>
              <a:latin typeface="맑은 고딕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400">
                <a:solidFill>
                  <a:schemeClr val="tx1"/>
                </a:solidFill>
                <a:latin typeface="맑은 고딕"/>
              </a:rPr>
              <a:t>실험 없이 물성 예측 → 스크리닝 비용·시간 절감</a:t>
            </a:r>
            <a:endParaRPr sz="1400">
              <a:solidFill>
                <a:schemeClr val="tx1"/>
              </a:solidFill>
              <a:latin typeface="맑은 고딕"/>
            </a:endParaRPr>
          </a:p>
          <a:p>
            <a:pPr marL="228600" lvl="0" indent="-228600" algn="l"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400">
                <a:solidFill>
                  <a:schemeClr val="tx1"/>
                </a:solidFill>
                <a:latin typeface="맑은 고딕"/>
              </a:rPr>
              <a:t>문제 : 물성 라벨 결측이 물성마다 크게 다름</a:t>
            </a:r>
            <a:endParaRPr sz="1400">
              <a:solidFill>
                <a:schemeClr val="tx1"/>
              </a:solidFill>
              <a:latin typeface="맑은 고딕"/>
            </a:endParaRPr>
          </a:p>
          <a:p>
            <a:pPr marL="228600" lvl="0" indent="-228600" algn="l"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400">
                <a:solidFill>
                  <a:schemeClr val="tx1"/>
                </a:solidFill>
                <a:latin typeface="맑은 고딕"/>
              </a:rPr>
              <a:t>Tg 511개 / FFV 7,030개 (전체 7,973개 중)</a:t>
            </a:r>
            <a:endParaRPr sz="1400">
              <a:solidFill>
                <a:schemeClr val="tx1"/>
              </a:solidFill>
              <a:latin typeface="맑은 고딕"/>
            </a:endParaRPr>
          </a:p>
          <a:p>
            <a:pPr marL="228600" lvl="0" indent="-228600" algn="l"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400">
                <a:solidFill>
                  <a:schemeClr val="tx1"/>
                </a:solidFill>
                <a:latin typeface="맑은 고딕"/>
              </a:rPr>
              <a:t>결측 처리 방식이 파이프라인 전체 설계의 핵심 제약</a:t>
            </a:r>
            <a:endParaRPr sz="1400">
              <a:solidFill>
                <a:schemeClr val="tx1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72711420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2" name="Google Shape;82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3" name="Google Shape;83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/>
          <p:nvPr/>
        </p:nvSpPr>
        <p:spPr>
          <a:xfrm>
            <a:off x="1408975" y="306875"/>
            <a:ext cx="4979400" cy="47987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000" b="1">
                <a:solidFill>
                  <a:schemeClr val="tx1"/>
                </a:solidFill>
                <a:latin typeface="맑은 고딕"/>
              </a:rPr>
              <a:t>왜 Computer Vision인가</a:t>
            </a:r>
            <a:endParaRPr sz="2000">
              <a:solidFill>
                <a:srgbClr val="19264b"/>
              </a:solidFill>
              <a:latin typeface="나눔고딕 ExtraBold"/>
              <a:ea typeface="나눔고딕 ExtraBold"/>
              <a:cs typeface="나눔고딕 ExtraBold"/>
              <a:sym typeface="나눔고딕 ExtraBold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408975" y="950000"/>
            <a:ext cx="6700000" cy="1400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400">
                <a:solidFill>
                  <a:schemeClr val="tx1"/>
                </a:solidFill>
                <a:latin typeface="맑은 고딕"/>
              </a:rPr>
              <a:t>SMILES는 보통 GNN·텍스트 방식이 정석</a:t>
            </a:r>
            <a:endParaRPr sz="1400">
              <a:solidFill>
                <a:schemeClr val="tx1"/>
              </a:solidFill>
              <a:latin typeface="맑은 고딕"/>
            </a:endParaRPr>
          </a:p>
          <a:p>
            <a:pPr marL="228600" lvl="0" indent="-228600" algn="l"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400">
                <a:solidFill>
                  <a:schemeClr val="tx1"/>
                </a:solidFill>
                <a:latin typeface="맑은 고딕"/>
              </a:rPr>
              <a:t>본 프로젝트 : 분자 구조 → 2D 이미지 렌더링 → CNN</a:t>
            </a:r>
            <a:endParaRPr sz="1400">
              <a:solidFill>
                <a:schemeClr val="tx1"/>
              </a:solidFill>
              <a:latin typeface="맑은 고딕"/>
            </a:endParaRPr>
          </a:p>
          <a:p>
            <a:pPr marL="228600" lvl="0" indent="-228600" algn="l"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400">
                <a:solidFill>
                  <a:schemeClr val="tx1"/>
                </a:solidFill>
                <a:latin typeface="맑은 고딕"/>
              </a:rPr>
              <a:t>화학 전공자가 구조식을 보는 방식과 유사한 접근</a:t>
            </a:r>
            <a:endParaRPr sz="1400">
              <a:solidFill>
                <a:schemeClr val="tx1"/>
              </a:solidFill>
              <a:latin typeface="맑은 고딕"/>
            </a:endParaRPr>
          </a:p>
          <a:p>
            <a:pPr marL="228600" lvl="0" indent="-228600" algn="l"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400">
                <a:solidFill>
                  <a:schemeClr val="tx1"/>
                </a:solidFill>
                <a:latin typeface="맑은 고딕"/>
              </a:rPr>
              <a:t>ImageNet 사전학습 전이 가능</a:t>
            </a:r>
            <a:endParaRPr sz="1400">
              <a:solidFill>
                <a:srgbClr val="595959"/>
              </a:solidFill>
              <a:latin typeface="맑은 고딕"/>
            </a:endParaRPr>
          </a:p>
        </p:txBody>
      </p:sp>
      <p:graphicFrame>
        <p:nvGraphicFramePr>
          <p:cNvPr id="87" name="Table 103"/>
          <p:cNvGraphicFramePr>
            <a:graphicFrameLocks noGrp="1"/>
          </p:cNvGraphicFramePr>
          <p:nvPr/>
        </p:nvGraphicFramePr>
        <p:xfrm>
          <a:off x="1644178" y="2905301"/>
          <a:ext cx="6300000" cy="14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0000"/>
                <a:gridCol w="2100000"/>
                <a:gridCol w="2100000"/>
              </a:tblGrid>
              <a:tr h="350000">
                <a:tc>
                  <a:txBody>
                    <a:bodyPr vert="horz" lIns="91440" tIns="30000" rIns="91440" bIns="30000" anchor="ctr" anchorCtr="0"/>
                    <a:lstStyle/>
                    <a:p>
                      <a:pPr lvl="0" algn="ctr">
                        <a:defRPr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방식</a:t>
                      </a:r>
                      <a:endParaRPr sz="1250" b="1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91440" marR="91440" marT="30000" marB="30000" anchor="ctr">
                    <a:solidFill>
                      <a:srgbClr val="273563"/>
                    </a:solidFill>
                  </a:tcPr>
                </a:tc>
                <a:tc>
                  <a:txBody>
                    <a:bodyPr vert="horz" lIns="91440" tIns="30000" rIns="91440" bIns="30000" anchor="ctr" anchorCtr="0"/>
                    <a:lstStyle/>
                    <a:p>
                      <a:pPr lvl="0" algn="ctr">
                        <a:defRPr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입력 형태</a:t>
                      </a:r>
                      <a:endParaRPr sz="1250" b="1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91440" marR="91440" marT="30000" marB="30000" anchor="ctr">
                    <a:solidFill>
                      <a:srgbClr val="273563"/>
                    </a:solidFill>
                  </a:tcPr>
                </a:tc>
                <a:tc>
                  <a:txBody>
                    <a:bodyPr vert="horz" lIns="91440" tIns="30000" rIns="91440" bIns="30000" anchor="ctr" anchorCtr="0"/>
                    <a:lstStyle/>
                    <a:p>
                      <a:pPr lvl="0" algn="ctr">
                        <a:defRPr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장점</a:t>
                      </a:r>
                      <a:endParaRPr sz="1250" b="1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91440" marR="91440" marT="30000" marB="30000" anchor="ctr">
                    <a:solidFill>
                      <a:srgbClr val="273563"/>
                    </a:solidFill>
                  </a:tcPr>
                </a:tc>
              </a:tr>
              <a:tr h="350000">
                <a:tc>
                  <a:txBody>
                    <a:bodyPr vert="horz" lIns="91440" tIns="30000" rIns="91440" bIns="30000" anchor="ctr" anchorCtr="0"/>
                    <a:lstStyle/>
                    <a:p>
                      <a:pPr lvl="0" algn="ctr">
                        <a:defRPr/>
                      </a:pPr>
                      <a:r>
                        <a:rPr sz="1250" b="0">
                          <a:solidFill>
                            <a:srgbClr val="d8dce8"/>
                          </a:solidFill>
                          <a:latin typeface="맑은 고딕"/>
                        </a:rPr>
                        <a:t>Tabular</a:t>
                      </a:r>
                      <a:endParaRPr sz="1250" b="0">
                        <a:solidFill>
                          <a:srgbClr val="d8dce8"/>
                        </a:solidFill>
                        <a:latin typeface="맑은 고딕"/>
                      </a:endParaRPr>
                    </a:p>
                  </a:txBody>
                  <a:tcPr marL="91440" marR="91440" marT="30000" marB="30000" anchor="ctr">
                    <a:solidFill>
                      <a:srgbClr val="101833"/>
                    </a:solidFill>
                  </a:tcPr>
                </a:tc>
                <a:tc>
                  <a:txBody>
                    <a:bodyPr vert="horz" lIns="91440" tIns="30000" rIns="91440" bIns="30000" anchor="ctr" anchorCtr="0"/>
                    <a:lstStyle/>
                    <a:p>
                      <a:pPr lvl="0" algn="ctr">
                        <a:defRPr/>
                      </a:pPr>
                      <a:r>
                        <a:rPr sz="1250" b="0">
                          <a:solidFill>
                            <a:srgbClr val="d8dce8"/>
                          </a:solidFill>
                          <a:latin typeface="맑은 고딕"/>
                        </a:rPr>
                        <a:t>수치 특징 벡터</a:t>
                      </a:r>
                      <a:endParaRPr sz="1250" b="0">
                        <a:solidFill>
                          <a:srgbClr val="d8dce8"/>
                        </a:solidFill>
                        <a:latin typeface="맑은 고딕"/>
                      </a:endParaRPr>
                    </a:p>
                  </a:txBody>
                  <a:tcPr marL="91440" marR="91440" marT="30000" marB="30000" anchor="ctr">
                    <a:solidFill>
                      <a:srgbClr val="101833"/>
                    </a:solidFill>
                  </a:tcPr>
                </a:tc>
                <a:tc>
                  <a:txBody>
                    <a:bodyPr vert="horz" lIns="91440" tIns="30000" rIns="91440" bIns="30000" anchor="ctr" anchorCtr="0"/>
                    <a:lstStyle/>
                    <a:p>
                      <a:pPr lvl="0" algn="ctr">
                        <a:defRPr/>
                      </a:pPr>
                      <a:r>
                        <a:rPr sz="1250" b="0">
                          <a:solidFill>
                            <a:srgbClr val="d8dce8"/>
                          </a:solidFill>
                          <a:latin typeface="맑은 고딕"/>
                        </a:rPr>
                        <a:t>빠르고 해석 쉬움</a:t>
                      </a:r>
                      <a:endParaRPr sz="1250" b="0">
                        <a:solidFill>
                          <a:srgbClr val="d8dce8"/>
                        </a:solidFill>
                        <a:latin typeface="맑은 고딕"/>
                      </a:endParaRPr>
                    </a:p>
                  </a:txBody>
                  <a:tcPr marL="91440" marR="91440" marT="30000" marB="30000" anchor="ctr">
                    <a:solidFill>
                      <a:srgbClr val="101833"/>
                    </a:solidFill>
                  </a:tcPr>
                </a:tc>
              </a:tr>
              <a:tr h="350000">
                <a:tc>
                  <a:txBody>
                    <a:bodyPr vert="horz" lIns="91440" tIns="30000" rIns="91440" bIns="30000" anchor="ctr" anchorCtr="0"/>
                    <a:lstStyle/>
                    <a:p>
                      <a:pPr lvl="0" algn="ctr">
                        <a:defRPr/>
                      </a:pPr>
                      <a:r>
                        <a:rPr sz="1250" b="0">
                          <a:solidFill>
                            <a:srgbClr val="d8dce8"/>
                          </a:solidFill>
                          <a:latin typeface="맑은 고딕"/>
                        </a:rPr>
                        <a:t>GNN</a:t>
                      </a:r>
                      <a:endParaRPr sz="1250" b="0">
                        <a:solidFill>
                          <a:srgbClr val="d8dce8"/>
                        </a:solidFill>
                        <a:latin typeface="맑은 고딕"/>
                      </a:endParaRPr>
                    </a:p>
                  </a:txBody>
                  <a:tcPr marL="91440" marR="91440" marT="30000" marB="30000" anchor="ctr">
                    <a:solidFill>
                      <a:srgbClr val="101833"/>
                    </a:solidFill>
                  </a:tcPr>
                </a:tc>
                <a:tc>
                  <a:txBody>
                    <a:bodyPr vert="horz" lIns="91440" tIns="30000" rIns="91440" bIns="30000" anchor="ctr" anchorCtr="0"/>
                    <a:lstStyle/>
                    <a:p>
                      <a:pPr lvl="0" algn="ctr">
                        <a:defRPr/>
                      </a:pPr>
                      <a:r>
                        <a:rPr sz="1250" b="0">
                          <a:solidFill>
                            <a:srgbClr val="d8dce8"/>
                          </a:solidFill>
                          <a:latin typeface="맑은 고딕"/>
                        </a:rPr>
                        <a:t>분자 그래프</a:t>
                      </a:r>
                      <a:endParaRPr sz="1250" b="0">
                        <a:solidFill>
                          <a:srgbClr val="d8dce8"/>
                        </a:solidFill>
                        <a:latin typeface="맑은 고딕"/>
                      </a:endParaRPr>
                    </a:p>
                  </a:txBody>
                  <a:tcPr marL="91440" marR="91440" marT="30000" marB="30000" anchor="ctr">
                    <a:solidFill>
                      <a:srgbClr val="101833"/>
                    </a:solidFill>
                  </a:tcPr>
                </a:tc>
                <a:tc>
                  <a:txBody>
                    <a:bodyPr vert="horz" lIns="91440" tIns="30000" rIns="91440" bIns="30000" anchor="ctr" anchorCtr="0"/>
                    <a:lstStyle/>
                    <a:p>
                      <a:pPr lvl="0" algn="ctr">
                        <a:defRPr/>
                      </a:pPr>
                      <a:r>
                        <a:rPr sz="1250" b="0">
                          <a:solidFill>
                            <a:srgbClr val="d8dce8"/>
                          </a:solidFill>
                          <a:latin typeface="맑은 고딕"/>
                        </a:rPr>
                        <a:t>구조 정보 직접 학습 (미적용)</a:t>
                      </a:r>
                      <a:endParaRPr sz="1250" b="0">
                        <a:solidFill>
                          <a:srgbClr val="d8dce8"/>
                        </a:solidFill>
                        <a:latin typeface="맑은 고딕"/>
                      </a:endParaRPr>
                    </a:p>
                  </a:txBody>
                  <a:tcPr marL="91440" marR="91440" marT="30000" marB="30000" anchor="ctr">
                    <a:solidFill>
                      <a:srgbClr val="101833"/>
                    </a:solidFill>
                  </a:tcPr>
                </a:tc>
              </a:tr>
              <a:tr h="350000">
                <a:tc>
                  <a:txBody>
                    <a:bodyPr vert="horz" lIns="91440" tIns="30000" rIns="91440" bIns="30000" anchor="ctr" anchorCtr="0"/>
                    <a:lstStyle/>
                    <a:p>
                      <a:pPr lvl="0" algn="ctr">
                        <a:defRPr/>
                      </a:pPr>
                      <a:r>
                        <a:rPr sz="1250" b="0">
                          <a:solidFill>
                            <a:srgbClr val="d8dce8"/>
                          </a:solidFill>
                          <a:latin typeface="맑은 고딕"/>
                        </a:rPr>
                        <a:t>CV (본 연구)</a:t>
                      </a:r>
                      <a:endParaRPr sz="1250" b="0">
                        <a:solidFill>
                          <a:srgbClr val="d8dce8"/>
                        </a:solidFill>
                        <a:latin typeface="맑은 고딕"/>
                      </a:endParaRPr>
                    </a:p>
                  </a:txBody>
                  <a:tcPr marL="91440" marR="91440" marT="30000" marB="30000" anchor="ctr">
                    <a:solidFill>
                      <a:srgbClr val="101833"/>
                    </a:solidFill>
                  </a:tcPr>
                </a:tc>
                <a:tc>
                  <a:txBody>
                    <a:bodyPr vert="horz" lIns="91440" tIns="30000" rIns="91440" bIns="30000" anchor="ctr" anchorCtr="0"/>
                    <a:lstStyle/>
                    <a:p>
                      <a:pPr lvl="0" algn="ctr">
                        <a:defRPr/>
                      </a:pPr>
                      <a:r>
                        <a:rPr sz="1250" b="0">
                          <a:solidFill>
                            <a:srgbClr val="d8dce8"/>
                          </a:solidFill>
                          <a:latin typeface="맑은 고딕"/>
                        </a:rPr>
                        <a:t>2D 렌더링 이미지</a:t>
                      </a:r>
                      <a:endParaRPr sz="1250" b="0">
                        <a:solidFill>
                          <a:srgbClr val="d8dce8"/>
                        </a:solidFill>
                        <a:latin typeface="맑은 고딕"/>
                      </a:endParaRPr>
                    </a:p>
                  </a:txBody>
                  <a:tcPr marL="91440" marR="91440" marT="30000" marB="30000" anchor="ctr">
                    <a:solidFill>
                      <a:srgbClr val="101833"/>
                    </a:solidFill>
                  </a:tcPr>
                </a:tc>
                <a:tc>
                  <a:txBody>
                    <a:bodyPr vert="horz" lIns="91440" tIns="30000" rIns="91440" bIns="30000" anchor="ctr" anchorCtr="0"/>
                    <a:lstStyle/>
                    <a:p>
                      <a:pPr lvl="0" algn="ctr">
                        <a:defRPr/>
                      </a:pPr>
                      <a:r>
                        <a:rPr sz="1250" b="0">
                          <a:solidFill>
                            <a:srgbClr val="d8dce8"/>
                          </a:solidFill>
                          <a:latin typeface="맑은 고딕"/>
                        </a:rPr>
                        <a:t>사전학습 CNN 전이 가능</a:t>
                      </a:r>
                      <a:endParaRPr sz="1250" b="0">
                        <a:solidFill>
                          <a:srgbClr val="d8dce8"/>
                        </a:solidFill>
                        <a:latin typeface="맑은 고딕"/>
                      </a:endParaRPr>
                    </a:p>
                  </a:txBody>
                  <a:tcPr marL="91440" marR="91440" marT="30000" marB="30000" anchor="ctr">
                    <a:solidFill>
                      <a:srgbClr val="10183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7874957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2" name="Google Shape;82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3" name="Google Shape;83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98;p17"/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8" name="Google Shape;99;p17"/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9" name="Google Shape;100;p17"/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chemeClr val="tx1"/>
              </a:solidFill>
            </a:endParaRPr>
          </a:p>
        </p:txBody>
      </p:sp>
      <p:cxnSp>
        <p:nvCxnSpPr>
          <p:cNvPr id="90" name="Google Shape;101;p17"/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sp>
        <p:nvSpPr>
          <p:cNvPr id="91" name="Google Shape;102;p17"/>
          <p:cNvSpPr txBox="1"/>
          <p:nvPr/>
        </p:nvSpPr>
        <p:spPr>
          <a:xfrm>
            <a:off x="2158346" y="388856"/>
            <a:ext cx="6150000" cy="563437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500" b="1">
                <a:solidFill>
                  <a:schemeClr val="tx1"/>
                </a:solidFill>
                <a:latin typeface="맑은 고딕"/>
              </a:rPr>
              <a:t>전체 Pipeline 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92" name="Google Shape;103;p17"/>
          <p:cNvSpPr txBox="1"/>
          <p:nvPr/>
        </p:nvSpPr>
        <p:spPr>
          <a:xfrm>
            <a:off x="6197922" y="400768"/>
            <a:ext cx="2421615" cy="328832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rgbClr val="6e8bf2"/>
              </a:buClr>
              <a:buFont typeface="Arial"/>
              <a:buNone/>
              <a:defRPr/>
            </a:pPr>
            <a:endParaRPr sz="1000">
              <a:solidFill>
                <a:schemeClr val="tx1"/>
              </a:solidFill>
              <a:latin typeface="맑은 고딕"/>
            </a:endParaRPr>
          </a:p>
        </p:txBody>
      </p:sp>
      <p:sp>
        <p:nvSpPr>
          <p:cNvPr id="93" name="가로 글상자 92"/>
          <p:cNvSpPr txBox="1"/>
          <p:nvPr/>
        </p:nvSpPr>
        <p:spPr>
          <a:xfrm>
            <a:off x="2205610" y="1148415"/>
            <a:ext cx="7268306" cy="35942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000">
                <a:solidFill>
                  <a:schemeClr val="tx1"/>
                </a:solidFill>
                <a:latin typeface="맑은 고딕"/>
              </a:rPr>
              <a:t>Raw CSV (SMILES + 5개 물성, 결측 포함)</a:t>
            </a:r>
            <a:endParaRPr sz="1000">
              <a:solidFill>
                <a:schemeClr val="tx1"/>
              </a:solidFill>
              <a:latin typeface="맑은 고딕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000">
                <a:solidFill>
                  <a:schemeClr val="tx1"/>
                </a:solidFill>
                <a:latin typeface="맑은 고딕"/>
              </a:rPr>
              <a:t>   ↓ [STEP2] RDKit으로 2D 구조 이미지 렌더링 + Metadata/Mask 생성</a:t>
            </a:r>
            <a:endParaRPr sz="1000">
              <a:solidFill>
                <a:schemeClr val="tx1"/>
              </a:solidFill>
              <a:latin typeface="맑은 고딕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000">
                <a:solidFill>
                  <a:schemeClr val="tx1"/>
                </a:solidFill>
                <a:latin typeface="맑은 고딕"/>
              </a:rPr>
              <a:t>224×224 PNG 이미지 + processed_metadata.csv</a:t>
            </a:r>
            <a:endParaRPr sz="1000">
              <a:solidFill>
                <a:schemeClr val="tx1"/>
              </a:solidFill>
              <a:latin typeface="맑은 고딕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000">
                <a:solidFill>
                  <a:schemeClr val="tx1"/>
                </a:solidFill>
                <a:latin typeface="맑은 고딕"/>
              </a:rPr>
              <a:t>   ↓ [STEP3] Dataset 구축 (Transform, Mask 처리, Fold-safe Normalization)</a:t>
            </a:r>
            <a:endParaRPr sz="1000">
              <a:solidFill>
                <a:schemeClr val="tx1"/>
              </a:solidFill>
              <a:latin typeface="맑은 고딕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000">
                <a:solidFill>
                  <a:schemeClr val="tx1"/>
                </a:solidFill>
                <a:latin typeface="맑은 고딕"/>
              </a:rPr>
              <a:t>(image, label, mask) 텐서 배치</a:t>
            </a:r>
            <a:endParaRPr sz="1000">
              <a:solidFill>
                <a:schemeClr val="tx1"/>
              </a:solidFill>
              <a:latin typeface="맑은 고딕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000">
                <a:solidFill>
                  <a:schemeClr val="tx1"/>
                </a:solidFill>
                <a:latin typeface="맑은 고딕"/>
              </a:rPr>
              <a:t>   ↓ [STEP4] CNN Model (ResNet18 + MultiTask Head)</a:t>
            </a:r>
            <a:endParaRPr sz="1000">
              <a:solidFill>
                <a:schemeClr val="tx1"/>
              </a:solidFill>
              <a:latin typeface="맑은 고딕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000">
                <a:solidFill>
                  <a:schemeClr val="tx1"/>
                </a:solidFill>
                <a:latin typeface="맑은 고딕"/>
              </a:rPr>
              <a:t>5개 물성 동시 예측</a:t>
            </a:r>
            <a:endParaRPr sz="1000">
              <a:solidFill>
                <a:schemeClr val="tx1"/>
              </a:solidFill>
              <a:latin typeface="맑은 고딕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000">
                <a:solidFill>
                  <a:schemeClr val="tx1"/>
                </a:solidFill>
                <a:latin typeface="맑은 고딕"/>
              </a:rPr>
              <a:t>   ↓ [STEP5] Trainer (Loss, Optimizer, Scheduler, EarlyStopping, Checkpoint, AMP)</a:t>
            </a:r>
            <a:endParaRPr sz="1000">
              <a:solidFill>
                <a:schemeClr val="tx1"/>
              </a:solidFill>
              <a:latin typeface="맑은 고딕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000">
                <a:solidFill>
                  <a:schemeClr val="tx1"/>
                </a:solidFill>
                <a:latin typeface="맑은 고딕"/>
              </a:rPr>
              <a:t>   ↓ [STEP6] Training / Validation / Metric 계산 / Learning Curve / Prediction CSV</a:t>
            </a:r>
            <a:endParaRPr sz="1000">
              <a:solidFill>
                <a:schemeClr val="tx1"/>
              </a:solidFill>
              <a:latin typeface="맑은 고딕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000">
                <a:solidFill>
                  <a:schemeClr val="tx1"/>
                </a:solidFill>
                <a:latin typeface="맑은 고딕"/>
              </a:rPr>
              <a:t>   ↓ [STEP6.5] K-Fold Cross Validation (일반화 성능 검증)</a:t>
            </a:r>
            <a:endParaRPr sz="1000">
              <a:solidFill>
                <a:schemeClr val="tx1"/>
              </a:solidFill>
              <a:latin typeface="맑은 고딕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000">
                <a:solidFill>
                  <a:schemeClr val="tx1"/>
                </a:solidFill>
                <a:latin typeface="맑은 고딕"/>
              </a:rPr>
              <a:t>   ↓ (향후) Explainable AI (Grad-CAM)</a:t>
            </a:r>
            <a:endParaRPr sz="1000">
              <a:solidFill>
                <a:schemeClr val="tx1"/>
              </a:solidFill>
              <a:latin typeface="맑은 고딕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000">
                <a:solidFill>
                  <a:schemeClr val="tx1"/>
                </a:solidFill>
                <a:latin typeface="맑은 고딕"/>
              </a:rPr>
              <a:t>   ↓ (향후) Virtual Screening</a:t>
            </a:r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6355318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chemeClr val="tx1"/>
              </a:solidFill>
            </a:endParaRPr>
          </a:p>
        </p:txBody>
      </p:sp>
      <p:cxnSp>
        <p:nvCxnSpPr>
          <p:cNvPr id="82" name="Google Shape;82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3" name="Google Shape;83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/>
          <p:nvPr/>
        </p:nvSpPr>
        <p:spPr>
          <a:xfrm>
            <a:off x="1404090" y="316644"/>
            <a:ext cx="4979400" cy="47987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000" b="1">
                <a:solidFill>
                  <a:schemeClr val="tx1"/>
                </a:solidFill>
                <a:latin typeface="맑은 고딕"/>
              </a:rPr>
              <a:t>데이터 전처리 · STEP2</a:t>
            </a:r>
            <a:endParaRPr sz="2000">
              <a:solidFill>
                <a:schemeClr val="tx1"/>
              </a:solidFill>
              <a:latin typeface="나눔고딕 ExtraBold"/>
              <a:ea typeface="나눔고딕 ExtraBold"/>
              <a:cs typeface="나눔고딕 ExtraBold"/>
              <a:sym typeface="나눔고딕 ExtraBold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408975" y="950000"/>
            <a:ext cx="6700000" cy="1400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400">
                <a:solidFill>
                  <a:schemeClr val="tx1"/>
                </a:solidFill>
                <a:latin typeface="맑은 고딕"/>
              </a:rPr>
              <a:t>RDKit으로 224×224 분자 구조 이미지 렌더링</a:t>
            </a:r>
            <a:endParaRPr sz="1400">
              <a:solidFill>
                <a:schemeClr val="tx1"/>
              </a:solidFill>
              <a:latin typeface="맑은 고딕"/>
            </a:endParaRPr>
          </a:p>
          <a:p>
            <a:pPr marL="228600" lvl="0" indent="-228600" algn="l"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400">
                <a:solidFill>
                  <a:schemeClr val="tx1"/>
                </a:solidFill>
                <a:latin typeface="맑은 고딕"/>
              </a:rPr>
              <a:t>결측 라벨 → mask 컬럼으로 명시</a:t>
            </a:r>
            <a:endParaRPr sz="1400">
              <a:solidFill>
                <a:schemeClr val="tx1"/>
              </a:solidFill>
              <a:latin typeface="맑은 고딕"/>
            </a:endParaRPr>
          </a:p>
          <a:p>
            <a:pPr marL="228600" lvl="0" indent="-228600" algn="l"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400">
                <a:solidFill>
                  <a:schemeClr val="tx1"/>
                </a:solidFill>
                <a:latin typeface="맑은 고딕"/>
              </a:rPr>
              <a:t>외부 데이터 병합 : train 7,973 → 8,974개 (+12.6%)</a:t>
            </a:r>
            <a:endParaRPr sz="1400">
              <a:solidFill>
                <a:schemeClr val="tx1"/>
              </a:solidFill>
              <a:latin typeface="맑은 고딕"/>
            </a:endParaRPr>
          </a:p>
          <a:p>
            <a:pPr marL="228600" lvl="0" indent="-228600" algn="l"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400">
                <a:solidFill>
                  <a:schemeClr val="tx1"/>
                </a:solidFill>
                <a:latin typeface="맑은 고딕"/>
              </a:rPr>
              <a:t>원칙 : 원본 값 우선, 결측만 외부 데이터로 보충</a:t>
            </a:r>
            <a:endParaRPr sz="1400">
              <a:solidFill>
                <a:schemeClr val="tx1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899713067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chemeClr val="tx1"/>
              </a:solidFill>
            </a:endParaRPr>
          </a:p>
        </p:txBody>
      </p:sp>
      <p:cxnSp>
        <p:nvCxnSpPr>
          <p:cNvPr id="82" name="Google Shape;82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3" name="Google Shape;83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/>
          <p:nvPr/>
        </p:nvSpPr>
        <p:spPr>
          <a:xfrm>
            <a:off x="1408975" y="306875"/>
            <a:ext cx="4979400" cy="5275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000">
              <a:solidFill>
                <a:schemeClr val="tx1"/>
              </a:solidFill>
              <a:latin typeface="나눔고딕 ExtraBold"/>
              <a:ea typeface="나눔고딕 ExtraBold"/>
              <a:cs typeface="나눔고딕 ExtraBold"/>
              <a:sym typeface="나눔고딕 ExtraBold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408975" y="950000"/>
            <a:ext cx="6700000" cy="295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spcAft>
                <a:spcPts val="1000"/>
              </a:spcAft>
              <a:defRPr/>
            </a:pPr>
            <a:endParaRPr sz="1400">
              <a:solidFill>
                <a:schemeClr val="tx1"/>
              </a:solidFill>
              <a:latin typeface="맑은 고딕"/>
            </a:endParaRPr>
          </a:p>
        </p:txBody>
      </p:sp>
      <p:sp>
        <p:nvSpPr>
          <p:cNvPr id="95" name="Google Shape;98;p17"/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6" name="Google Shape;99;p17"/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7" name="Google Shape;100;p17"/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chemeClr val="tx1"/>
              </a:solidFill>
            </a:endParaRPr>
          </a:p>
        </p:txBody>
      </p:sp>
      <p:cxnSp>
        <p:nvCxnSpPr>
          <p:cNvPr id="98" name="Google Shape;101;p17"/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sp>
        <p:nvSpPr>
          <p:cNvPr id="99" name="Google Shape;102;p17"/>
          <p:cNvSpPr txBox="1"/>
          <p:nvPr/>
        </p:nvSpPr>
        <p:spPr>
          <a:xfrm>
            <a:off x="1415884" y="299268"/>
            <a:ext cx="6150001" cy="563682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500" b="1">
                <a:solidFill>
                  <a:schemeClr val="tx1"/>
                </a:solidFill>
                <a:latin typeface="맑은 고딕"/>
              </a:rPr>
              <a:t>Dataset 구축 · STEP3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00" name="Google Shape;103;p17"/>
          <p:cNvSpPr txBox="1"/>
          <p:nvPr/>
        </p:nvSpPr>
        <p:spPr>
          <a:xfrm>
            <a:off x="1684538" y="1118807"/>
            <a:ext cx="6299999" cy="117289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500">
                <a:solidFill>
                  <a:schemeClr val="tx1"/>
                </a:solidFill>
                <a:latin typeface="맑은 고딕"/>
              </a:rPr>
              <a:t>이미지 → (image, label, mask) 텐서 배치 변환</a:t>
            </a:r>
            <a:endParaRPr sz="1500">
              <a:solidFill>
                <a:schemeClr val="tx1"/>
              </a:solidFill>
              <a:latin typeface="맑은 고딕"/>
            </a:endParaRPr>
          </a:p>
          <a:p>
            <a:pPr marL="228600" lvl="0" indent="-228600" algn="l"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500">
                <a:solidFill>
                  <a:schemeClr val="tx1"/>
                </a:solidFill>
                <a:latin typeface="맑은 고딕"/>
              </a:rPr>
              <a:t>Train : Augmentation 적용 / Valid·Test : 미적용</a:t>
            </a:r>
            <a:endParaRPr sz="1500">
              <a:solidFill>
                <a:schemeClr val="tx1"/>
              </a:solidFill>
              <a:latin typeface="맑은 고딕"/>
            </a:endParaRPr>
          </a:p>
          <a:p>
            <a:pPr marL="228600" lvl="0" indent="-228600" algn="l"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500">
                <a:solidFill>
                  <a:schemeClr val="tx1"/>
                </a:solidFill>
                <a:latin typeface="맑은 고딕"/>
              </a:rPr>
              <a:t>Missing Mask를 Dataset 반환값에 포함</a:t>
            </a:r>
            <a:endParaRPr sz="1500">
              <a:solidFill>
                <a:schemeClr val="tx1"/>
              </a:solidFill>
              <a:latin typeface="맑은 고딕"/>
            </a:endParaRPr>
          </a:p>
        </p:txBody>
      </p:sp>
      <p:sp>
        <p:nvSpPr>
          <p:cNvPr id="101" name="Google Shape;99;p17"/>
          <p:cNvSpPr/>
          <p:nvPr/>
        </p:nvSpPr>
        <p:spPr>
          <a:xfrm>
            <a:off x="7882225" y="2653259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02" name="Google Shape;100;p17"/>
          <p:cNvSpPr/>
          <p:nvPr/>
        </p:nvSpPr>
        <p:spPr>
          <a:xfrm>
            <a:off x="7882225" y="3134159"/>
            <a:ext cx="335700" cy="335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03" name="Google Shape;102;p17"/>
          <p:cNvSpPr txBox="1"/>
          <p:nvPr/>
        </p:nvSpPr>
        <p:spPr>
          <a:xfrm>
            <a:off x="1497000" y="2516884"/>
            <a:ext cx="6150000" cy="5544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500" b="1">
                <a:solidFill>
                  <a:schemeClr val="tx1"/>
                </a:solidFill>
                <a:latin typeface="맑은 고딕"/>
              </a:rPr>
              <a:t>Data Leakage 수정 · STEP3.1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04" name="Google Shape;103;p17"/>
          <p:cNvSpPr txBox="1"/>
          <p:nvPr/>
        </p:nvSpPr>
        <p:spPr>
          <a:xfrm>
            <a:off x="1496999" y="3316884"/>
            <a:ext cx="6300000" cy="15451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500">
                <a:solidFill>
                  <a:schemeClr val="tx1"/>
                </a:solidFill>
                <a:latin typeface="맑은 고딕"/>
              </a:rPr>
              <a:t>문제 : 정규화 통계를 train/valid 분리 전에 계산</a:t>
            </a:r>
            <a:endParaRPr sz="1500">
              <a:solidFill>
                <a:schemeClr val="tx1"/>
              </a:solidFill>
              <a:latin typeface="맑은 고딕"/>
            </a:endParaRPr>
          </a:p>
          <a:p>
            <a:pPr marL="228600" lvl="0" indent="-228600" algn="l"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500">
                <a:solidFill>
                  <a:schemeClr val="tx1"/>
                </a:solidFill>
                <a:latin typeface="맑은 고딕"/>
              </a:rPr>
              <a:t>실측 확인 : Tg 평균 99.69 → 98.15</a:t>
            </a:r>
            <a:endParaRPr sz="1500">
              <a:solidFill>
                <a:schemeClr val="tx1"/>
              </a:solidFill>
              <a:latin typeface="맑은 고딕"/>
            </a:endParaRPr>
          </a:p>
          <a:p>
            <a:pPr marL="228600" lvl="0" indent="-228600" algn="l"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500">
                <a:solidFill>
                  <a:schemeClr val="tx1"/>
                </a:solidFill>
                <a:latin typeface="맑은 고딕"/>
              </a:rPr>
              <a:t>수정 : Fold의 train 데이터만으로 통계 계산</a:t>
            </a:r>
            <a:endParaRPr sz="1500">
              <a:solidFill>
                <a:schemeClr val="tx1"/>
              </a:solidFill>
              <a:latin typeface="맑은 고딕"/>
            </a:endParaRPr>
          </a:p>
          <a:p>
            <a:pPr marL="228600" lvl="0" indent="-228600" algn="l"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500">
                <a:solidFill>
                  <a:schemeClr val="tx1"/>
                </a:solidFill>
                <a:latin typeface="맑은 고딕"/>
              </a:rPr>
              <a:t>→ K-Fold를 안전하게 도입할 수 있는 기반</a:t>
            </a:r>
            <a:endParaRPr sz="1500">
              <a:solidFill>
                <a:schemeClr val="tx1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069508138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2" name="Google Shape;82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3" name="Google Shape;83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98;p17"/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chemeClr val="tx1"/>
              </a:solidFill>
            </a:endParaRPr>
          </a:p>
        </p:txBody>
      </p:sp>
      <p:cxnSp>
        <p:nvCxnSpPr>
          <p:cNvPr id="112" name="Google Shape;101;p17"/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sp>
        <p:nvSpPr>
          <p:cNvPr id="116" name="Google Shape;98;p17"/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17" name="Google Shape;99;p17"/>
          <p:cNvSpPr/>
          <p:nvPr/>
        </p:nvSpPr>
        <p:spPr>
          <a:xfrm>
            <a:off x="7807225" y="508913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18" name="Google Shape;100;p17"/>
          <p:cNvSpPr/>
          <p:nvPr/>
        </p:nvSpPr>
        <p:spPr>
          <a:xfrm>
            <a:off x="7807225" y="989813"/>
            <a:ext cx="335700" cy="335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chemeClr val="tx1"/>
              </a:solidFill>
            </a:endParaRPr>
          </a:p>
        </p:txBody>
      </p:sp>
      <p:cxnSp>
        <p:nvCxnSpPr>
          <p:cNvPr id="119" name="Google Shape;101;p17"/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sp>
        <p:nvSpPr>
          <p:cNvPr id="120" name="Google Shape;102;p17"/>
          <p:cNvSpPr txBox="1"/>
          <p:nvPr/>
        </p:nvSpPr>
        <p:spPr>
          <a:xfrm>
            <a:off x="1422000" y="372538"/>
            <a:ext cx="6150000" cy="5544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500" b="1">
                <a:solidFill>
                  <a:schemeClr val="tx1"/>
                </a:solidFill>
                <a:latin typeface="맑은 고딕"/>
              </a:rPr>
              <a:t>모델 구조 · STEP4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21" name="Google Shape;103;p17"/>
          <p:cNvSpPr txBox="1"/>
          <p:nvPr/>
        </p:nvSpPr>
        <p:spPr>
          <a:xfrm>
            <a:off x="1421999" y="1172538"/>
            <a:ext cx="6300000" cy="11641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500">
                <a:solidFill>
                  <a:schemeClr val="tx1"/>
                </a:solidFill>
                <a:latin typeface="맑은 고딕"/>
              </a:rPr>
              <a:t>Backbone : ResNet18 (ImageNet pretrained)</a:t>
            </a:r>
            <a:endParaRPr sz="1500">
              <a:solidFill>
                <a:schemeClr val="tx1"/>
              </a:solidFill>
              <a:latin typeface="맑은 고딕"/>
            </a:endParaRPr>
          </a:p>
          <a:p>
            <a:pPr marL="228600" lvl="0" indent="-228600" algn="l"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500">
                <a:solidFill>
                  <a:schemeClr val="tx1"/>
                </a:solidFill>
                <a:latin typeface="맑은 고딕"/>
              </a:rPr>
              <a:t>Head : Dropout → BatchNorm1d → Linear(512→5)</a:t>
            </a:r>
            <a:endParaRPr sz="1500">
              <a:solidFill>
                <a:schemeClr val="tx1"/>
              </a:solidFill>
              <a:latin typeface="맑은 고딕"/>
            </a:endParaRPr>
          </a:p>
          <a:p>
            <a:pPr marL="228600" lvl="0" indent="-228600" algn="l"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500">
                <a:solidFill>
                  <a:schemeClr val="tx1"/>
                </a:solidFill>
                <a:latin typeface="맑은 고딕"/>
              </a:rPr>
              <a:t>Factory 패턴 → backbone 교체 비용 최소화</a:t>
            </a:r>
            <a:endParaRPr sz="1500">
              <a:solidFill>
                <a:schemeClr val="tx1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179817350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2" name="Google Shape;82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3" name="Google Shape;83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98;p17"/>
          <p:cNvSpPr/>
          <p:nvPr/>
        </p:nvSpPr>
        <p:spPr>
          <a:xfrm>
            <a:off x="7882225" y="0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10" name="Google Shape;99;p17"/>
          <p:cNvSpPr/>
          <p:nvPr/>
        </p:nvSpPr>
        <p:spPr>
          <a:xfrm>
            <a:off x="7882225" y="480900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11" name="Google Shape;100;p17"/>
          <p:cNvSpPr/>
          <p:nvPr/>
        </p:nvSpPr>
        <p:spPr>
          <a:xfrm>
            <a:off x="7882225" y="961800"/>
            <a:ext cx="335700" cy="335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chemeClr val="tx1"/>
              </a:solidFill>
            </a:endParaRPr>
          </a:p>
        </p:txBody>
      </p:sp>
      <p:cxnSp>
        <p:nvCxnSpPr>
          <p:cNvPr id="112" name="Google Shape;101;p17"/>
          <p:cNvCxnSpPr/>
          <p:nvPr/>
        </p:nvCxnSpPr>
        <p:spPr>
          <a:xfrm rot="10800000">
            <a:off x="-656100" y="-135475"/>
            <a:ext cx="0" cy="21525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sp>
        <p:nvSpPr>
          <p:cNvPr id="113" name="Google Shape;102;p17"/>
          <p:cNvSpPr txBox="1"/>
          <p:nvPr/>
        </p:nvSpPr>
        <p:spPr>
          <a:xfrm>
            <a:off x="1496999" y="344525"/>
            <a:ext cx="6150000" cy="5544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500" b="1">
                <a:solidFill>
                  <a:schemeClr val="tx1"/>
                </a:solidFill>
                <a:latin typeface="맑은 고딕"/>
              </a:rPr>
              <a:t>학습 엔진 · STEP5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14" name="Google Shape;103;p17"/>
          <p:cNvSpPr txBox="1"/>
          <p:nvPr/>
        </p:nvSpPr>
        <p:spPr>
          <a:xfrm>
            <a:off x="1496999" y="1144525"/>
            <a:ext cx="6300000" cy="11641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500">
                <a:solidFill>
                  <a:schemeClr val="tx1"/>
                </a:solidFill>
                <a:latin typeface="맑은 고딕"/>
              </a:rPr>
              <a:t>Masked MSE Loss / AdamW / Cosine Scheduler</a:t>
            </a:r>
            <a:endParaRPr sz="1500">
              <a:solidFill>
                <a:schemeClr val="tx1"/>
              </a:solidFill>
              <a:latin typeface="맑은 고딕"/>
            </a:endParaRPr>
          </a:p>
          <a:p>
            <a:pPr marL="228600" lvl="0" indent="-228600" algn="l"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500">
                <a:solidFill>
                  <a:schemeClr val="tx1"/>
                </a:solidFill>
                <a:latin typeface="맑은 고딕"/>
              </a:rPr>
              <a:t>Early Stopping, Checkpoint, Mixed Precision(AMP)</a:t>
            </a:r>
            <a:endParaRPr sz="1500">
              <a:solidFill>
                <a:schemeClr val="tx1"/>
              </a:solidFill>
              <a:latin typeface="맑은 고딕"/>
            </a:endParaRPr>
          </a:p>
          <a:p>
            <a:pPr marL="228600" lvl="0" indent="-228600" algn="l"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500">
                <a:solidFill>
                  <a:schemeClr val="tx1"/>
                </a:solidFill>
                <a:latin typeface="맑은 고딕"/>
              </a:rPr>
              <a:t>STEP6·STEP6.5에서 코드 수정 없이 재사용</a:t>
            </a:r>
            <a:endParaRPr sz="1500">
              <a:solidFill>
                <a:schemeClr val="tx1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218523281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2" name="Google Shape;82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3" name="Google Shape;83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98;p17"/>
          <p:cNvSpPr/>
          <p:nvPr/>
        </p:nvSpPr>
        <p:spPr>
          <a:xfrm>
            <a:off x="7807225" y="-59909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10" name="Google Shape;99;p17"/>
          <p:cNvSpPr/>
          <p:nvPr/>
        </p:nvSpPr>
        <p:spPr>
          <a:xfrm>
            <a:off x="7807225" y="420990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11" name="Google Shape;100;p17"/>
          <p:cNvSpPr/>
          <p:nvPr/>
        </p:nvSpPr>
        <p:spPr>
          <a:xfrm>
            <a:off x="7807225" y="901890"/>
            <a:ext cx="335700" cy="335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chemeClr val="tx1"/>
              </a:solidFill>
            </a:endParaRPr>
          </a:p>
        </p:txBody>
      </p:sp>
      <p:cxnSp>
        <p:nvCxnSpPr>
          <p:cNvPr id="112" name="Google Shape;101;p17"/>
          <p:cNvCxnSpPr/>
          <p:nvPr/>
        </p:nvCxnSpPr>
        <p:spPr>
          <a:xfrm rot="10800000">
            <a:off x="-731100" y="-195384"/>
            <a:ext cx="0" cy="21525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sp>
        <p:nvSpPr>
          <p:cNvPr id="113" name="Google Shape;102;p17"/>
          <p:cNvSpPr txBox="1"/>
          <p:nvPr/>
        </p:nvSpPr>
        <p:spPr>
          <a:xfrm>
            <a:off x="1421999" y="284615"/>
            <a:ext cx="6150000" cy="5544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500" b="1">
                <a:solidFill>
                  <a:schemeClr val="tx1"/>
                </a:solidFill>
                <a:latin typeface="맑은 고딕"/>
              </a:rPr>
              <a:t>학습 결과 · STEP6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14" name="Google Shape;103;p17"/>
          <p:cNvSpPr txBox="1"/>
          <p:nvPr/>
        </p:nvSpPr>
        <p:spPr>
          <a:xfrm>
            <a:off x="1421999" y="1084615"/>
            <a:ext cx="6300000" cy="78309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500">
                <a:solidFill>
                  <a:schemeClr val="tx1"/>
                </a:solidFill>
                <a:latin typeface="맑은 고딕"/>
              </a:rPr>
              <a:t>공통 설정 : ResNet18, Dropout 0.3, 30 epoch, seed 42</a:t>
            </a:r>
            <a:endParaRPr sz="1500">
              <a:solidFill>
                <a:schemeClr val="tx1"/>
              </a:solidFill>
              <a:latin typeface="맑은 고딕"/>
            </a:endParaRPr>
          </a:p>
          <a:p>
            <a:pPr marL="228600" lvl="0" indent="-228600" algn="l"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500">
                <a:solidFill>
                  <a:schemeClr val="tx1"/>
                </a:solidFill>
                <a:latin typeface="맑은 고딕"/>
              </a:rPr>
              <a:t>단일 split 기준, 차이 작고 조건이 달라 단정 어려움</a:t>
            </a:r>
            <a:endParaRPr sz="1500">
              <a:solidFill>
                <a:schemeClr val="tx1"/>
              </a:solidFill>
              <a:latin typeface="맑은 고딕"/>
            </a:endParaRPr>
          </a:p>
        </p:txBody>
      </p:sp>
      <p:graphicFrame>
        <p:nvGraphicFramePr>
          <p:cNvPr id="115" name="Table 103"/>
          <p:cNvGraphicFramePr>
            <a:graphicFrameLocks noGrp="1"/>
          </p:cNvGraphicFramePr>
          <p:nvPr/>
        </p:nvGraphicFramePr>
        <p:xfrm>
          <a:off x="1421999" y="3104615"/>
          <a:ext cx="6300000" cy="1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0000"/>
                <a:gridCol w="2100000"/>
                <a:gridCol w="2100000"/>
              </a:tblGrid>
              <a:tr h="466666">
                <a:tc>
                  <a:txBody>
                    <a:bodyPr vert="horz" lIns="91440" tIns="30000" rIns="91440" bIns="30000" anchor="ctr" anchorCtr="0"/>
                    <a:lstStyle/>
                    <a:p>
                      <a:pPr lvl="0" algn="ctr">
                        <a:defRPr/>
                      </a:pPr>
                      <a:r>
                        <a:rPr sz="1250" b="1">
                          <a:solidFill>
                            <a:schemeClr val="lt1"/>
                          </a:solidFill>
                          <a:latin typeface="맑은 고딕"/>
                        </a:rPr>
                        <a:t>항목</a:t>
                      </a:r>
                      <a:endParaRPr sz="1250" b="1">
                        <a:solidFill>
                          <a:schemeClr val="lt1"/>
                        </a:solidFill>
                        <a:latin typeface="맑은 고딕"/>
                      </a:endParaRPr>
                    </a:p>
                  </a:txBody>
                  <a:tcPr marL="91440" marR="91440" marT="30000" marB="30000" anchor="ctr">
                    <a:solidFill>
                      <a:srgbClr val="273563"/>
                    </a:solidFill>
                  </a:tcPr>
                </a:tc>
                <a:tc>
                  <a:txBody>
                    <a:bodyPr vert="horz" lIns="91440" tIns="30000" rIns="91440" bIns="30000" anchor="ctr" anchorCtr="0"/>
                    <a:lstStyle/>
                    <a:p>
                      <a:pPr lvl="0" algn="ctr">
                        <a:defRPr/>
                      </a:pPr>
                      <a:r>
                        <a:rPr sz="1250" b="1">
                          <a:solidFill>
                            <a:schemeClr val="lt1"/>
                          </a:solidFill>
                          <a:latin typeface="맑은 고딕"/>
                        </a:rPr>
                        <a:t>Baseline</a:t>
                      </a:r>
                      <a:endParaRPr sz="1250" b="1">
                        <a:solidFill>
                          <a:schemeClr val="lt1"/>
                        </a:solidFill>
                        <a:latin typeface="맑은 고딕"/>
                      </a:endParaRPr>
                    </a:p>
                  </a:txBody>
                  <a:tcPr marL="91440" marR="91440" marT="30000" marB="30000" anchor="ctr">
                    <a:solidFill>
                      <a:srgbClr val="273563"/>
                    </a:solidFill>
                  </a:tcPr>
                </a:tc>
                <a:tc>
                  <a:txBody>
                    <a:bodyPr vert="horz" lIns="91440" tIns="30000" rIns="91440" bIns="30000" anchor="ctr" anchorCtr="0"/>
                    <a:lstStyle/>
                    <a:p>
                      <a:pPr lvl="0" algn="ctr">
                        <a:defRPr/>
                      </a:pPr>
                      <a:r>
                        <a:rPr sz="1250" b="1">
                          <a:solidFill>
                            <a:schemeClr val="lt1"/>
                          </a:solidFill>
                          <a:latin typeface="맑은 고딕"/>
                        </a:rPr>
                        <a:t>Merged</a:t>
                      </a:r>
                      <a:endParaRPr sz="1250" b="1">
                        <a:solidFill>
                          <a:schemeClr val="lt1"/>
                        </a:solidFill>
                        <a:latin typeface="맑은 고딕"/>
                      </a:endParaRPr>
                    </a:p>
                  </a:txBody>
                  <a:tcPr marL="91440" marR="91440" marT="30000" marB="30000" anchor="ctr">
                    <a:solidFill>
                      <a:srgbClr val="273563"/>
                    </a:solidFill>
                  </a:tcPr>
                </a:tc>
              </a:tr>
              <a:tr h="466666">
                <a:tc>
                  <a:txBody>
                    <a:bodyPr vert="horz" lIns="91440" tIns="30000" rIns="91440" bIns="30000" anchor="ctr" anchorCtr="0"/>
                    <a:lstStyle/>
                    <a:p>
                      <a:pPr lvl="0" algn="ctr">
                        <a:defRPr/>
                      </a:pPr>
                      <a:r>
                        <a:rPr sz="1250" b="0">
                          <a:solidFill>
                            <a:schemeClr val="lt1"/>
                          </a:solidFill>
                          <a:latin typeface="맑은 고딕"/>
                        </a:rPr>
                        <a:t>Best Val Loss</a:t>
                      </a:r>
                      <a:endParaRPr sz="1250" b="0">
                        <a:solidFill>
                          <a:schemeClr val="lt1"/>
                        </a:solidFill>
                        <a:latin typeface="맑은 고딕"/>
                      </a:endParaRPr>
                    </a:p>
                  </a:txBody>
                  <a:tcPr marL="91440" marR="91440" marT="30000" marB="30000" anchor="ctr">
                    <a:solidFill>
                      <a:srgbClr val="101833"/>
                    </a:solidFill>
                  </a:tcPr>
                </a:tc>
                <a:tc>
                  <a:txBody>
                    <a:bodyPr vert="horz" lIns="91440" tIns="30000" rIns="91440" bIns="30000" anchor="ctr" anchorCtr="0"/>
                    <a:lstStyle/>
                    <a:p>
                      <a:pPr lvl="0" algn="ctr">
                        <a:defRPr/>
                      </a:pPr>
                      <a:r>
                        <a:rPr sz="1250" b="0">
                          <a:solidFill>
                            <a:schemeClr val="lt1"/>
                          </a:solidFill>
                          <a:latin typeface="맑은 고딕"/>
                        </a:rPr>
                        <a:t>0.1317</a:t>
                      </a:r>
                      <a:endParaRPr sz="1250" b="0">
                        <a:solidFill>
                          <a:schemeClr val="lt1"/>
                        </a:solidFill>
                        <a:latin typeface="맑은 고딕"/>
                      </a:endParaRPr>
                    </a:p>
                  </a:txBody>
                  <a:tcPr marL="91440" marR="91440" marT="30000" marB="30000" anchor="ctr">
                    <a:solidFill>
                      <a:srgbClr val="101833"/>
                    </a:solidFill>
                  </a:tcPr>
                </a:tc>
                <a:tc>
                  <a:txBody>
                    <a:bodyPr vert="horz" lIns="91440" tIns="30000" rIns="91440" bIns="30000" anchor="ctr" anchorCtr="0"/>
                    <a:lstStyle/>
                    <a:p>
                      <a:pPr lvl="0" algn="ctr">
                        <a:defRPr/>
                      </a:pPr>
                      <a:r>
                        <a:rPr sz="1250" b="0">
                          <a:solidFill>
                            <a:schemeClr val="lt1"/>
                          </a:solidFill>
                          <a:latin typeface="맑은 고딕"/>
                        </a:rPr>
                        <a:t>0.1337</a:t>
                      </a:r>
                      <a:endParaRPr sz="1250" b="0">
                        <a:solidFill>
                          <a:schemeClr val="lt1"/>
                        </a:solidFill>
                        <a:latin typeface="맑은 고딕"/>
                      </a:endParaRPr>
                    </a:p>
                  </a:txBody>
                  <a:tcPr marL="91440" marR="91440" marT="30000" marB="30000" anchor="ctr">
                    <a:solidFill>
                      <a:srgbClr val="101833"/>
                    </a:solidFill>
                  </a:tcPr>
                </a:tc>
              </a:tr>
              <a:tr h="466668">
                <a:tc>
                  <a:txBody>
                    <a:bodyPr vert="horz" lIns="91440" tIns="30000" rIns="91440" bIns="30000" anchor="ctr" anchorCtr="0"/>
                    <a:lstStyle/>
                    <a:p>
                      <a:pPr lvl="0" algn="ctr">
                        <a:defRPr/>
                      </a:pPr>
                      <a:r>
                        <a:rPr sz="1250" b="0">
                          <a:solidFill>
                            <a:schemeClr val="lt1"/>
                          </a:solidFill>
                          <a:latin typeface="맑은 고딕"/>
                        </a:rPr>
                        <a:t>Best Epoch</a:t>
                      </a:r>
                      <a:endParaRPr sz="1250" b="0">
                        <a:solidFill>
                          <a:schemeClr val="lt1"/>
                        </a:solidFill>
                        <a:latin typeface="맑은 고딕"/>
                      </a:endParaRPr>
                    </a:p>
                  </a:txBody>
                  <a:tcPr marL="91440" marR="91440" marT="30000" marB="30000" anchor="ctr">
                    <a:solidFill>
                      <a:srgbClr val="101833"/>
                    </a:solidFill>
                  </a:tcPr>
                </a:tc>
                <a:tc>
                  <a:txBody>
                    <a:bodyPr vert="horz" lIns="91440" tIns="30000" rIns="91440" bIns="30000" anchor="ctr" anchorCtr="0"/>
                    <a:lstStyle/>
                    <a:p>
                      <a:pPr lvl="0" algn="ctr">
                        <a:defRPr/>
                      </a:pPr>
                      <a:r>
                        <a:rPr sz="1250" b="0">
                          <a:solidFill>
                            <a:schemeClr val="lt1"/>
                          </a:solidFill>
                          <a:latin typeface="맑은 고딕"/>
                        </a:rPr>
                        <a:t>27</a:t>
                      </a:r>
                      <a:endParaRPr sz="1250" b="0">
                        <a:solidFill>
                          <a:schemeClr val="lt1"/>
                        </a:solidFill>
                        <a:latin typeface="맑은 고딕"/>
                      </a:endParaRPr>
                    </a:p>
                  </a:txBody>
                  <a:tcPr marL="91440" marR="91440" marT="30000" marB="30000" anchor="ctr">
                    <a:solidFill>
                      <a:srgbClr val="101833"/>
                    </a:solidFill>
                  </a:tcPr>
                </a:tc>
                <a:tc>
                  <a:txBody>
                    <a:bodyPr vert="horz" lIns="91440" tIns="30000" rIns="91440" bIns="30000" anchor="ctr" anchorCtr="0"/>
                    <a:lstStyle/>
                    <a:p>
                      <a:pPr lvl="0" algn="ctr">
                        <a:defRPr/>
                      </a:pPr>
                      <a:r>
                        <a:rPr sz="1250" b="0">
                          <a:solidFill>
                            <a:schemeClr val="lt1"/>
                          </a:solidFill>
                          <a:latin typeface="맑은 고딕"/>
                        </a:rPr>
                        <a:t>29</a:t>
                      </a:r>
                      <a:endParaRPr sz="1250" b="0">
                        <a:solidFill>
                          <a:schemeClr val="lt1"/>
                        </a:solidFill>
                        <a:latin typeface="맑은 고딕"/>
                      </a:endParaRPr>
                    </a:p>
                  </a:txBody>
                  <a:tcPr marL="91440" marR="91440" marT="30000" marB="30000" anchor="ctr">
                    <a:solidFill>
                      <a:srgbClr val="10183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7803151"/>
      </p:ext>
    </p:extLst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65" name="Google Shape;65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66" name="Google Shape;66;p13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98;p17"/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73" name="Google Shape;99;p17"/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74" name="Google Shape;100;p17"/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chemeClr val="tx1"/>
              </a:solidFill>
            </a:endParaRPr>
          </a:p>
        </p:txBody>
      </p:sp>
      <p:cxnSp>
        <p:nvCxnSpPr>
          <p:cNvPr id="75" name="Google Shape;101;p17"/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sp>
        <p:nvSpPr>
          <p:cNvPr id="76" name="Google Shape;102;p17"/>
          <p:cNvSpPr txBox="1"/>
          <p:nvPr/>
        </p:nvSpPr>
        <p:spPr>
          <a:xfrm>
            <a:off x="2300000" y="380000"/>
            <a:ext cx="6150000" cy="53057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300" b="1">
                <a:solidFill>
                  <a:schemeClr val="tx1"/>
                </a:solidFill>
                <a:latin typeface="맑은 고딕"/>
              </a:rPr>
              <a:t>학습 곡선 — Baseline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77" name="Google Shape;103;p17"/>
          <p:cNvSpPr txBox="1"/>
          <p:nvPr/>
        </p:nvSpPr>
        <p:spPr>
          <a:xfrm>
            <a:off x="2299999" y="4400000"/>
            <a:ext cx="6300000" cy="61585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200000" lvl="0" indent="-200000" algn="l" rtl="0">
              <a:spcBef>
                <a:spcPts val="0"/>
              </a:spcBef>
              <a:spcAft>
                <a:spcPts val="6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200">
                <a:solidFill>
                  <a:schemeClr val="dk1"/>
                </a:solidFill>
                <a:latin typeface="맑은 고딕"/>
              </a:rPr>
              <a:t>Val Loss는 epoch 15 이후 완만하게 수렴 (최종 ≈0.13)</a:t>
            </a:r>
            <a:endParaRPr sz="1200">
              <a:solidFill>
                <a:schemeClr val="dk1"/>
              </a:solidFill>
              <a:latin typeface="맑은 고딕"/>
            </a:endParaRPr>
          </a:p>
          <a:p>
            <a:pPr marL="200000" lvl="0" indent="-200000" algn="l">
              <a:spcAft>
                <a:spcPts val="6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200">
                <a:solidFill>
                  <a:schemeClr val="dk1"/>
                </a:solidFill>
                <a:latin typeface="맑은 고딕"/>
              </a:rPr>
              <a:t>Val MAE·RMSE는 계속 완만히 감소 — 과적합 징후 뚜렷하지 않음</a:t>
            </a:r>
            <a:endParaRPr sz="1200">
              <a:solidFill>
                <a:schemeClr val="dk1"/>
              </a:solidFill>
              <a:latin typeface="맑은 고딕"/>
            </a:endParaRPr>
          </a:p>
        </p:txBody>
      </p:sp>
      <p:graphicFrame>
        <p:nvGraphicFramePr>
          <p:cNvPr id="78" name="Table 103"/>
          <p:cNvGraphicFramePr>
            <a:graphicFrameLocks noGrp="1"/>
          </p:cNvGraphicFramePr>
          <p:nvPr/>
        </p:nvGraphicFramePr>
        <p:xfrm>
          <a:off x="2300000" y="3300000"/>
          <a:ext cx="6300000" cy="1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0000"/>
                <a:gridCol w="2100000"/>
                <a:gridCol w="2100000"/>
              </a:tblGrid>
              <a:tr h="700000">
                <a:tc>
                  <a:txBody>
                    <a:bodyPr vert="horz" lIns="91440" tIns="30000" rIns="91440" bIns="30000" anchor="ctr" anchorCtr="0"/>
                    <a:lstStyle/>
                    <a:p>
                      <a:pPr lvl="0" algn="ctr">
                        <a:defRPr/>
                      </a:pPr>
                      <a:r>
                        <a:rPr sz="1250" b="1">
                          <a:solidFill>
                            <a:schemeClr val="lt1"/>
                          </a:solidFill>
                          <a:latin typeface="맑은 고딕"/>
                        </a:rPr>
                        <a:t>MAE</a:t>
                      </a:r>
                      <a:endParaRPr sz="1250" b="1">
                        <a:solidFill>
                          <a:schemeClr val="lt1"/>
                        </a:solidFill>
                        <a:latin typeface="맑은 고딕"/>
                      </a:endParaRPr>
                    </a:p>
                  </a:txBody>
                  <a:tcPr marL="91440" marR="91440" marT="30000" marB="30000" anchor="ctr">
                    <a:solidFill>
                      <a:srgbClr val="273563"/>
                    </a:solidFill>
                  </a:tcPr>
                </a:tc>
                <a:tc>
                  <a:txBody>
                    <a:bodyPr vert="horz" lIns="91440" tIns="30000" rIns="91440" bIns="30000" anchor="ctr" anchorCtr="0"/>
                    <a:lstStyle/>
                    <a:p>
                      <a:pPr lvl="0" algn="ctr">
                        <a:defRPr/>
                      </a:pPr>
                      <a:r>
                        <a:rPr sz="1250" b="1">
                          <a:solidFill>
                            <a:schemeClr val="lt1"/>
                          </a:solidFill>
                          <a:latin typeface="맑은 고딕"/>
                        </a:rPr>
                        <a:t>RMSE</a:t>
                      </a:r>
                      <a:endParaRPr sz="1250" b="1">
                        <a:solidFill>
                          <a:schemeClr val="lt1"/>
                        </a:solidFill>
                        <a:latin typeface="맑은 고딕"/>
                      </a:endParaRPr>
                    </a:p>
                  </a:txBody>
                  <a:tcPr marL="91440" marR="91440" marT="30000" marB="30000" anchor="ctr">
                    <a:solidFill>
                      <a:srgbClr val="273563"/>
                    </a:solidFill>
                  </a:tcPr>
                </a:tc>
                <a:tc>
                  <a:txBody>
                    <a:bodyPr vert="horz" lIns="91440" tIns="30000" rIns="91440" bIns="30000" anchor="ctr" anchorCtr="0"/>
                    <a:lstStyle/>
                    <a:p>
                      <a:pPr lvl="0" algn="ctr">
                        <a:defRPr/>
                      </a:pPr>
                      <a:r>
                        <a:rPr sz="1250" b="1">
                          <a:solidFill>
                            <a:schemeClr val="lt1"/>
                          </a:solidFill>
                          <a:latin typeface="맑은 고딕"/>
                        </a:rPr>
                        <a:t>R²</a:t>
                      </a:r>
                      <a:endParaRPr sz="1250" b="1">
                        <a:solidFill>
                          <a:schemeClr val="lt1"/>
                        </a:solidFill>
                        <a:latin typeface="맑은 고딕"/>
                      </a:endParaRPr>
                    </a:p>
                  </a:txBody>
                  <a:tcPr marL="91440" marR="91440" marT="30000" marB="30000" anchor="ctr">
                    <a:solidFill>
                      <a:srgbClr val="273563"/>
                    </a:solidFill>
                  </a:tcPr>
                </a:tc>
              </a:tr>
              <a:tr h="700000">
                <a:tc>
                  <a:txBody>
                    <a:bodyPr vert="horz" lIns="91440" tIns="30000" rIns="91440" bIns="30000" anchor="ctr" anchorCtr="0"/>
                    <a:lstStyle/>
                    <a:p>
                      <a:pPr lvl="0" algn="ctr">
                        <a:defRPr/>
                      </a:pPr>
                      <a:r>
                        <a:rPr sz="1250" b="0">
                          <a:solidFill>
                            <a:schemeClr val="lt1"/>
                          </a:solidFill>
                          <a:latin typeface="맑은 고딕"/>
                        </a:rPr>
                        <a:t>0.</a:t>
                      </a:r>
                      <a:r>
                        <a:rPr lang="en-US" altLang="ko-KR" sz="1250" b="0">
                          <a:solidFill>
                            <a:schemeClr val="lt1"/>
                          </a:solidFill>
                          <a:latin typeface="맑은 고딕"/>
                        </a:rPr>
                        <a:t>346</a:t>
                      </a:r>
                      <a:endParaRPr lang="en-US" altLang="ko-KR" sz="1250" b="0">
                        <a:solidFill>
                          <a:schemeClr val="lt1"/>
                        </a:solidFill>
                        <a:latin typeface="맑은 고딕"/>
                      </a:endParaRPr>
                    </a:p>
                  </a:txBody>
                  <a:tcPr marL="91440" marR="91440" marT="30000" marB="30000" anchor="ctr">
                    <a:solidFill>
                      <a:srgbClr val="101833"/>
                    </a:solidFill>
                  </a:tcPr>
                </a:tc>
                <a:tc>
                  <a:txBody>
                    <a:bodyPr vert="horz" lIns="91440" tIns="30000" rIns="91440" bIns="30000" anchor="ctr" anchorCtr="0"/>
                    <a:lstStyle/>
                    <a:p>
                      <a:pPr lvl="0" algn="ctr">
                        <a:defRPr/>
                      </a:pPr>
                      <a:r>
                        <a:rPr sz="1250" b="0">
                          <a:solidFill>
                            <a:schemeClr val="lt1"/>
                          </a:solidFill>
                          <a:latin typeface="맑은 고딕"/>
                        </a:rPr>
                        <a:t>0.5</a:t>
                      </a:r>
                      <a:r>
                        <a:rPr lang="en-US" altLang="ko-KR" sz="1250" b="0">
                          <a:solidFill>
                            <a:schemeClr val="lt1"/>
                          </a:solidFill>
                          <a:latin typeface="맑은 고딕"/>
                        </a:rPr>
                        <a:t>06</a:t>
                      </a:r>
                      <a:endParaRPr lang="en-US" altLang="ko-KR" sz="1250" b="0">
                        <a:solidFill>
                          <a:schemeClr val="lt1"/>
                        </a:solidFill>
                        <a:latin typeface="맑은 고딕"/>
                      </a:endParaRPr>
                    </a:p>
                  </a:txBody>
                  <a:tcPr marL="91440" marR="91440" marT="30000" marB="30000" anchor="ctr">
                    <a:solidFill>
                      <a:srgbClr val="101833"/>
                    </a:solidFill>
                  </a:tcPr>
                </a:tc>
                <a:tc>
                  <a:txBody>
                    <a:bodyPr vert="horz" lIns="91440" tIns="30000" rIns="91440" bIns="30000" anchor="ctr" anchorCtr="0"/>
                    <a:lstStyle/>
                    <a:p>
                      <a:pPr lvl="0" algn="ctr">
                        <a:defRPr/>
                      </a:pPr>
                      <a:r>
                        <a:rPr sz="1250" b="0">
                          <a:solidFill>
                            <a:schemeClr val="lt1"/>
                          </a:solidFill>
                          <a:latin typeface="맑은 고딕"/>
                        </a:rPr>
                        <a:t>0.</a:t>
                      </a:r>
                      <a:r>
                        <a:rPr lang="en-US" altLang="ko-KR" sz="1250" b="0">
                          <a:solidFill>
                            <a:schemeClr val="lt1"/>
                          </a:solidFill>
                          <a:latin typeface="맑은 고딕"/>
                        </a:rPr>
                        <a:t>736</a:t>
                      </a:r>
                      <a:endParaRPr lang="en-US" altLang="ko-KR" sz="1250" b="0">
                        <a:solidFill>
                          <a:schemeClr val="lt1"/>
                        </a:solidFill>
                        <a:latin typeface="맑은 고딕"/>
                      </a:endParaRPr>
                    </a:p>
                  </a:txBody>
                  <a:tcPr marL="91440" marR="91440" marT="30000" marB="30000" anchor="ctr">
                    <a:solidFill>
                      <a:srgbClr val="101833"/>
                    </a:solidFill>
                  </a:tcPr>
                </a:tc>
              </a:tr>
            </a:tbl>
          </a:graphicData>
        </a:graphic>
      </p:graphicFrame>
      <p:pic>
        <p:nvPicPr>
          <p:cNvPr id="79" name="Picture 104" descr="curve_baseline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378154" y="905769"/>
            <a:ext cx="6130192" cy="229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029520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65" name="Google Shape;65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66" name="Google Shape;66;p13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98;p17"/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69" name="Google Shape;99;p17"/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70" name="Google Shape;100;p17"/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71" name="Google Shape;101;p17"/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sp>
        <p:nvSpPr>
          <p:cNvPr id="72" name="Google Shape;102;p17"/>
          <p:cNvSpPr txBox="1"/>
          <p:nvPr/>
        </p:nvSpPr>
        <p:spPr>
          <a:xfrm>
            <a:off x="2300000" y="380000"/>
            <a:ext cx="6150000" cy="53057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300" b="1">
                <a:solidFill>
                  <a:schemeClr val="dk1"/>
                </a:solidFill>
                <a:latin typeface="맑은 고딕"/>
              </a:rPr>
              <a:t>학습 곡선 — Merged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3" name="Google Shape;103;p17"/>
          <p:cNvSpPr txBox="1"/>
          <p:nvPr/>
        </p:nvSpPr>
        <p:spPr>
          <a:xfrm>
            <a:off x="2300000" y="1300000"/>
            <a:ext cx="6299999" cy="89645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200000" lvl="0" indent="-200000" algn="l" rtl="0">
              <a:spcBef>
                <a:spcPts val="0"/>
              </a:spcBef>
              <a:spcAft>
                <a:spcPts val="6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400">
                <a:solidFill>
                  <a:srgbClr val="d8dce8"/>
                </a:solidFill>
                <a:latin typeface="맑은 고딕"/>
              </a:rPr>
              <a:t>merged_before_kfold / merged 이미지 재업로드 후 이 슬라이드에 삽입 예정</a:t>
            </a:r>
            <a:endParaRPr sz="1400">
              <a:solidFill>
                <a:srgbClr val="d8dce8"/>
              </a:solidFill>
              <a:latin typeface="맑은 고딕"/>
            </a:endParaRPr>
          </a:p>
          <a:p>
            <a:pPr marL="200000" lvl="0" indent="-200000" algn="l">
              <a:spcAft>
                <a:spcPts val="6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400">
                <a:solidFill>
                  <a:srgbClr val="d8dce8"/>
                </a:solidFill>
                <a:latin typeface="맑은 고딕"/>
              </a:rPr>
              <a:t>두 곡선은 거의 동일한 형태 — 사실상 같은 실험의 재현으로 보임</a:t>
            </a:r>
            <a:endParaRPr sz="1400">
              <a:solidFill>
                <a:srgbClr val="d8dce8"/>
              </a:solidFill>
              <a:latin typeface="맑은 고딕"/>
            </a:endParaRPr>
          </a:p>
        </p:txBody>
      </p:sp>
      <p:graphicFrame>
        <p:nvGraphicFramePr>
          <p:cNvPr id="74" name="Table 103"/>
          <p:cNvGraphicFramePr>
            <a:graphicFrameLocks noGrp="1"/>
          </p:cNvGraphicFramePr>
          <p:nvPr/>
        </p:nvGraphicFramePr>
        <p:xfrm>
          <a:off x="2300000" y="3300000"/>
          <a:ext cx="6300000" cy="1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0000"/>
                <a:gridCol w="2100000"/>
                <a:gridCol w="2100000"/>
              </a:tblGrid>
              <a:tr h="700000">
                <a:tc>
                  <a:txBody>
                    <a:bodyPr vert="horz" lIns="91440" tIns="30000" rIns="91440" bIns="30000" anchor="ctr" anchorCtr="0"/>
                    <a:lstStyle/>
                    <a:p>
                      <a:pPr lvl="0" algn="ctr">
                        <a:defRPr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MAE</a:t>
                      </a:r>
                      <a:endParaRPr sz="1250" b="1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91440" marR="91440" marT="30000" marB="30000" anchor="ctr">
                    <a:solidFill>
                      <a:srgbClr val="273563"/>
                    </a:solidFill>
                  </a:tcPr>
                </a:tc>
                <a:tc>
                  <a:txBody>
                    <a:bodyPr vert="horz" lIns="91440" tIns="30000" rIns="91440" bIns="30000" anchor="ctr" anchorCtr="0"/>
                    <a:lstStyle/>
                    <a:p>
                      <a:pPr lvl="0" algn="ctr">
                        <a:defRPr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RMSE</a:t>
                      </a:r>
                      <a:endParaRPr sz="1250" b="1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91440" marR="91440" marT="30000" marB="30000" anchor="ctr">
                    <a:solidFill>
                      <a:srgbClr val="273563"/>
                    </a:solidFill>
                  </a:tcPr>
                </a:tc>
                <a:tc>
                  <a:txBody>
                    <a:bodyPr vert="horz" lIns="91440" tIns="30000" rIns="91440" bIns="30000" anchor="ctr" anchorCtr="0"/>
                    <a:lstStyle/>
                    <a:p>
                      <a:pPr lvl="0" algn="ctr">
                        <a:defRPr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R²</a:t>
                      </a:r>
                      <a:endParaRPr sz="1250" b="1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91440" marR="91440" marT="30000" marB="30000" anchor="ctr">
                    <a:solidFill>
                      <a:srgbClr val="273563"/>
                    </a:solidFill>
                  </a:tcPr>
                </a:tc>
              </a:tr>
              <a:tr h="700000">
                <a:tc>
                  <a:txBody>
                    <a:bodyPr vert="horz" lIns="91440" tIns="30000" rIns="91440" bIns="30000" anchor="ctr" anchorCtr="0"/>
                    <a:lstStyle/>
                    <a:p>
                      <a:pPr lvl="0" algn="ctr">
                        <a:defRPr/>
                      </a:pPr>
                      <a:r>
                        <a:rPr sz="1250" b="0">
                          <a:solidFill>
                            <a:srgbClr val="d8dce8"/>
                          </a:solidFill>
                          <a:latin typeface="맑은 고딕"/>
                        </a:rPr>
                        <a:t>0</a:t>
                      </a:r>
                      <a:r>
                        <a:rPr lang="en-US" altLang="ko-KR" sz="1250" b="0">
                          <a:solidFill>
                            <a:srgbClr val="d8dce8"/>
                          </a:solidFill>
                          <a:latin typeface="맑은 고딕"/>
                        </a:rPr>
                        <a:t>.28586</a:t>
                      </a:r>
                      <a:endParaRPr lang="en-US" altLang="ko-KR" sz="1250" b="0">
                        <a:solidFill>
                          <a:srgbClr val="d8dce8"/>
                        </a:solidFill>
                        <a:latin typeface="맑은 고딕"/>
                      </a:endParaRPr>
                    </a:p>
                  </a:txBody>
                  <a:tcPr marL="91440" marR="91440" marT="30000" marB="30000" anchor="ctr">
                    <a:solidFill>
                      <a:srgbClr val="101833"/>
                    </a:solidFill>
                  </a:tcPr>
                </a:tc>
                <a:tc>
                  <a:txBody>
                    <a:bodyPr vert="horz" lIns="91440" tIns="30000" rIns="91440" bIns="30000" anchor="ctr" anchorCtr="0"/>
                    <a:lstStyle/>
                    <a:p>
                      <a:pPr lvl="0" algn="ctr">
                        <a:defRPr/>
                      </a:pPr>
                      <a:r>
                        <a:rPr sz="1250" b="0">
                          <a:solidFill>
                            <a:srgbClr val="d8dce8"/>
                          </a:solidFill>
                          <a:latin typeface="맑은 고딕"/>
                        </a:rPr>
                        <a:t>0.</a:t>
                      </a:r>
                      <a:r>
                        <a:rPr lang="en-US" altLang="ko-KR" sz="1250" b="0">
                          <a:solidFill>
                            <a:srgbClr val="d8dce8"/>
                          </a:solidFill>
                          <a:latin typeface="맑은 고딕"/>
                        </a:rPr>
                        <a:t>396</a:t>
                      </a:r>
                      <a:endParaRPr lang="en-US" altLang="ko-KR" sz="1250" b="0">
                        <a:solidFill>
                          <a:srgbClr val="d8dce8"/>
                        </a:solidFill>
                        <a:latin typeface="맑은 고딕"/>
                      </a:endParaRPr>
                    </a:p>
                  </a:txBody>
                  <a:tcPr marL="91440" marR="91440" marT="30000" marB="30000" anchor="ctr">
                    <a:solidFill>
                      <a:srgbClr val="101833"/>
                    </a:solidFill>
                  </a:tcPr>
                </a:tc>
                <a:tc>
                  <a:txBody>
                    <a:bodyPr vert="horz" lIns="91440" tIns="30000" rIns="91440" bIns="30000" anchor="ctr" anchorCtr="0"/>
                    <a:lstStyle/>
                    <a:p>
                      <a:pPr lvl="0" algn="ctr">
                        <a:defRPr/>
                      </a:pPr>
                      <a:r>
                        <a:rPr sz="1250" b="0">
                          <a:solidFill>
                            <a:srgbClr val="d8dce8"/>
                          </a:solidFill>
                          <a:latin typeface="맑은 고딕"/>
                        </a:rPr>
                        <a:t>0.</a:t>
                      </a:r>
                      <a:r>
                        <a:rPr lang="en-US" altLang="ko-KR" sz="1250" b="0">
                          <a:solidFill>
                            <a:srgbClr val="d8dce8"/>
                          </a:solidFill>
                          <a:latin typeface="맑은 고딕"/>
                        </a:rPr>
                        <a:t>787</a:t>
                      </a:r>
                      <a:endParaRPr lang="en-US" altLang="ko-KR" sz="1250" b="0">
                        <a:solidFill>
                          <a:srgbClr val="d8dce8"/>
                        </a:solidFill>
                        <a:latin typeface="맑은 고딕"/>
                      </a:endParaRPr>
                    </a:p>
                  </a:txBody>
                  <a:tcPr marL="91440" marR="91440" marT="30000" marB="30000" anchor="ctr">
                    <a:solidFill>
                      <a:srgbClr val="101833"/>
                    </a:solidFill>
                  </a:tcPr>
                </a:tc>
              </a:tr>
            </a:tbl>
          </a:graphicData>
        </a:graphic>
      </p:graphicFrame>
      <p:pic>
        <p:nvPicPr>
          <p:cNvPr id="75" name="그림 7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357643" y="886557"/>
            <a:ext cx="6048779" cy="2268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375468"/>
      </p:ext>
    </p:extLst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2" name="Google Shape;82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3" name="Google Shape;83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98;p17"/>
          <p:cNvSpPr/>
          <p:nvPr/>
        </p:nvSpPr>
        <p:spPr>
          <a:xfrm>
            <a:off x="7807225" y="31762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0" name="Google Shape;99;p17"/>
          <p:cNvSpPr/>
          <p:nvPr/>
        </p:nvSpPr>
        <p:spPr>
          <a:xfrm>
            <a:off x="7807225" y="512662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11" name="Google Shape;100;p17"/>
          <p:cNvSpPr/>
          <p:nvPr/>
        </p:nvSpPr>
        <p:spPr>
          <a:xfrm>
            <a:off x="7807225" y="993562"/>
            <a:ext cx="335700" cy="335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chemeClr val="dk1"/>
              </a:solidFill>
            </a:endParaRPr>
          </a:p>
        </p:txBody>
      </p:sp>
      <p:cxnSp>
        <p:nvCxnSpPr>
          <p:cNvPr id="112" name="Google Shape;101;p17"/>
          <p:cNvCxnSpPr/>
          <p:nvPr/>
        </p:nvCxnSpPr>
        <p:spPr>
          <a:xfrm rot="10800000">
            <a:off x="-731099" y="-103712"/>
            <a:ext cx="0" cy="21525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sp>
        <p:nvSpPr>
          <p:cNvPr id="113" name="Google Shape;102;p17"/>
          <p:cNvSpPr txBox="1"/>
          <p:nvPr/>
        </p:nvSpPr>
        <p:spPr>
          <a:xfrm>
            <a:off x="1422000" y="376287"/>
            <a:ext cx="6150000" cy="56286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500" b="1">
                <a:solidFill>
                  <a:schemeClr val="dk1"/>
                </a:solidFill>
                <a:latin typeface="맑은 고딕"/>
              </a:rPr>
              <a:t>K-Fold Cross Validation · STEP6.5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4" name="Google Shape;103;p17"/>
          <p:cNvSpPr txBox="1"/>
          <p:nvPr/>
        </p:nvSpPr>
        <p:spPr>
          <a:xfrm>
            <a:off x="1422000" y="1176287"/>
            <a:ext cx="6300000" cy="117256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500">
                <a:solidFill>
                  <a:schemeClr val="dk1"/>
                </a:solidFill>
                <a:latin typeface="맑은 고딕"/>
              </a:rPr>
              <a:t>단일 split만으로는 "우연히 좋은 결과"인지 알 수 없음</a:t>
            </a:r>
            <a:endParaRPr sz="1500">
              <a:solidFill>
                <a:schemeClr val="dk1"/>
              </a:solidFill>
              <a:latin typeface="맑은 고딕"/>
            </a:endParaRPr>
          </a:p>
          <a:p>
            <a:pPr marL="228600" lvl="0" indent="-228600" algn="l"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500">
                <a:solidFill>
                  <a:schemeClr val="dk1"/>
                </a:solidFill>
                <a:latin typeface="맑은 고딕"/>
              </a:rPr>
              <a:t>5-Fold CV 도입 → 평균±표준편차로 신뢰구간 확보</a:t>
            </a:r>
            <a:endParaRPr sz="1500">
              <a:solidFill>
                <a:schemeClr val="dk1"/>
              </a:solidFill>
              <a:latin typeface="맑은 고딕"/>
            </a:endParaRPr>
          </a:p>
          <a:p>
            <a:pPr marL="228600" lvl="0" indent="-228600" algn="l"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500">
                <a:solidFill>
                  <a:schemeClr val="dk1"/>
                </a:solidFill>
                <a:latin typeface="맑은 고딕"/>
              </a:rPr>
              <a:t>Fold 4 최고(R² 0.779), Fold 2 최저(R² 0.657)</a:t>
            </a:r>
            <a:endParaRPr sz="1500">
              <a:solidFill>
                <a:schemeClr val="dk1"/>
              </a:solidFill>
              <a:latin typeface="맑은 고딕"/>
            </a:endParaRPr>
          </a:p>
        </p:txBody>
      </p:sp>
      <p:graphicFrame>
        <p:nvGraphicFramePr>
          <p:cNvPr id="115" name="Table 103"/>
          <p:cNvGraphicFramePr>
            <a:graphicFrameLocks noGrp="1"/>
          </p:cNvGraphicFramePr>
          <p:nvPr/>
        </p:nvGraphicFramePr>
        <p:xfrm>
          <a:off x="1422000" y="3196287"/>
          <a:ext cx="6300000" cy="1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0000"/>
                <a:gridCol w="2100000"/>
                <a:gridCol w="2100000"/>
              </a:tblGrid>
              <a:tr h="700000">
                <a:tc>
                  <a:txBody>
                    <a:bodyPr vert="horz" lIns="91440" tIns="30000" rIns="91440" bIns="30000" anchor="ctr" anchorCtr="0"/>
                    <a:lstStyle/>
                    <a:p>
                      <a:pPr lvl="0" algn="ctr">
                        <a:defRPr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MAE</a:t>
                      </a:r>
                      <a:endParaRPr sz="1250" b="1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91440" marR="91440" marT="30000" marB="30000" anchor="ctr">
                    <a:solidFill>
                      <a:srgbClr val="273563"/>
                    </a:solidFill>
                  </a:tcPr>
                </a:tc>
                <a:tc>
                  <a:txBody>
                    <a:bodyPr vert="horz" lIns="91440" tIns="30000" rIns="91440" bIns="30000" anchor="ctr" anchorCtr="0"/>
                    <a:lstStyle/>
                    <a:p>
                      <a:pPr lvl="0" algn="ctr">
                        <a:defRPr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RMSE</a:t>
                      </a:r>
                      <a:endParaRPr sz="1250" b="1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91440" marR="91440" marT="30000" marB="30000" anchor="ctr">
                    <a:solidFill>
                      <a:srgbClr val="273563"/>
                    </a:solidFill>
                  </a:tcPr>
                </a:tc>
                <a:tc>
                  <a:txBody>
                    <a:bodyPr vert="horz" lIns="91440" tIns="30000" rIns="91440" bIns="30000" anchor="ctr" anchorCtr="0"/>
                    <a:lstStyle/>
                    <a:p>
                      <a:pPr lvl="0" algn="ctr">
                        <a:defRPr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R²</a:t>
                      </a:r>
                      <a:endParaRPr sz="1250" b="1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91440" marR="91440" marT="30000" marB="30000" anchor="ctr">
                    <a:solidFill>
                      <a:srgbClr val="273563"/>
                    </a:solidFill>
                  </a:tcPr>
                </a:tc>
              </a:tr>
              <a:tr h="700000">
                <a:tc>
                  <a:txBody>
                    <a:bodyPr vert="horz" lIns="91440" tIns="30000" rIns="91440" bIns="30000" anchor="ctr" anchorCtr="0"/>
                    <a:lstStyle/>
                    <a:p>
                      <a:pPr lvl="0" algn="ctr">
                        <a:defRPr/>
                      </a:pPr>
                      <a:r>
                        <a:rPr sz="1250" b="0">
                          <a:solidFill>
                            <a:srgbClr val="d8dce8"/>
                          </a:solidFill>
                          <a:latin typeface="맑은 고딕"/>
                        </a:rPr>
                        <a:t>0.</a:t>
                      </a:r>
                      <a:r>
                        <a:rPr lang="en-US" altLang="ko-KR" sz="1250" b="0">
                          <a:solidFill>
                            <a:srgbClr val="d8dce8"/>
                          </a:solidFill>
                          <a:latin typeface="맑은 고딕"/>
                        </a:rPr>
                        <a:t>337</a:t>
                      </a:r>
                      <a:endParaRPr lang="en-US" altLang="ko-KR" sz="1250" b="0">
                        <a:solidFill>
                          <a:srgbClr val="d8dce8"/>
                        </a:solidFill>
                        <a:latin typeface="맑은 고딕"/>
                      </a:endParaRPr>
                    </a:p>
                  </a:txBody>
                  <a:tcPr marL="91440" marR="91440" marT="30000" marB="30000" anchor="ctr">
                    <a:solidFill>
                      <a:srgbClr val="101833"/>
                    </a:solidFill>
                  </a:tcPr>
                </a:tc>
                <a:tc>
                  <a:txBody>
                    <a:bodyPr vert="horz" lIns="91440" tIns="30000" rIns="91440" bIns="30000" anchor="ctr" anchorCtr="0"/>
                    <a:lstStyle/>
                    <a:p>
                      <a:pPr lvl="0" algn="ctr">
                        <a:defRPr/>
                      </a:pPr>
                      <a:r>
                        <a:rPr sz="1250" b="0">
                          <a:solidFill>
                            <a:srgbClr val="d8dce8"/>
                          </a:solidFill>
                          <a:latin typeface="맑은 고딕"/>
                        </a:rPr>
                        <a:t>0.541</a:t>
                      </a:r>
                      <a:endParaRPr sz="1250" b="0">
                        <a:solidFill>
                          <a:srgbClr val="d8dce8"/>
                        </a:solidFill>
                        <a:latin typeface="맑은 고딕"/>
                      </a:endParaRPr>
                    </a:p>
                  </a:txBody>
                  <a:tcPr marL="91440" marR="91440" marT="30000" marB="30000" anchor="ctr">
                    <a:solidFill>
                      <a:srgbClr val="101833"/>
                    </a:solidFill>
                  </a:tcPr>
                </a:tc>
                <a:tc>
                  <a:txBody>
                    <a:bodyPr vert="horz" lIns="91440" tIns="30000" rIns="91440" bIns="30000" anchor="ctr" anchorCtr="0"/>
                    <a:lstStyle/>
                    <a:p>
                      <a:pPr lvl="0" algn="ctr">
                        <a:defRPr/>
                      </a:pPr>
                      <a:r>
                        <a:rPr sz="1250" b="0">
                          <a:solidFill>
                            <a:srgbClr val="d8dce8"/>
                          </a:solidFill>
                          <a:latin typeface="맑은 고딕"/>
                        </a:rPr>
                        <a:t>0.699 ± 0.050</a:t>
                      </a:r>
                      <a:endParaRPr sz="1250" b="0">
                        <a:solidFill>
                          <a:srgbClr val="d8dce8"/>
                        </a:solidFill>
                        <a:latin typeface="맑은 고딕"/>
                      </a:endParaRPr>
                    </a:p>
                  </a:txBody>
                  <a:tcPr marL="91440" marR="91440" marT="30000" marB="30000" anchor="ctr">
                    <a:solidFill>
                      <a:srgbClr val="10183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6979186"/>
      </p:ext>
    </p:extLst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65" name="Google Shape;65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66" name="Google Shape;66;p13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98;p17"/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9" name="Google Shape;99;p17"/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70" name="Google Shape;100;p17"/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chemeClr val="dk1"/>
              </a:solidFill>
            </a:endParaRPr>
          </a:p>
        </p:txBody>
      </p:sp>
      <p:cxnSp>
        <p:nvCxnSpPr>
          <p:cNvPr id="71" name="Google Shape;101;p17"/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sp>
        <p:nvSpPr>
          <p:cNvPr id="72" name="Google Shape;102;p17"/>
          <p:cNvSpPr txBox="1"/>
          <p:nvPr/>
        </p:nvSpPr>
        <p:spPr>
          <a:xfrm>
            <a:off x="2300000" y="380000"/>
            <a:ext cx="6150000" cy="53057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300" b="1">
                <a:solidFill>
                  <a:schemeClr val="dk1"/>
                </a:solidFill>
                <a:latin typeface="맑은 고딕"/>
              </a:rPr>
              <a:t>학습 결과 종합 비교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3" name="Google Shape;103;p17"/>
          <p:cNvSpPr txBox="1"/>
          <p:nvPr/>
        </p:nvSpPr>
        <p:spPr>
          <a:xfrm>
            <a:off x="2299999" y="1200000"/>
            <a:ext cx="6300000" cy="57735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200000" lvl="0" indent="-200000" algn="l" rtl="0">
              <a:spcBef>
                <a:spcPts val="0"/>
              </a:spcBef>
              <a:spcAft>
                <a:spcPts val="6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300">
                <a:solidFill>
                  <a:schemeClr val="dk1"/>
                </a:solidFill>
                <a:latin typeface="맑은 고딕"/>
              </a:rPr>
              <a:t>정규화 loss는 baseline이 근소 우위였지만, 실제 단위(MAE·RMSE) 기준으로는 merged가 더 낮음</a:t>
            </a:r>
            <a:endParaRPr sz="4800">
              <a:solidFill>
                <a:schemeClr val="dk1"/>
              </a:solidFill>
              <a:latin typeface="나눔고딕 ExtraBold"/>
              <a:ea typeface="나눔고딕 ExtraBold"/>
              <a:cs typeface="나눔고딕 ExtraBold"/>
              <a:sym typeface="나눔고딕 ExtraBold"/>
            </a:endParaRPr>
          </a:p>
        </p:txBody>
      </p:sp>
      <p:graphicFrame>
        <p:nvGraphicFramePr>
          <p:cNvPr id="75" name="Table 104"/>
          <p:cNvGraphicFramePr>
            <a:graphicFrameLocks noGrp="1"/>
          </p:cNvGraphicFramePr>
          <p:nvPr/>
        </p:nvGraphicFramePr>
        <p:xfrm>
          <a:off x="2300000" y="1850000"/>
          <a:ext cx="6300000" cy="241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5000"/>
                <a:gridCol w="1575000"/>
                <a:gridCol w="1575000"/>
                <a:gridCol w="1575000"/>
              </a:tblGrid>
              <a:tr h="400000">
                <a:tc>
                  <a:txBody>
                    <a:bodyPr vert="horz" lIns="91440" tIns="25000" rIns="91440" bIns="25000" anchor="ctr" anchorCtr="0"/>
                    <a:lstStyle/>
                    <a:p>
                      <a:pPr lvl="0" algn="ctr">
                        <a:defRPr/>
                      </a:pPr>
                      <a:r>
                        <a:rPr sz="1200" b="1">
                          <a:solidFill>
                            <a:schemeClr val="lt1"/>
                          </a:solidFill>
                          <a:latin typeface="맑은 고딕"/>
                        </a:rPr>
                        <a:t>지표</a:t>
                      </a:r>
                      <a:endParaRPr sz="1200" b="1">
                        <a:solidFill>
                          <a:schemeClr val="lt1"/>
                        </a:solidFill>
                        <a:latin typeface="맑은 고딕"/>
                      </a:endParaRPr>
                    </a:p>
                  </a:txBody>
                  <a:tcPr marL="91440" marR="91440" marT="25000" marB="25000" anchor="ctr">
                    <a:solidFill>
                      <a:srgbClr val="273563"/>
                    </a:solidFill>
                  </a:tcPr>
                </a:tc>
                <a:tc>
                  <a:txBody>
                    <a:bodyPr vert="horz" lIns="91440" tIns="25000" rIns="91440" bIns="25000" anchor="ctr" anchorCtr="0"/>
                    <a:lstStyle/>
                    <a:p>
                      <a:pPr lvl="0" algn="ctr">
                        <a:defRPr/>
                      </a:pPr>
                      <a:r>
                        <a:rPr sz="1200" b="1">
                          <a:solidFill>
                            <a:schemeClr val="lt1"/>
                          </a:solidFill>
                          <a:latin typeface="맑은 고딕"/>
                        </a:rPr>
                        <a:t>Baseline</a:t>
                      </a:r>
                      <a:endParaRPr sz="1200" b="1">
                        <a:solidFill>
                          <a:schemeClr val="lt1"/>
                        </a:solidFill>
                        <a:latin typeface="맑은 고딕"/>
                      </a:endParaRPr>
                    </a:p>
                  </a:txBody>
                  <a:tcPr marL="91440" marR="91440" marT="25000" marB="25000" anchor="ctr">
                    <a:solidFill>
                      <a:srgbClr val="273563"/>
                    </a:solidFill>
                  </a:tcPr>
                </a:tc>
                <a:tc>
                  <a:txBody>
                    <a:bodyPr vert="horz" lIns="91440" tIns="25000" rIns="91440" bIns="25000" anchor="ctr" anchorCtr="0"/>
                    <a:lstStyle/>
                    <a:p>
                      <a:pPr lvl="0" algn="ctr">
                        <a:defRPr/>
                      </a:pPr>
                      <a:r>
                        <a:rPr sz="1200" b="1">
                          <a:solidFill>
                            <a:schemeClr val="lt1"/>
                          </a:solidFill>
                          <a:latin typeface="맑은 고딕"/>
                        </a:rPr>
                        <a:t>Merged (single)</a:t>
                      </a:r>
                      <a:endParaRPr sz="1200" b="1">
                        <a:solidFill>
                          <a:schemeClr val="lt1"/>
                        </a:solidFill>
                        <a:latin typeface="맑은 고딕"/>
                      </a:endParaRPr>
                    </a:p>
                  </a:txBody>
                  <a:tcPr marL="91440" marR="91440" marT="25000" marB="25000" anchor="ctr">
                    <a:solidFill>
                      <a:srgbClr val="273563"/>
                    </a:solidFill>
                  </a:tcPr>
                </a:tc>
                <a:tc>
                  <a:txBody>
                    <a:bodyPr vert="horz" lIns="91440" tIns="25000" rIns="91440" bIns="25000" anchor="ctr" anchorCtr="0"/>
                    <a:lstStyle/>
                    <a:p>
                      <a:pPr lvl="0" algn="ctr">
                        <a:defRPr/>
                      </a:pPr>
                      <a:r>
                        <a:rPr sz="1200" b="1">
                          <a:solidFill>
                            <a:schemeClr val="lt1"/>
                          </a:solidFill>
                          <a:latin typeface="맑은 고딕"/>
                        </a:rPr>
                        <a:t>Merged 5-Fold 평균</a:t>
                      </a:r>
                      <a:endParaRPr sz="1200" b="1">
                        <a:solidFill>
                          <a:schemeClr val="lt1"/>
                        </a:solidFill>
                        <a:latin typeface="맑은 고딕"/>
                      </a:endParaRPr>
                    </a:p>
                  </a:txBody>
                  <a:tcPr marL="91440" marR="91440" marT="25000" marB="25000" anchor="ctr">
                    <a:solidFill>
                      <a:srgbClr val="273563"/>
                    </a:solidFill>
                  </a:tcPr>
                </a:tc>
              </a:tr>
              <a:tr h="400000">
                <a:tc>
                  <a:txBody>
                    <a:bodyPr vert="horz" lIns="91440" tIns="25000" rIns="91440" bIns="25000" anchor="ctr" anchorCtr="0"/>
                    <a:lstStyle/>
                    <a:p>
                      <a:pPr lvl="0" algn="ctr">
                        <a:defRPr/>
                      </a:pPr>
                      <a:r>
                        <a:rPr sz="1200" b="1">
                          <a:solidFill>
                            <a:schemeClr val="lt1"/>
                          </a:solidFill>
                          <a:latin typeface="맑은 고딕"/>
                        </a:rPr>
                        <a:t>Val Loss</a:t>
                      </a:r>
                      <a:endParaRPr sz="1200" b="1">
                        <a:solidFill>
                          <a:schemeClr val="lt1"/>
                        </a:solidFill>
                        <a:latin typeface="맑은 고딕"/>
                      </a:endParaRPr>
                    </a:p>
                  </a:txBody>
                  <a:tcPr marL="91440" marR="91440" marT="25000" marB="25000" anchor="ctr">
                    <a:solidFill>
                      <a:srgbClr val="101833"/>
                    </a:solidFill>
                  </a:tcPr>
                </a:tc>
                <a:tc>
                  <a:txBody>
                    <a:bodyPr vert="horz" lIns="91440" tIns="25000" rIns="91440" bIns="25000" anchor="ctr" anchorCtr="0"/>
                    <a:lstStyle/>
                    <a:p>
                      <a:pPr lvl="0" algn="ctr">
                        <a:defRPr/>
                      </a:pPr>
                      <a:r>
                        <a:rPr sz="1200" b="0">
                          <a:solidFill>
                            <a:schemeClr val="lt1"/>
                          </a:solidFill>
                          <a:latin typeface="맑은 고딕"/>
                        </a:rPr>
                        <a:t>0.1317</a:t>
                      </a:r>
                      <a:endParaRPr sz="1200" b="0">
                        <a:solidFill>
                          <a:schemeClr val="lt1"/>
                        </a:solidFill>
                        <a:latin typeface="맑은 고딕"/>
                      </a:endParaRPr>
                    </a:p>
                  </a:txBody>
                  <a:tcPr marL="91440" marR="91440" marT="25000" marB="25000" anchor="ctr">
                    <a:solidFill>
                      <a:srgbClr val="101833"/>
                    </a:solidFill>
                  </a:tcPr>
                </a:tc>
                <a:tc>
                  <a:txBody>
                    <a:bodyPr vert="horz" lIns="91440" tIns="25000" rIns="91440" bIns="25000" anchor="ctr" anchorCtr="0"/>
                    <a:lstStyle/>
                    <a:p>
                      <a:pPr lvl="0" algn="ctr">
                        <a:defRPr/>
                      </a:pPr>
                      <a:r>
                        <a:rPr sz="1200" b="0">
                          <a:solidFill>
                            <a:schemeClr val="lt1"/>
                          </a:solidFill>
                          <a:latin typeface="맑은 고딕"/>
                        </a:rPr>
                        <a:t>0.1337</a:t>
                      </a:r>
                      <a:endParaRPr sz="1200" b="0">
                        <a:solidFill>
                          <a:schemeClr val="lt1"/>
                        </a:solidFill>
                        <a:latin typeface="맑은 고딕"/>
                      </a:endParaRPr>
                    </a:p>
                  </a:txBody>
                  <a:tcPr marL="91440" marR="91440" marT="25000" marB="25000" anchor="ctr">
                    <a:solidFill>
                      <a:srgbClr val="101833"/>
                    </a:solidFill>
                  </a:tcPr>
                </a:tc>
                <a:tc>
                  <a:txBody>
                    <a:bodyPr vert="horz" lIns="91440" tIns="25000" rIns="91440" bIns="25000" anchor="ctr" anchorCtr="0"/>
                    <a:lstStyle/>
                    <a:p>
                      <a:pPr lvl="0" algn="ctr">
                        <a:defRPr/>
                      </a:pPr>
                      <a:r>
                        <a:rPr sz="1200" b="0">
                          <a:solidFill>
                            <a:schemeClr val="lt1"/>
                          </a:solidFill>
                          <a:latin typeface="맑은 고딕"/>
                        </a:rPr>
                        <a:t>0.2528 ± 0.0681</a:t>
                      </a:r>
                      <a:endParaRPr sz="1200" b="0">
                        <a:solidFill>
                          <a:schemeClr val="lt1"/>
                        </a:solidFill>
                        <a:latin typeface="맑은 고딕"/>
                      </a:endParaRPr>
                    </a:p>
                  </a:txBody>
                  <a:tcPr marL="91440" marR="91440" marT="25000" marB="25000" anchor="ctr">
                    <a:solidFill>
                      <a:srgbClr val="101833"/>
                    </a:solidFill>
                  </a:tcPr>
                </a:tc>
              </a:tr>
              <a:tr h="400000">
                <a:tc>
                  <a:txBody>
                    <a:bodyPr vert="horz" lIns="91440" tIns="25000" rIns="91440" bIns="25000" anchor="ctr" anchorCtr="0"/>
                    <a:lstStyle/>
                    <a:p>
                      <a:pPr lvl="0" algn="ctr">
                        <a:defRPr/>
                      </a:pPr>
                      <a:r>
                        <a:rPr sz="1200" b="1">
                          <a:solidFill>
                            <a:schemeClr val="lt1"/>
                          </a:solidFill>
                          <a:latin typeface="맑은 고딕"/>
                        </a:rPr>
                        <a:t>Val MAE</a:t>
                      </a:r>
                      <a:endParaRPr sz="1200" b="1">
                        <a:solidFill>
                          <a:schemeClr val="lt1"/>
                        </a:solidFill>
                        <a:latin typeface="맑은 고딕"/>
                      </a:endParaRPr>
                    </a:p>
                  </a:txBody>
                  <a:tcPr marL="91440" marR="91440" marT="25000" marB="25000" anchor="ctr">
                    <a:solidFill>
                      <a:srgbClr val="101833"/>
                    </a:solidFill>
                  </a:tcPr>
                </a:tc>
                <a:tc>
                  <a:txBody>
                    <a:bodyPr vert="horz" lIns="91440" tIns="25000" rIns="91440" bIns="25000" anchor="ctr" anchorCtr="0"/>
                    <a:lstStyle/>
                    <a:p>
                      <a:pPr lvl="0" algn="ctr">
                        <a:defRPr/>
                      </a:pPr>
                      <a:r>
                        <a:rPr sz="1200" b="0">
                          <a:solidFill>
                            <a:schemeClr val="lt1"/>
                          </a:solidFill>
                          <a:latin typeface="맑은 고딕"/>
                        </a:rPr>
                        <a:t>≈0.34 (근사)</a:t>
                      </a:r>
                      <a:endParaRPr sz="1200" b="0">
                        <a:solidFill>
                          <a:schemeClr val="lt1"/>
                        </a:solidFill>
                        <a:latin typeface="맑은 고딕"/>
                      </a:endParaRPr>
                    </a:p>
                  </a:txBody>
                  <a:tcPr marL="91440" marR="91440" marT="25000" marB="25000" anchor="ctr">
                    <a:solidFill>
                      <a:srgbClr val="101833"/>
                    </a:solidFill>
                  </a:tcPr>
                </a:tc>
                <a:tc>
                  <a:txBody>
                    <a:bodyPr vert="horz" lIns="91440" tIns="25000" rIns="91440" bIns="25000" anchor="ctr" anchorCtr="0"/>
                    <a:lstStyle/>
                    <a:p>
                      <a:pPr lvl="0" algn="ctr">
                        <a:defRPr/>
                      </a:pPr>
                      <a:r>
                        <a:rPr sz="1200" b="0">
                          <a:solidFill>
                            <a:schemeClr val="lt1"/>
                          </a:solidFill>
                          <a:latin typeface="맑은 고딕"/>
                        </a:rPr>
                        <a:t>≈0.29 (근사)</a:t>
                      </a:r>
                      <a:endParaRPr sz="1200" b="0">
                        <a:solidFill>
                          <a:schemeClr val="lt1"/>
                        </a:solidFill>
                        <a:latin typeface="맑은 고딕"/>
                      </a:endParaRPr>
                    </a:p>
                  </a:txBody>
                  <a:tcPr marL="91440" marR="91440" marT="25000" marB="25000" anchor="ctr">
                    <a:solidFill>
                      <a:srgbClr val="101833"/>
                    </a:solidFill>
                  </a:tcPr>
                </a:tc>
                <a:tc>
                  <a:txBody>
                    <a:bodyPr vert="horz" lIns="91440" tIns="25000" rIns="91440" bIns="25000" anchor="ctr" anchorCtr="0"/>
                    <a:lstStyle/>
                    <a:p>
                      <a:pPr lvl="0" algn="ctr">
                        <a:defRPr/>
                      </a:pPr>
                      <a:r>
                        <a:rPr sz="1200" b="0">
                          <a:solidFill>
                            <a:schemeClr val="lt1"/>
                          </a:solidFill>
                          <a:latin typeface="맑은 고딕"/>
                        </a:rPr>
                        <a:t>0.3375 ± 0.0276</a:t>
                      </a:r>
                      <a:endParaRPr sz="1200" b="0">
                        <a:solidFill>
                          <a:schemeClr val="lt1"/>
                        </a:solidFill>
                        <a:latin typeface="맑은 고딕"/>
                      </a:endParaRPr>
                    </a:p>
                  </a:txBody>
                  <a:tcPr marL="91440" marR="91440" marT="25000" marB="25000" anchor="ctr">
                    <a:solidFill>
                      <a:srgbClr val="101833"/>
                    </a:solidFill>
                  </a:tcPr>
                </a:tc>
              </a:tr>
              <a:tr h="400000">
                <a:tc>
                  <a:txBody>
                    <a:bodyPr vert="horz" lIns="91440" tIns="25000" rIns="91440" bIns="25000" anchor="ctr" anchorCtr="0"/>
                    <a:lstStyle/>
                    <a:p>
                      <a:pPr lvl="0" algn="ctr">
                        <a:defRPr/>
                      </a:pPr>
                      <a:r>
                        <a:rPr sz="1200" b="1">
                          <a:solidFill>
                            <a:schemeClr val="lt1"/>
                          </a:solidFill>
                          <a:latin typeface="맑은 고딕"/>
                        </a:rPr>
                        <a:t>Val RMSE</a:t>
                      </a:r>
                      <a:endParaRPr sz="1200" b="1">
                        <a:solidFill>
                          <a:schemeClr val="lt1"/>
                        </a:solidFill>
                        <a:latin typeface="맑은 고딕"/>
                      </a:endParaRPr>
                    </a:p>
                  </a:txBody>
                  <a:tcPr marL="91440" marR="91440" marT="25000" marB="25000" anchor="ctr">
                    <a:solidFill>
                      <a:srgbClr val="101833"/>
                    </a:solidFill>
                  </a:tcPr>
                </a:tc>
                <a:tc>
                  <a:txBody>
                    <a:bodyPr vert="horz" lIns="91440" tIns="25000" rIns="91440" bIns="25000" anchor="ctr" anchorCtr="0"/>
                    <a:lstStyle/>
                    <a:p>
                      <a:pPr lvl="0" algn="ctr">
                        <a:defRPr/>
                      </a:pPr>
                      <a:r>
                        <a:rPr sz="1200" b="0">
                          <a:solidFill>
                            <a:schemeClr val="lt1"/>
                          </a:solidFill>
                          <a:latin typeface="맑은 고딕"/>
                        </a:rPr>
                        <a:t>≈0.50 (근사)</a:t>
                      </a:r>
                      <a:endParaRPr sz="1200" b="0">
                        <a:solidFill>
                          <a:schemeClr val="lt1"/>
                        </a:solidFill>
                        <a:latin typeface="맑은 고딕"/>
                      </a:endParaRPr>
                    </a:p>
                  </a:txBody>
                  <a:tcPr marL="91440" marR="91440" marT="25000" marB="25000" anchor="ctr">
                    <a:solidFill>
                      <a:srgbClr val="101833"/>
                    </a:solidFill>
                  </a:tcPr>
                </a:tc>
                <a:tc>
                  <a:txBody>
                    <a:bodyPr vert="horz" lIns="91440" tIns="25000" rIns="91440" bIns="25000" anchor="ctr" anchorCtr="0"/>
                    <a:lstStyle/>
                    <a:p>
                      <a:pPr lvl="0" algn="ctr">
                        <a:defRPr/>
                      </a:pPr>
                      <a:r>
                        <a:rPr sz="1200" b="0">
                          <a:solidFill>
                            <a:schemeClr val="lt1"/>
                          </a:solidFill>
                          <a:latin typeface="맑은 고딕"/>
                        </a:rPr>
                        <a:t>≈0.40 (근사)</a:t>
                      </a:r>
                      <a:endParaRPr sz="1200" b="0">
                        <a:solidFill>
                          <a:schemeClr val="lt1"/>
                        </a:solidFill>
                        <a:latin typeface="맑은 고딕"/>
                      </a:endParaRPr>
                    </a:p>
                  </a:txBody>
                  <a:tcPr marL="91440" marR="91440" marT="25000" marB="25000" anchor="ctr">
                    <a:solidFill>
                      <a:srgbClr val="101833"/>
                    </a:solidFill>
                  </a:tcPr>
                </a:tc>
                <a:tc>
                  <a:txBody>
                    <a:bodyPr vert="horz" lIns="91440" tIns="25000" rIns="91440" bIns="25000" anchor="ctr" anchorCtr="0"/>
                    <a:lstStyle/>
                    <a:p>
                      <a:pPr lvl="0" algn="ctr">
                        <a:defRPr/>
                      </a:pPr>
                      <a:r>
                        <a:rPr sz="1200" b="0">
                          <a:solidFill>
                            <a:schemeClr val="lt1"/>
                          </a:solidFill>
                          <a:latin typeface="맑은 고딕"/>
                        </a:rPr>
                        <a:t>0.5410 ± 0.0569</a:t>
                      </a:r>
                      <a:endParaRPr sz="1200" b="0">
                        <a:solidFill>
                          <a:schemeClr val="lt1"/>
                        </a:solidFill>
                        <a:latin typeface="맑은 고딕"/>
                      </a:endParaRPr>
                    </a:p>
                  </a:txBody>
                  <a:tcPr marL="91440" marR="91440" marT="25000" marB="25000" anchor="ctr">
                    <a:solidFill>
                      <a:srgbClr val="101833"/>
                    </a:solidFill>
                  </a:tcPr>
                </a:tc>
              </a:tr>
              <a:tr h="400000">
                <a:tc>
                  <a:txBody>
                    <a:bodyPr vert="horz" lIns="91440" tIns="25000" rIns="91440" bIns="25000" anchor="ctr" anchorCtr="0"/>
                    <a:lstStyle/>
                    <a:p>
                      <a:pPr lvl="0" algn="ctr">
                        <a:defRPr/>
                      </a:pPr>
                      <a:r>
                        <a:rPr sz="1200" b="1">
                          <a:solidFill>
                            <a:schemeClr val="lt1"/>
                          </a:solidFill>
                          <a:latin typeface="맑은 고딕"/>
                        </a:rPr>
                        <a:t>R²</a:t>
                      </a:r>
                      <a:endParaRPr sz="1200" b="1">
                        <a:solidFill>
                          <a:schemeClr val="lt1"/>
                        </a:solidFill>
                        <a:latin typeface="맑은 고딕"/>
                      </a:endParaRPr>
                    </a:p>
                  </a:txBody>
                  <a:tcPr marL="91440" marR="91440" marT="25000" marB="25000" anchor="ctr">
                    <a:solidFill>
                      <a:srgbClr val="101833"/>
                    </a:solidFill>
                  </a:tcPr>
                </a:tc>
                <a:tc>
                  <a:txBody>
                    <a:bodyPr vert="horz" lIns="91440" tIns="25000" rIns="91440" bIns="25000" anchor="ctr" anchorCtr="0"/>
                    <a:lstStyle/>
                    <a:p>
                      <a:pPr lvl="0" algn="ctr">
                        <a:defRPr/>
                      </a:pPr>
                      <a:r>
                        <a:rPr sz="1200" b="0">
                          <a:solidFill>
                            <a:schemeClr val="lt1"/>
                          </a:solidFill>
                          <a:latin typeface="맑은 고딕"/>
                        </a:rPr>
                        <a:t>—</a:t>
                      </a:r>
                      <a:endParaRPr sz="1200" b="0">
                        <a:solidFill>
                          <a:schemeClr val="lt1"/>
                        </a:solidFill>
                        <a:latin typeface="맑은 고딕"/>
                      </a:endParaRPr>
                    </a:p>
                  </a:txBody>
                  <a:tcPr marL="91440" marR="91440" marT="25000" marB="25000" anchor="ctr">
                    <a:solidFill>
                      <a:srgbClr val="101833"/>
                    </a:solidFill>
                  </a:tcPr>
                </a:tc>
                <a:tc>
                  <a:txBody>
                    <a:bodyPr vert="horz" lIns="91440" tIns="25000" rIns="91440" bIns="25000" anchor="ctr" anchorCtr="0"/>
                    <a:lstStyle/>
                    <a:p>
                      <a:pPr lvl="0" algn="ctr">
                        <a:defRPr/>
                      </a:pPr>
                      <a:r>
                        <a:rPr sz="1200" b="0">
                          <a:solidFill>
                            <a:schemeClr val="lt1"/>
                          </a:solidFill>
                          <a:latin typeface="맑은 고딕"/>
                        </a:rPr>
                        <a:t>—</a:t>
                      </a:r>
                      <a:endParaRPr sz="1200" b="0">
                        <a:solidFill>
                          <a:schemeClr val="lt1"/>
                        </a:solidFill>
                        <a:latin typeface="맑은 고딕"/>
                      </a:endParaRPr>
                    </a:p>
                  </a:txBody>
                  <a:tcPr marL="91440" marR="91440" marT="25000" marB="25000" anchor="ctr">
                    <a:solidFill>
                      <a:srgbClr val="101833"/>
                    </a:solidFill>
                  </a:tcPr>
                </a:tc>
                <a:tc>
                  <a:txBody>
                    <a:bodyPr vert="horz" lIns="91440" tIns="25000" rIns="91440" bIns="25000" anchor="ctr" anchorCtr="0"/>
                    <a:lstStyle/>
                    <a:p>
                      <a:pPr lvl="0" algn="ctr">
                        <a:defRPr/>
                      </a:pPr>
                      <a:r>
                        <a:rPr sz="1200" b="0">
                          <a:solidFill>
                            <a:schemeClr val="lt1"/>
                          </a:solidFill>
                          <a:latin typeface="맑은 고딕"/>
                        </a:rPr>
                        <a:t>0.6988 ± 0.0503</a:t>
                      </a:r>
                      <a:endParaRPr sz="1200" b="0">
                        <a:solidFill>
                          <a:schemeClr val="lt1"/>
                        </a:solidFill>
                        <a:latin typeface="맑은 고딕"/>
                      </a:endParaRPr>
                    </a:p>
                  </a:txBody>
                  <a:tcPr marL="91440" marR="91440" marT="25000" marB="25000" anchor="ctr">
                    <a:solidFill>
                      <a:srgbClr val="101833"/>
                    </a:solidFill>
                  </a:tcPr>
                </a:tc>
              </a:tr>
              <a:tr h="400000">
                <a:tc>
                  <a:txBody>
                    <a:bodyPr vert="horz" lIns="91440" tIns="25000" rIns="91440" bIns="25000" anchor="ctr" anchorCtr="0"/>
                    <a:lstStyle/>
                    <a:p>
                      <a:pPr lvl="0" algn="ctr">
                        <a:defRPr/>
                      </a:pPr>
                      <a:r>
                        <a:rPr sz="1200" b="1">
                          <a:solidFill>
                            <a:schemeClr val="lt1"/>
                          </a:solidFill>
                          <a:latin typeface="맑은 고딕"/>
                        </a:rPr>
                        <a:t>Best Epoch</a:t>
                      </a:r>
                      <a:endParaRPr sz="1200" b="1">
                        <a:solidFill>
                          <a:schemeClr val="lt1"/>
                        </a:solidFill>
                        <a:latin typeface="맑은 고딕"/>
                      </a:endParaRPr>
                    </a:p>
                  </a:txBody>
                  <a:tcPr marL="91440" marR="91440" marT="25000" marB="25000" anchor="ctr">
                    <a:solidFill>
                      <a:srgbClr val="101833"/>
                    </a:solidFill>
                  </a:tcPr>
                </a:tc>
                <a:tc>
                  <a:txBody>
                    <a:bodyPr vert="horz" lIns="91440" tIns="25000" rIns="91440" bIns="25000" anchor="ctr" anchorCtr="0"/>
                    <a:lstStyle/>
                    <a:p>
                      <a:pPr lvl="0" algn="ctr">
                        <a:defRPr/>
                      </a:pPr>
                      <a:r>
                        <a:rPr sz="1200" b="0">
                          <a:solidFill>
                            <a:schemeClr val="lt1"/>
                          </a:solidFill>
                          <a:latin typeface="맑은 고딕"/>
                        </a:rPr>
                        <a:t>27</a:t>
                      </a:r>
                      <a:endParaRPr sz="1200" b="0">
                        <a:solidFill>
                          <a:schemeClr val="lt1"/>
                        </a:solidFill>
                        <a:latin typeface="맑은 고딕"/>
                      </a:endParaRPr>
                    </a:p>
                  </a:txBody>
                  <a:tcPr marL="91440" marR="91440" marT="25000" marB="25000" anchor="ctr">
                    <a:solidFill>
                      <a:srgbClr val="101833"/>
                    </a:solidFill>
                  </a:tcPr>
                </a:tc>
                <a:tc>
                  <a:txBody>
                    <a:bodyPr vert="horz" lIns="91440" tIns="25000" rIns="91440" bIns="25000" anchor="ctr" anchorCtr="0"/>
                    <a:lstStyle/>
                    <a:p>
                      <a:pPr lvl="0" algn="ctr">
                        <a:defRPr/>
                      </a:pPr>
                      <a:r>
                        <a:rPr sz="1200" b="0">
                          <a:solidFill>
                            <a:schemeClr val="lt1"/>
                          </a:solidFill>
                          <a:latin typeface="맑은 고딕"/>
                        </a:rPr>
                        <a:t>29</a:t>
                      </a:r>
                      <a:endParaRPr sz="1200" b="0">
                        <a:solidFill>
                          <a:schemeClr val="lt1"/>
                        </a:solidFill>
                        <a:latin typeface="맑은 고딕"/>
                      </a:endParaRPr>
                    </a:p>
                  </a:txBody>
                  <a:tcPr marL="91440" marR="91440" marT="25000" marB="25000" anchor="ctr">
                    <a:solidFill>
                      <a:srgbClr val="101833"/>
                    </a:solidFill>
                  </a:tcPr>
                </a:tc>
                <a:tc>
                  <a:txBody>
                    <a:bodyPr vert="horz" lIns="91440" tIns="25000" rIns="91440" bIns="25000" anchor="ctr" anchorCtr="0"/>
                    <a:lstStyle/>
                    <a:p>
                      <a:pPr lvl="0" algn="ctr">
                        <a:defRPr/>
                      </a:pPr>
                      <a:r>
                        <a:rPr sz="1200" b="0">
                          <a:solidFill>
                            <a:schemeClr val="lt1"/>
                          </a:solidFill>
                          <a:latin typeface="맑은 고딕"/>
                        </a:rPr>
                        <a:t>—</a:t>
                      </a:r>
                      <a:endParaRPr sz="1200" b="0">
                        <a:solidFill>
                          <a:schemeClr val="lt1"/>
                        </a:solidFill>
                        <a:latin typeface="맑은 고딕"/>
                      </a:endParaRPr>
                    </a:p>
                  </a:txBody>
                  <a:tcPr marL="91440" marR="91440" marT="25000" marB="25000" anchor="ctr">
                    <a:solidFill>
                      <a:srgbClr val="101833"/>
                    </a:solidFill>
                  </a:tcPr>
                </a:tc>
              </a:tr>
            </a:tbl>
          </a:graphicData>
        </a:graphic>
      </p:graphicFrame>
      <p:sp>
        <p:nvSpPr>
          <p:cNvPr id="76" name="TextBox 105"/>
          <p:cNvSpPr txBox="1"/>
          <p:nvPr/>
        </p:nvSpPr>
        <p:spPr>
          <a:xfrm>
            <a:off x="2221845" y="4726807"/>
            <a:ext cx="6300000" cy="243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sz="1000" i="1">
                <a:solidFill>
                  <a:schemeClr val="dk1"/>
                </a:solidFill>
                <a:latin typeface="맑은 고딕"/>
              </a:rPr>
              <a:t>* 근사치는 learning curve 그래프 최종 지점 판독값 · K-Fold 값은 kfold_results.csv 기준 정확한 수치</a:t>
            </a:r>
            <a:endParaRPr sz="1000" i="1">
              <a:solidFill>
                <a:schemeClr val="dk1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308488928"/>
      </p:ext>
    </p:extLst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2" name="Google Shape;82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3" name="Google Shape;83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98;p17"/>
          <p:cNvSpPr/>
          <p:nvPr/>
        </p:nvSpPr>
        <p:spPr>
          <a:xfrm>
            <a:off x="7807225" y="31762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10" name="Google Shape;99;p17"/>
          <p:cNvSpPr/>
          <p:nvPr/>
        </p:nvSpPr>
        <p:spPr>
          <a:xfrm>
            <a:off x="7807225" y="512662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11" name="Google Shape;100;p17"/>
          <p:cNvSpPr/>
          <p:nvPr/>
        </p:nvSpPr>
        <p:spPr>
          <a:xfrm>
            <a:off x="7807225" y="993562"/>
            <a:ext cx="335700" cy="335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chemeClr val="dk1"/>
              </a:solidFill>
            </a:endParaRPr>
          </a:p>
        </p:txBody>
      </p:sp>
      <p:cxnSp>
        <p:nvCxnSpPr>
          <p:cNvPr id="112" name="Google Shape;101;p17"/>
          <p:cNvCxnSpPr/>
          <p:nvPr/>
        </p:nvCxnSpPr>
        <p:spPr>
          <a:xfrm rot="10800000">
            <a:off x="-731099" y="-103712"/>
            <a:ext cx="0" cy="21525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sp>
        <p:nvSpPr>
          <p:cNvPr id="113" name="Google Shape;102;p17"/>
          <p:cNvSpPr txBox="1"/>
          <p:nvPr/>
        </p:nvSpPr>
        <p:spPr>
          <a:xfrm>
            <a:off x="1422000" y="376287"/>
            <a:ext cx="6150000" cy="5544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500" b="1">
                <a:solidFill>
                  <a:schemeClr val="dk1"/>
                </a:solidFill>
                <a:latin typeface="맑은 고딕"/>
              </a:rPr>
              <a:t>결과 분석 및 해석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4" name="Google Shape;103;p17"/>
          <p:cNvSpPr txBox="1"/>
          <p:nvPr/>
        </p:nvSpPr>
        <p:spPr>
          <a:xfrm>
            <a:off x="1422000" y="1176287"/>
            <a:ext cx="6300000" cy="15451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500">
                <a:solidFill>
                  <a:schemeClr val="dk1"/>
                </a:solidFill>
                <a:latin typeface="맑은 고딕"/>
              </a:rPr>
              <a:t>단일 split loss(0.13대)와 K-Fold 평균(0.25) 직접 비교 불가</a:t>
            </a:r>
            <a:endParaRPr sz="1500">
              <a:solidFill>
                <a:schemeClr val="dk1"/>
              </a:solidFill>
              <a:latin typeface="맑은 고딕"/>
            </a:endParaRPr>
          </a:p>
          <a:p>
            <a:pPr marL="228600" lvl="0" indent="-228600" algn="l"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500">
                <a:solidFill>
                  <a:schemeClr val="dk1"/>
                </a:solidFill>
                <a:latin typeface="맑은 고딕"/>
              </a:rPr>
              <a:t>Baseline vs Merged 동일 K-Fold 비교는 다음 과제</a:t>
            </a:r>
            <a:endParaRPr sz="1500">
              <a:solidFill>
                <a:schemeClr val="dk1"/>
              </a:solidFill>
              <a:latin typeface="맑은 고딕"/>
            </a:endParaRPr>
          </a:p>
          <a:p>
            <a:pPr marL="228600" lvl="0" indent="-228600" algn="l"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500">
                <a:solidFill>
                  <a:schemeClr val="dk1"/>
                </a:solidFill>
                <a:latin typeface="맑은 고딕"/>
              </a:rPr>
              <a:t>일부 checkpoint 손상 확인 → 재현성 관리 필요</a:t>
            </a:r>
            <a:endParaRPr sz="1500">
              <a:solidFill>
                <a:schemeClr val="dk1"/>
              </a:solidFill>
              <a:latin typeface="맑은 고딕"/>
            </a:endParaRPr>
          </a:p>
          <a:p>
            <a:pPr marL="228600" lvl="0" indent="-228600" algn="l"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500">
                <a:solidFill>
                  <a:schemeClr val="dk1"/>
                </a:solidFill>
                <a:latin typeface="맑은 고딕"/>
              </a:rPr>
              <a:t>Test 3행·정답 없음 → 성능 지표로 사용 불가</a:t>
            </a:r>
            <a:endParaRPr sz="1500">
              <a:solidFill>
                <a:schemeClr val="dk1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328658497"/>
      </p:ext>
    </p:extLst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2" name="Google Shape;82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3" name="Google Shape;83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98;p17"/>
          <p:cNvSpPr/>
          <p:nvPr/>
        </p:nvSpPr>
        <p:spPr>
          <a:xfrm>
            <a:off x="7807225" y="1354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10" name="Google Shape;99;p17"/>
          <p:cNvSpPr/>
          <p:nvPr/>
        </p:nvSpPr>
        <p:spPr>
          <a:xfrm>
            <a:off x="7807225" y="6163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11" name="Google Shape;100;p17"/>
          <p:cNvSpPr/>
          <p:nvPr/>
        </p:nvSpPr>
        <p:spPr>
          <a:xfrm>
            <a:off x="7807225" y="1097275"/>
            <a:ext cx="335700" cy="335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chemeClr val="dk1"/>
              </a:solidFill>
            </a:endParaRPr>
          </a:p>
        </p:txBody>
      </p:sp>
      <p:cxnSp>
        <p:nvCxnSpPr>
          <p:cNvPr id="112" name="Google Shape;101;p17"/>
          <p:cNvCxnSpPr/>
          <p:nvPr/>
        </p:nvCxnSpPr>
        <p:spPr>
          <a:xfrm rot="10800000">
            <a:off x="-731099" y="0"/>
            <a:ext cx="0" cy="21525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sp>
        <p:nvSpPr>
          <p:cNvPr id="113" name="Google Shape;102;p17"/>
          <p:cNvSpPr txBox="1"/>
          <p:nvPr/>
        </p:nvSpPr>
        <p:spPr>
          <a:xfrm>
            <a:off x="1422000" y="480000"/>
            <a:ext cx="6150000" cy="5544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500" b="1">
                <a:solidFill>
                  <a:schemeClr val="dk1"/>
                </a:solidFill>
                <a:latin typeface="맑은 고딕"/>
              </a:rPr>
              <a:t>현재 한계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4" name="Google Shape;103;p17"/>
          <p:cNvSpPr txBox="1"/>
          <p:nvPr/>
        </p:nvSpPr>
        <p:spPr>
          <a:xfrm>
            <a:off x="1421999" y="1280000"/>
            <a:ext cx="6300000" cy="19261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500">
                <a:solidFill>
                  <a:schemeClr val="dk1"/>
                </a:solidFill>
                <a:latin typeface="맑은 고딕"/>
              </a:rPr>
              <a:t>ResNet18 단일 backbone, 대형 모델 비교 없음</a:t>
            </a:r>
            <a:endParaRPr sz="1500">
              <a:solidFill>
                <a:schemeClr val="dk1"/>
              </a:solidFill>
              <a:latin typeface="맑은 고딕"/>
            </a:endParaRPr>
          </a:p>
          <a:p>
            <a:pPr marL="228600" lvl="0" indent="-228600" algn="l"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500">
                <a:solidFill>
                  <a:schemeClr val="dk1"/>
                </a:solidFill>
                <a:latin typeface="맑은 고딕"/>
              </a:rPr>
              <a:t>GNN·Multi-modal 미적용</a:t>
            </a:r>
            <a:endParaRPr sz="1500">
              <a:solidFill>
                <a:schemeClr val="dk1"/>
              </a:solidFill>
              <a:latin typeface="맑은 고딕"/>
            </a:endParaRPr>
          </a:p>
          <a:p>
            <a:pPr marL="228600" lvl="0" indent="-228600" algn="l"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500">
                <a:solidFill>
                  <a:schemeClr val="dk1"/>
                </a:solidFill>
                <a:latin typeface="맑은 고딕"/>
              </a:rPr>
              <a:t>GroupKFold 미적용 (표준 KFold만 사용)</a:t>
            </a:r>
            <a:endParaRPr sz="1500">
              <a:solidFill>
                <a:schemeClr val="dk1"/>
              </a:solidFill>
              <a:latin typeface="맑은 고딕"/>
            </a:endParaRPr>
          </a:p>
          <a:p>
            <a:pPr marL="228600" lvl="0" indent="-228600" algn="l"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500">
                <a:solidFill>
                  <a:schemeClr val="dk1"/>
                </a:solidFill>
                <a:latin typeface="맑은 고딕"/>
              </a:rPr>
              <a:t>Density / Rg 등 일부 물성 라벨 부족</a:t>
            </a:r>
            <a:endParaRPr sz="1500">
              <a:solidFill>
                <a:schemeClr val="dk1"/>
              </a:solidFill>
              <a:latin typeface="맑은 고딕"/>
            </a:endParaRPr>
          </a:p>
          <a:p>
            <a:pPr marL="228600" lvl="0" indent="-228600" algn="l"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500">
                <a:solidFill>
                  <a:schemeClr val="dk1"/>
                </a:solidFill>
                <a:latin typeface="맑은 고딕"/>
              </a:rPr>
              <a:t>wMAE(대회 공식 지표) 미산출</a:t>
            </a:r>
            <a:endParaRPr sz="1500">
              <a:solidFill>
                <a:schemeClr val="dk1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685796499"/>
      </p:ext>
    </p:extLst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65" name="Google Shape;65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66" name="Google Shape;66;p13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98;p17"/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9" name="Google Shape;99;p17"/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70" name="Google Shape;100;p17"/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chemeClr val="dk1"/>
              </a:solidFill>
            </a:endParaRPr>
          </a:p>
        </p:txBody>
      </p:sp>
      <p:cxnSp>
        <p:nvCxnSpPr>
          <p:cNvPr id="71" name="Google Shape;101;p17"/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sp>
        <p:nvSpPr>
          <p:cNvPr id="72" name="Google Shape;102;p17"/>
          <p:cNvSpPr txBox="1"/>
          <p:nvPr/>
        </p:nvSpPr>
        <p:spPr>
          <a:xfrm>
            <a:off x="2300000" y="480000"/>
            <a:ext cx="6150000" cy="5544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500" b="1">
                <a:solidFill>
                  <a:schemeClr val="dk1"/>
                </a:solidFill>
                <a:latin typeface="맑은 고딕"/>
              </a:rPr>
              <a:t>향후 연구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3" name="Google Shape;103;p17"/>
          <p:cNvSpPr txBox="1"/>
          <p:nvPr/>
        </p:nvSpPr>
        <p:spPr>
          <a:xfrm>
            <a:off x="2299999" y="1280000"/>
            <a:ext cx="6300000" cy="19261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500">
                <a:solidFill>
                  <a:schemeClr val="dk1"/>
                </a:solidFill>
                <a:latin typeface="맑은 고딕"/>
              </a:rPr>
              <a:t>① Grad-CAM → 예측 근거 시각화</a:t>
            </a:r>
            <a:endParaRPr sz="1500">
              <a:solidFill>
                <a:schemeClr val="dk1"/>
              </a:solidFill>
              <a:latin typeface="맑은 고딕"/>
            </a:endParaRPr>
          </a:p>
          <a:p>
            <a:pPr marL="228600" lvl="0" indent="-228600" algn="l"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500">
                <a:solidFill>
                  <a:schemeClr val="dk1"/>
                </a:solidFill>
                <a:latin typeface="맑은 고딕"/>
              </a:rPr>
              <a:t>② Baseline vs Merged 동일 K-Fold 재비교</a:t>
            </a:r>
            <a:endParaRPr sz="1500">
              <a:solidFill>
                <a:schemeClr val="dk1"/>
              </a:solidFill>
              <a:latin typeface="맑은 고딕"/>
            </a:endParaRPr>
          </a:p>
          <a:p>
            <a:pPr marL="228600" lvl="0" indent="-228600" algn="l"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500">
                <a:solidFill>
                  <a:schemeClr val="dk1"/>
                </a:solidFill>
                <a:latin typeface="맑은 고딕"/>
              </a:rPr>
              <a:t>③ GroupKFold, Hyperparameter Tuning</a:t>
            </a:r>
            <a:endParaRPr sz="1500">
              <a:solidFill>
                <a:schemeClr val="dk1"/>
              </a:solidFill>
              <a:latin typeface="맑은 고딕"/>
            </a:endParaRPr>
          </a:p>
          <a:p>
            <a:pPr marL="228600" lvl="0" indent="-228600" algn="l"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500">
                <a:solidFill>
                  <a:schemeClr val="dk1"/>
                </a:solidFill>
                <a:latin typeface="맑은 고딕"/>
              </a:rPr>
              <a:t>④ Ensemble, Test-Time Augmentation</a:t>
            </a:r>
            <a:endParaRPr sz="1500">
              <a:solidFill>
                <a:schemeClr val="dk1"/>
              </a:solidFill>
              <a:latin typeface="맑은 고딕"/>
            </a:endParaRPr>
          </a:p>
          <a:p>
            <a:pPr marL="228600" lvl="0" indent="-228600" algn="l">
              <a:spcAft>
                <a:spcPts val="1200"/>
              </a:spcAft>
              <a:buClr>
                <a:srgbClr val="6e8bf2"/>
              </a:buClr>
              <a:buFont typeface="Arial"/>
              <a:buChar char="•"/>
              <a:defRPr/>
            </a:pPr>
            <a:r>
              <a:rPr sz="1500">
                <a:solidFill>
                  <a:schemeClr val="dk1"/>
                </a:solidFill>
                <a:latin typeface="맑은 고딕"/>
              </a:rPr>
              <a:t>⑤ GNN 결합 Multi-modal → Virtual Screening</a:t>
            </a:r>
            <a:endParaRPr sz="1500">
              <a:solidFill>
                <a:schemeClr val="dk1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490404494"/>
      </p:ext>
    </p:extLst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1926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1049750" y="3137425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7"/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1" name="Google Shape;101;p17"/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" name="Google Shape;103;p17"/>
          <p:cNvSpPr txBox="1"/>
          <p:nvPr/>
        </p:nvSpPr>
        <p:spPr>
          <a:xfrm>
            <a:off x="1421999" y="1842554"/>
            <a:ext cx="6300000" cy="734896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Clr>
                <a:srgbClr val="6e8bf2"/>
              </a:buClr>
              <a:buFont typeface="Arial"/>
              <a:buNone/>
              <a:defRPr/>
            </a:pPr>
            <a:r>
              <a:rPr lang="ko-KR" altLang="en-US" sz="3600" b="1">
                <a:solidFill>
                  <a:srgbClr val="d8dce8"/>
                </a:solidFill>
                <a:latin typeface="나눔고딕 ExtraBold"/>
                <a:ea typeface="나눔고딕 ExtraBold"/>
              </a:rPr>
              <a:t>감사합니다</a:t>
            </a:r>
            <a:r>
              <a:rPr lang="en-US" altLang="ko-KR" sz="3600">
                <a:solidFill>
                  <a:srgbClr val="d8dce8"/>
                </a:solidFill>
                <a:latin typeface="맑은 고딕"/>
              </a:rPr>
              <a:t>.</a:t>
            </a:r>
            <a:endParaRPr lang="en-US" altLang="ko-KR" sz="3600">
              <a:solidFill>
                <a:srgbClr val="d8dce8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545</ep:Words>
  <ep:PresentationFormat/>
  <ep:Paragraphs>160</ep:Paragraphs>
  <ep:Slides>18</ep:Slides>
  <ep:Notes>17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ep:HeadingPairs>
  <ep:TitlesOfParts>
    <vt:vector size="19" baseType="lpstr">
      <vt:lpstr>Simple Light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hyoli</cp:lastModifiedBy>
  <dcterms:modified xsi:type="dcterms:W3CDTF">2026-07-28T01:53:57.802</dcterms:modified>
  <cp:revision>37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