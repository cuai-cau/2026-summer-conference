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306" r:id="rId2"/>
    <p:sldId id="307" r:id="rId3"/>
    <p:sldId id="308" r:id="rId4"/>
    <p:sldId id="309" r:id="rId5"/>
    <p:sldId id="311" r:id="rId6"/>
    <p:sldId id="312" r:id="rId7"/>
    <p:sldId id="313" r:id="rId8"/>
    <p:sldId id="314" r:id="rId9"/>
    <p:sldId id="316" r:id="rId10"/>
    <p:sldId id="315" r:id="rId11"/>
    <p:sldId id="317" r:id="rId12"/>
    <p:sldId id="318" r:id="rId13"/>
    <p:sldId id="319" r:id="rId14"/>
    <p:sldId id="321" r:id="rId15"/>
    <p:sldId id="320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8" userDrawn="1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9186" autoAdjust="0"/>
  </p:normalViewPr>
  <p:slideViewPr>
    <p:cSldViewPr>
      <p:cViewPr>
        <p:scale>
          <a:sx n="100" d="100"/>
          <a:sy n="100" d="100"/>
        </p:scale>
        <p:origin x="898" y="67"/>
      </p:cViewPr>
      <p:guideLst>
        <p:guide orient="horz" pos="286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5F2E4-D778-4CDC-807E-54973432608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45CC9-2E51-45EE-B842-531A1DD207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92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912" y="250281"/>
            <a:ext cx="62166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92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8737"/>
            <a:ext cx="1060037" cy="29347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685224" y="135475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335699" y="335699"/>
                </a:moveTo>
                <a:lnTo>
                  <a:pt x="0" y="335699"/>
                </a:lnTo>
                <a:lnTo>
                  <a:pt x="0" y="0"/>
                </a:lnTo>
                <a:lnTo>
                  <a:pt x="335699" y="0"/>
                </a:lnTo>
                <a:lnTo>
                  <a:pt x="335699" y="335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685224" y="135475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685224" y="6163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685224" y="10972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6899" y="0"/>
            <a:ext cx="0" cy="2152650"/>
          </a:xfrm>
          <a:custGeom>
            <a:avLst/>
            <a:gdLst/>
            <a:ahLst/>
            <a:cxnLst/>
            <a:rect l="l" t="t" r="r" b="b"/>
            <a:pathLst>
              <a:path h="2152650">
                <a:moveTo>
                  <a:pt x="0" y="2152499"/>
                </a:moveTo>
                <a:lnTo>
                  <a:pt x="0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42600" y="1335110"/>
            <a:ext cx="3203575" cy="3332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01650" y="1022136"/>
            <a:ext cx="3434079" cy="3451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08737"/>
            <a:ext cx="1060037" cy="293476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685224" y="135475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85224" y="6163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335699" y="335699"/>
                </a:moveTo>
                <a:lnTo>
                  <a:pt x="0" y="335699"/>
                </a:lnTo>
                <a:lnTo>
                  <a:pt x="0" y="0"/>
                </a:lnTo>
                <a:lnTo>
                  <a:pt x="335699" y="0"/>
                </a:lnTo>
                <a:lnTo>
                  <a:pt x="335699" y="335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685224" y="6163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685224" y="10972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6899" y="0"/>
            <a:ext cx="0" cy="2152650"/>
          </a:xfrm>
          <a:custGeom>
            <a:avLst/>
            <a:gdLst/>
            <a:ahLst/>
            <a:cxnLst/>
            <a:rect l="l" t="t" r="r" b="b"/>
            <a:pathLst>
              <a:path h="2152650">
                <a:moveTo>
                  <a:pt x="0" y="2152499"/>
                </a:moveTo>
                <a:lnTo>
                  <a:pt x="0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0050" y="211800"/>
            <a:ext cx="7420609" cy="4719955"/>
          </a:xfrm>
          <a:custGeom>
            <a:avLst/>
            <a:gdLst/>
            <a:ahLst/>
            <a:cxnLst/>
            <a:rect l="l" t="t" r="r" b="b"/>
            <a:pathLst>
              <a:path w="7420609" h="4719955">
                <a:moveTo>
                  <a:pt x="7420499" y="4719899"/>
                </a:moveTo>
                <a:lnTo>
                  <a:pt x="0" y="4719899"/>
                </a:lnTo>
                <a:lnTo>
                  <a:pt x="0" y="0"/>
                </a:lnTo>
                <a:lnTo>
                  <a:pt x="7420499" y="0"/>
                </a:lnTo>
                <a:lnTo>
                  <a:pt x="7420499" y="4719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776" y="83124"/>
            <a:ext cx="5076190" cy="1076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9249" y="1262099"/>
            <a:ext cx="4288155" cy="3415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12774" y="2658342"/>
            <a:ext cx="5140425" cy="89511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ko-KR" altLang="en-US" sz="2500" b="1" dirty="0">
                <a:solidFill>
                  <a:srgbClr val="19264B"/>
                </a:solidFill>
                <a:latin typeface="Arial"/>
                <a:cs typeface="Arial"/>
              </a:rPr>
              <a:t>강화학습으로 </a:t>
            </a:r>
            <a:r>
              <a:rPr lang="ko-KR" altLang="en-US" sz="2500" b="1" dirty="0" err="1">
                <a:solidFill>
                  <a:srgbClr val="19264B"/>
                </a:solidFill>
                <a:latin typeface="Arial"/>
                <a:cs typeface="Arial"/>
              </a:rPr>
              <a:t>스피드런</a:t>
            </a:r>
            <a:r>
              <a:rPr lang="ko-KR" altLang="en-US" sz="2500" b="1" dirty="0">
                <a:solidFill>
                  <a:srgbClr val="19264B"/>
                </a:solidFill>
                <a:latin typeface="Arial"/>
                <a:cs typeface="Arial"/>
              </a:rPr>
              <a:t> 세계 기록 달성하기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1987" y="4480949"/>
            <a:ext cx="346402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100" dirty="0">
                <a:latin typeface="Malgun Gothic"/>
                <a:cs typeface="Malgun Gothic"/>
              </a:rPr>
              <a:t>팀 명</a:t>
            </a:r>
            <a:r>
              <a:rPr lang="en-US" altLang="ko-KR" sz="1100" dirty="0">
                <a:latin typeface="Malgun Gothic"/>
                <a:cs typeface="Malgun Gothic"/>
              </a:rPr>
              <a:t>: CV 2</a:t>
            </a:r>
            <a:r>
              <a:rPr lang="ko-KR" altLang="en-US" sz="1100" dirty="0">
                <a:latin typeface="Malgun Gothic"/>
                <a:cs typeface="Malgun Gothic"/>
              </a:rPr>
              <a:t>팀</a:t>
            </a:r>
            <a:endParaRPr sz="1100" dirty="0">
              <a:latin typeface="Malgun Gothic"/>
              <a:cs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4135D3-0A13-0376-7896-CCEB77668107}"/>
              </a:ext>
            </a:extLst>
          </p:cNvPr>
          <p:cNvSpPr txBox="1"/>
          <p:nvPr/>
        </p:nvSpPr>
        <p:spPr>
          <a:xfrm>
            <a:off x="1385010" y="3542029"/>
            <a:ext cx="4087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Achieving World Record on Speed Run Using RL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CB08C-CC33-2AB2-AB3A-74F25EA36361}"/>
              </a:ext>
            </a:extLst>
          </p:cNvPr>
          <p:cNvSpPr txBox="1"/>
          <p:nvPr/>
        </p:nvSpPr>
        <p:spPr>
          <a:xfrm>
            <a:off x="1312064" y="133350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2026.07.29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9" name="제목 8">
            <a:extLst>
              <a:ext uri="{FF2B5EF4-FFF2-40B4-BE49-F238E27FC236}">
                <a16:creationId xmlns:a16="http://schemas.microsoft.com/office/drawing/2014/main" id="{35434E1F-5041-8864-1D1B-45CAE881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24" y="133350"/>
            <a:ext cx="5076190" cy="338554"/>
          </a:xfrm>
        </p:spPr>
        <p:txBody>
          <a:bodyPr/>
          <a:lstStyle/>
          <a:p>
            <a:r>
              <a:rPr lang="en-US" altLang="ko-KR" dirty="0"/>
              <a:t>What is Speed Run?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9CEF5-1CC5-4F08-95B9-E55461EA6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08" r="39459"/>
          <a:stretch>
            <a:fillRect/>
          </a:stretch>
        </p:blipFill>
        <p:spPr>
          <a:xfrm>
            <a:off x="3124200" y="819150"/>
            <a:ext cx="3810001" cy="3887307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4DF583C-3CE0-6EEE-2290-29D1DECDF8D3}"/>
              </a:ext>
            </a:extLst>
          </p:cNvPr>
          <p:cNvSpPr/>
          <p:nvPr/>
        </p:nvSpPr>
        <p:spPr>
          <a:xfrm>
            <a:off x="5562600" y="3817620"/>
            <a:ext cx="6096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7601-B117-FE6E-1BEA-20E651C1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58FAB1D-0BEC-3AB9-4983-91A408E1455C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BE5F1F4-3DF4-1962-A4C7-D026B58AB014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291CFB-5DD2-BEF3-3B92-902AAE0A2A40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D650E85-C11F-287B-DF40-AB749E3D91F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8" name="그림 7" descr="QWOP - 나무위키">
            <a:extLst>
              <a:ext uri="{FF2B5EF4-FFF2-40B4-BE49-F238E27FC236}">
                <a16:creationId xmlns:a16="http://schemas.microsoft.com/office/drawing/2014/main" id="{18D0B2EC-C41E-1909-D3A3-470E074BB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047750"/>
            <a:ext cx="5252532" cy="3267075"/>
          </a:xfrm>
          <a:prstGeom prst="rect">
            <a:avLst/>
          </a:prstGeom>
        </p:spPr>
      </p:pic>
      <p:sp>
        <p:nvSpPr>
          <p:cNvPr id="10" name="제목 8">
            <a:extLst>
              <a:ext uri="{FF2B5EF4-FFF2-40B4-BE49-F238E27FC236}">
                <a16:creationId xmlns:a16="http://schemas.microsoft.com/office/drawing/2014/main" id="{9D230DCE-3C37-361B-BCD5-75FC8E830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24" y="133350"/>
            <a:ext cx="5076190" cy="338554"/>
          </a:xfrm>
        </p:spPr>
        <p:txBody>
          <a:bodyPr/>
          <a:lstStyle/>
          <a:p>
            <a:r>
              <a:rPr lang="en-US" altLang="ko-KR" dirty="0"/>
              <a:t>QWOP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134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E4EA7-4F4E-3F06-FFB0-9B9C0E3D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8DB16D3-D283-3F5A-2CA9-23E6B9271336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F466CDA-E545-0901-E048-463F65DB0262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614D5D-E87D-EFC1-F37F-9C862332A101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A40E4BB-50BD-0967-1978-C2998D090E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6" name="그림 5" descr="강화 학습이란? - MATLAB &amp; Simulink">
            <a:extLst>
              <a:ext uri="{FF2B5EF4-FFF2-40B4-BE49-F238E27FC236}">
                <a16:creationId xmlns:a16="http://schemas.microsoft.com/office/drawing/2014/main" id="{FF730C91-F195-0E36-C0F2-5B054DE46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42950"/>
            <a:ext cx="4638675" cy="3829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4C5DE9-D4DB-4FDC-195A-1695B4EBF490}"/>
              </a:ext>
            </a:extLst>
          </p:cNvPr>
          <p:cNvSpPr txBox="1"/>
          <p:nvPr/>
        </p:nvSpPr>
        <p:spPr>
          <a:xfrm>
            <a:off x="1524000" y="285750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Reinforcement Learning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34514-604C-C796-0254-C62494F880E3}"/>
              </a:ext>
            </a:extLst>
          </p:cNvPr>
          <p:cNvSpPr txBox="1"/>
          <p:nvPr/>
        </p:nvSpPr>
        <p:spPr>
          <a:xfrm>
            <a:off x="6659583" y="1598210"/>
            <a:ext cx="1768433" cy="211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Agent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Environment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State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Action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Reward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98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562BB-2900-BEEC-94DD-F7D51C50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3908A92-BB1B-6F94-D327-2803502A6507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09DE5FA-C804-4F0E-3825-A59A03F6C8A2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2C32FF1-D888-1300-3792-FCBC013B9A6C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5C6C6DF-5016-0796-D896-D097AD8F2D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제목 8">
            <a:extLst>
              <a:ext uri="{FF2B5EF4-FFF2-40B4-BE49-F238E27FC236}">
                <a16:creationId xmlns:a16="http://schemas.microsoft.com/office/drawing/2014/main" id="{CCBBCCA9-4514-C918-1E33-3D4C5B27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24" y="133350"/>
            <a:ext cx="5076190" cy="338554"/>
          </a:xfrm>
        </p:spPr>
        <p:txBody>
          <a:bodyPr/>
          <a:lstStyle/>
          <a:p>
            <a:r>
              <a:rPr lang="en-US" altLang="ko-KR" dirty="0"/>
              <a:t>Environment</a:t>
            </a:r>
            <a:endParaRPr lang="ko-KR" altLang="en-US" dirty="0"/>
          </a:p>
        </p:txBody>
      </p:sp>
      <p:pic>
        <p:nvPicPr>
          <p:cNvPr id="7" name="그림 6" descr="Gymnasium Logo">
            <a:extLst>
              <a:ext uri="{FF2B5EF4-FFF2-40B4-BE49-F238E27FC236}">
                <a16:creationId xmlns:a16="http://schemas.microsoft.com/office/drawing/2014/main" id="{254DC6EE-BB04-4A69-F79D-49343CAB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626344"/>
            <a:ext cx="3398044" cy="906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79204E-79C6-EE9D-5868-22B3E8B2EDF8}"/>
              </a:ext>
            </a:extLst>
          </p:cNvPr>
          <p:cNvSpPr txBox="1"/>
          <p:nvPr/>
        </p:nvSpPr>
        <p:spPr>
          <a:xfrm>
            <a:off x="5638800" y="1788215"/>
            <a:ext cx="32944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How far?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Number of Frame(how fast)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Feet on the ground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Body Center gravitation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BD56B-2AD5-60C2-9D47-B382E539416B}"/>
              </a:ext>
            </a:extLst>
          </p:cNvPr>
          <p:cNvSpPr txBox="1"/>
          <p:nvPr/>
        </p:nvSpPr>
        <p:spPr>
          <a:xfrm>
            <a:off x="4907739" y="91209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VS.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C097305-8522-EE24-AB5D-D6FD84813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868" y="1456289"/>
            <a:ext cx="1981200" cy="20298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256B8C-9C1D-FD45-AA37-63C9C90A40EA}"/>
              </a:ext>
            </a:extLst>
          </p:cNvPr>
          <p:cNvSpPr txBox="1"/>
          <p:nvPr/>
        </p:nvSpPr>
        <p:spPr>
          <a:xfrm>
            <a:off x="2099289" y="908284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Computer Vision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7FCA64F-825B-EFE8-EEC4-0677CA6AA465}"/>
              </a:ext>
            </a:extLst>
          </p:cNvPr>
          <p:cNvSpPr/>
          <p:nvPr/>
        </p:nvSpPr>
        <p:spPr>
          <a:xfrm>
            <a:off x="2514600" y="1769344"/>
            <a:ext cx="152400" cy="152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BBE0C1A-E000-E863-07F0-1C498BD5B192}"/>
              </a:ext>
            </a:extLst>
          </p:cNvPr>
          <p:cNvSpPr/>
          <p:nvPr/>
        </p:nvSpPr>
        <p:spPr>
          <a:xfrm>
            <a:off x="2598420" y="1845544"/>
            <a:ext cx="152400" cy="152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9F445F1-E4EA-847E-FE8E-5DDE0D0737CF}"/>
              </a:ext>
            </a:extLst>
          </p:cNvPr>
          <p:cNvSpPr/>
          <p:nvPr/>
        </p:nvSpPr>
        <p:spPr>
          <a:xfrm>
            <a:off x="2979268" y="2157890"/>
            <a:ext cx="152400" cy="152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ACDCA3C-DD10-4AB7-12DF-1878D6309D0E}"/>
              </a:ext>
            </a:extLst>
          </p:cNvPr>
          <p:cNvCxnSpPr>
            <a:stCxn id="15" idx="4"/>
          </p:cNvCxnSpPr>
          <p:nvPr/>
        </p:nvCxnSpPr>
        <p:spPr>
          <a:xfrm>
            <a:off x="2674620" y="1997944"/>
            <a:ext cx="0" cy="473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F5DE362-F21D-3859-DED2-9D4465D1DC09}"/>
              </a:ext>
            </a:extLst>
          </p:cNvPr>
          <p:cNvCxnSpPr/>
          <p:nvPr/>
        </p:nvCxnSpPr>
        <p:spPr>
          <a:xfrm>
            <a:off x="2590800" y="1940720"/>
            <a:ext cx="0" cy="473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CA99282-348D-37D0-E18B-F6A6A12312A5}"/>
              </a:ext>
            </a:extLst>
          </p:cNvPr>
          <p:cNvCxnSpPr/>
          <p:nvPr/>
        </p:nvCxnSpPr>
        <p:spPr>
          <a:xfrm>
            <a:off x="3055468" y="2310290"/>
            <a:ext cx="0" cy="473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 descr="Communication">
            <a:extLst>
              <a:ext uri="{FF2B5EF4-FFF2-40B4-BE49-F238E27FC236}">
                <a16:creationId xmlns:a16="http://schemas.microsoft.com/office/drawing/2014/main" id="{DC7FE823-FE79-F1ED-ED4C-B67C2F140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3690145"/>
            <a:ext cx="658177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E78A-061E-0918-9891-BB3A645E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264D5C9-80DA-763A-7E4C-BEA5748399AA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84658FC-5F59-F480-F78A-D8822C93FC78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73DB04-8AF1-629F-F839-65F3B7DB6742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B75C507-D0F6-84D4-A546-88D96EEC67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D214C0BD-8AFC-0CA7-26E5-78E944C5A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731807"/>
            <a:ext cx="4968671" cy="685859"/>
          </a:xfrm>
          <a:prstGeom prst="rect">
            <a:avLst/>
          </a:prstGeom>
        </p:spPr>
      </p:pic>
      <p:sp>
        <p:nvSpPr>
          <p:cNvPr id="10" name="제목 8">
            <a:extLst>
              <a:ext uri="{FF2B5EF4-FFF2-40B4-BE49-F238E27FC236}">
                <a16:creationId xmlns:a16="http://schemas.microsoft.com/office/drawing/2014/main" id="{6E3A18A8-2B42-E025-6306-14E5B909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24" y="133350"/>
            <a:ext cx="5076190" cy="338554"/>
          </a:xfrm>
        </p:spPr>
        <p:txBody>
          <a:bodyPr/>
          <a:lstStyle/>
          <a:p>
            <a:r>
              <a:rPr lang="en-US" altLang="ko-KR" dirty="0"/>
              <a:t>Action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47F495-7D37-4A89-43B9-5F05D11C0828}"/>
              </a:ext>
            </a:extLst>
          </p:cNvPr>
          <p:cNvSpPr txBox="1"/>
          <p:nvPr/>
        </p:nvSpPr>
        <p:spPr>
          <a:xfrm>
            <a:off x="3962400" y="1417666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 Combinations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569BC-5B6B-DE65-F278-10FB20CE5B11}"/>
              </a:ext>
            </a:extLst>
          </p:cNvPr>
          <p:cNvSpPr txBox="1"/>
          <p:nvPr/>
        </p:nvSpPr>
        <p:spPr>
          <a:xfrm>
            <a:off x="1752600" y="1918859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- 1 integer variable[0, 15]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C797F7-9EE5-01E4-D51B-8618046E8882}"/>
              </a:ext>
            </a:extLst>
          </p:cNvPr>
          <p:cNvSpPr txBox="1"/>
          <p:nvPr/>
        </p:nvSpPr>
        <p:spPr>
          <a:xfrm>
            <a:off x="5410200" y="1907429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- 4 different Boolean variable</a:t>
            </a:r>
            <a:endParaRPr lang="ko-KR" altLang="en-US" dirty="0"/>
          </a:p>
        </p:txBody>
      </p:sp>
      <p:pic>
        <p:nvPicPr>
          <p:cNvPr id="18" name="그림 17" descr="QWOP - 나무위키">
            <a:extLst>
              <a:ext uri="{FF2B5EF4-FFF2-40B4-BE49-F238E27FC236}">
                <a16:creationId xmlns:a16="http://schemas.microsoft.com/office/drawing/2014/main" id="{9C338540-6090-F244-BA85-F3D700551D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51" t="22627"/>
          <a:stretch>
            <a:fillRect/>
          </a:stretch>
        </p:blipFill>
        <p:spPr>
          <a:xfrm>
            <a:off x="3541377" y="2705505"/>
            <a:ext cx="2915115" cy="13828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7473727-AD31-5C7E-29E0-2C1B30AB16A8}"/>
              </a:ext>
            </a:extLst>
          </p:cNvPr>
          <p:cNvSpPr txBox="1"/>
          <p:nvPr/>
        </p:nvSpPr>
        <p:spPr>
          <a:xfrm>
            <a:off x="3826177" y="4107418"/>
            <a:ext cx="234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Continuous Action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48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2373-1C2D-9475-D9EE-FB611A77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0A1887E-2613-DD29-4B39-B58F5B8762CA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E8F4812-EEDF-CBF1-9C50-33A177BE1DC6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DE149F5-770E-0D48-0B8A-10B39211D31C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84EA3D5-B700-3FDC-E7E7-0A952E6513F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제목 8">
            <a:extLst>
              <a:ext uri="{FF2B5EF4-FFF2-40B4-BE49-F238E27FC236}">
                <a16:creationId xmlns:a16="http://schemas.microsoft.com/office/drawing/2014/main" id="{DD3366AE-9D26-4605-3F3D-9F339FCE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24" y="133350"/>
            <a:ext cx="5076190" cy="338554"/>
          </a:xfrm>
        </p:spPr>
        <p:txBody>
          <a:bodyPr/>
          <a:lstStyle/>
          <a:p>
            <a:r>
              <a:rPr lang="en-US" altLang="ko-KR" dirty="0"/>
              <a:t>Algorithm 1. Deep Q-Network</a:t>
            </a:r>
            <a:endParaRPr lang="ko-KR" altLang="en-US" dirty="0"/>
          </a:p>
        </p:txBody>
      </p:sp>
      <p:pic>
        <p:nvPicPr>
          <p:cNvPr id="8" name="그림 7" descr="RL] 강화학습 알고리즘: (1) DQN (Deep Q-Network)">
            <a:extLst>
              <a:ext uri="{FF2B5EF4-FFF2-40B4-BE49-F238E27FC236}">
                <a16:creationId xmlns:a16="http://schemas.microsoft.com/office/drawing/2014/main" id="{F888D645-2C74-61AD-250C-0993F2673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833755"/>
            <a:ext cx="4191000" cy="27832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8A4E218-77FE-5CE3-30AA-90D92CF28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999" y="3705671"/>
            <a:ext cx="2217612" cy="1036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0B3EB5-3AD5-6AD4-995F-0B0E7EA8599C}"/>
              </a:ext>
            </a:extLst>
          </p:cNvPr>
          <p:cNvSpPr txBox="1"/>
          <p:nvPr/>
        </p:nvSpPr>
        <p:spPr>
          <a:xfrm>
            <a:off x="5021391" y="4099560"/>
            <a:ext cx="3089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Too much memory usage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    For continuous action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510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BAF74-DA56-EC89-0473-48F99462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E2BA63A-062A-FFE5-4DC3-01F204D47208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7F6988E-A458-83AA-F52C-114C8F0FFF7C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234255D-F280-64B9-1E8C-A8F1AE055649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6865FB2-200D-2F9E-6814-1A8CDEEF567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제목 8">
            <a:extLst>
              <a:ext uri="{FF2B5EF4-FFF2-40B4-BE49-F238E27FC236}">
                <a16:creationId xmlns:a16="http://schemas.microsoft.com/office/drawing/2014/main" id="{52A8DA0A-6612-9848-2999-30512726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24" y="133350"/>
            <a:ext cx="6742276" cy="677108"/>
          </a:xfrm>
        </p:spPr>
        <p:txBody>
          <a:bodyPr/>
          <a:lstStyle/>
          <a:p>
            <a:r>
              <a:rPr lang="en-US" altLang="ko-KR" dirty="0"/>
              <a:t>Algorithm 2. Proximal Policy Optimization(PPO)</a:t>
            </a:r>
            <a:endParaRPr lang="ko-KR" altLang="en-US" dirty="0"/>
          </a:p>
        </p:txBody>
      </p:sp>
      <p:pic>
        <p:nvPicPr>
          <p:cNvPr id="7" name="그림 6" descr="RL] 강화학습 알고리즘: (5) PPO">
            <a:extLst>
              <a:ext uri="{FF2B5EF4-FFF2-40B4-BE49-F238E27FC236}">
                <a16:creationId xmlns:a16="http://schemas.microsoft.com/office/drawing/2014/main" id="{A1E0D179-2E45-EC1C-C265-8475732FE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90550"/>
            <a:ext cx="4495254" cy="28432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D9496EC-28FF-2FB0-2546-C4F8AF65E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3433763"/>
            <a:ext cx="4286516" cy="4792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CC5822-0AA4-3F2C-0386-4698EA0DB5AF}"/>
              </a:ext>
            </a:extLst>
          </p:cNvPr>
          <p:cNvSpPr txBox="1"/>
          <p:nvPr/>
        </p:nvSpPr>
        <p:spPr>
          <a:xfrm>
            <a:off x="6248400" y="3524256"/>
            <a:ext cx="2733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en-US" altLang="ko-KR" sz="1400" dirty="0"/>
              <a:t>Lowers the degree of update 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7AAC5-39C4-595B-23A8-89F93D9A2434}"/>
              </a:ext>
            </a:extLst>
          </p:cNvPr>
          <p:cNvSpPr txBox="1"/>
          <p:nvPr/>
        </p:nvSpPr>
        <p:spPr>
          <a:xfrm>
            <a:off x="1676400" y="4019550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On-Policy: 1experiment, 1 optimization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E31D79-0697-E48B-80AE-59032184D3E5}"/>
              </a:ext>
            </a:extLst>
          </p:cNvPr>
          <p:cNvSpPr txBox="1"/>
          <p:nvPr/>
        </p:nvSpPr>
        <p:spPr>
          <a:xfrm>
            <a:off x="6248400" y="40157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ym typeface="Wingdings" panose="05000000000000000000" pitchFamily="2" charset="2"/>
              </a:rPr>
              <a:t> Lower memory usage 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DCFF8-06B2-34C2-AC5B-A800A82B6E73}"/>
              </a:ext>
            </a:extLst>
          </p:cNvPr>
          <p:cNvSpPr txBox="1"/>
          <p:nvPr/>
        </p:nvSpPr>
        <p:spPr>
          <a:xfrm>
            <a:off x="3743632" y="4518660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- 1 integer variable[0, 15]</a:t>
            </a:r>
            <a:endParaRPr lang="ko-KR" altLang="en-US" dirty="0"/>
          </a:p>
        </p:txBody>
      </p:sp>
      <p:sp>
        <p:nvSpPr>
          <p:cNvPr id="16" name="곱하기 기호 15">
            <a:extLst>
              <a:ext uri="{FF2B5EF4-FFF2-40B4-BE49-F238E27FC236}">
                <a16:creationId xmlns:a16="http://schemas.microsoft.com/office/drawing/2014/main" id="{ABDA821E-18FB-BF3C-FD98-6455B14A379A}"/>
              </a:ext>
            </a:extLst>
          </p:cNvPr>
          <p:cNvSpPr/>
          <p:nvPr/>
        </p:nvSpPr>
        <p:spPr>
          <a:xfrm>
            <a:off x="4083214" y="4323517"/>
            <a:ext cx="1828800" cy="677108"/>
          </a:xfrm>
          <a:prstGeom prst="mathMultiply">
            <a:avLst>
              <a:gd name="adj1" fmla="val 1001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71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5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C362B-84CF-5F6D-2799-004F0095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B367590-C124-67BF-80F8-80057CA6C52D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3CBC782-22DE-29C1-D3F4-451332578AC0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6C15348-90D8-2D77-C97A-6323089A0EDC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7F20D48-8F7A-269E-4172-2E07009C2AD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제목 8">
            <a:extLst>
              <a:ext uri="{FF2B5EF4-FFF2-40B4-BE49-F238E27FC236}">
                <a16:creationId xmlns:a16="http://schemas.microsoft.com/office/drawing/2014/main" id="{207DA89F-BFCE-682F-3F4E-BEA2AAC4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24" y="133350"/>
            <a:ext cx="5076190" cy="338554"/>
          </a:xfrm>
        </p:spPr>
        <p:txBody>
          <a:bodyPr/>
          <a:lstStyle/>
          <a:p>
            <a:r>
              <a:rPr lang="en-US" altLang="ko-KR" dirty="0"/>
              <a:t>Challenge 1. Regulation Setting</a:t>
            </a:r>
            <a:endParaRPr lang="ko-KR" altLang="en-US" dirty="0"/>
          </a:p>
        </p:txBody>
      </p:sp>
      <p:pic>
        <p:nvPicPr>
          <p:cNvPr id="9" name="비디오 8">
            <a:hlinkClick r:id="" action="ppaction://media"/>
            <a:extLst>
              <a:ext uri="{FF2B5EF4-FFF2-40B4-BE49-F238E27FC236}">
                <a16:creationId xmlns:a16="http://schemas.microsoft.com/office/drawing/2014/main" id="{AD47A30F-E629-60A6-A725-4BA8EF4DED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63027" y="971550"/>
            <a:ext cx="4191000" cy="25164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A56462-9603-B60E-53D1-F14A50A24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585048"/>
            <a:ext cx="1958510" cy="3124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9C0515-678E-8BAA-7805-75954A640A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061186"/>
            <a:ext cx="2461473" cy="2819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8B3B6A-72A0-01EC-2EF0-50D4B8F1D203}"/>
              </a:ext>
            </a:extLst>
          </p:cNvPr>
          <p:cNvSpPr txBox="1"/>
          <p:nvPr/>
        </p:nvSpPr>
        <p:spPr>
          <a:xfrm>
            <a:off x="6096000" y="977428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Set Reward Function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F7CBD97-108C-FB5E-620A-E25011106B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506841"/>
            <a:ext cx="2324301" cy="2895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E687491-53E0-DCA0-9780-40A80C035ABC}"/>
              </a:ext>
            </a:extLst>
          </p:cNvPr>
          <p:cNvSpPr txBox="1"/>
          <p:nvPr/>
        </p:nvSpPr>
        <p:spPr>
          <a:xfrm>
            <a:off x="2288788" y="3499434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 Trap in local minima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F6641C-6069-C59D-C73E-495F47ACBC56}"/>
              </a:ext>
            </a:extLst>
          </p:cNvPr>
          <p:cNvSpPr txBox="1"/>
          <p:nvPr/>
        </p:nvSpPr>
        <p:spPr>
          <a:xfrm>
            <a:off x="6096000" y="3130102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Hyperparameter Tuning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969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2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E8C7-9A4E-08AE-C68A-300FE6D9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59E762B-9BB7-F09F-0717-DF20E3293AB2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B4280A1-7773-736A-5279-2D87CBF978F3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2E4B098-3393-22B8-90AD-B271DF7B26E3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E557C2C-DAA8-DCCB-CF92-F085D8D1C2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래픽 6" descr="다항식 - 위키백과, 우리 모두의 백과사전">
            <a:extLst>
              <a:ext uri="{FF2B5EF4-FFF2-40B4-BE49-F238E27FC236}">
                <a16:creationId xmlns:a16="http://schemas.microsoft.com/office/drawing/2014/main" id="{9178984C-0F08-0524-A719-5704138B5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0200" y="895350"/>
            <a:ext cx="1828800" cy="1828800"/>
          </a:xfrm>
          <a:prstGeom prst="rect">
            <a:avLst/>
          </a:prstGeom>
        </p:spPr>
      </p:pic>
      <p:sp>
        <p:nvSpPr>
          <p:cNvPr id="10" name="제목 8">
            <a:extLst>
              <a:ext uri="{FF2B5EF4-FFF2-40B4-BE49-F238E27FC236}">
                <a16:creationId xmlns:a16="http://schemas.microsoft.com/office/drawing/2014/main" id="{2F1D126D-090A-542A-914D-ED37DB8DF90E}"/>
              </a:ext>
            </a:extLst>
          </p:cNvPr>
          <p:cNvSpPr txBox="1">
            <a:spLocks/>
          </p:cNvSpPr>
          <p:nvPr/>
        </p:nvSpPr>
        <p:spPr>
          <a:xfrm>
            <a:off x="1334924" y="133350"/>
            <a:ext cx="507619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en-US" altLang="ko-KR" dirty="0"/>
              <a:t>Challenge 1. Regulation Setting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D508C3-C32F-A10F-4729-93A12AA7C328}"/>
              </a:ext>
            </a:extLst>
          </p:cNvPr>
          <p:cNvSpPr txBox="1"/>
          <p:nvPr/>
        </p:nvSpPr>
        <p:spPr>
          <a:xfrm>
            <a:off x="3581400" y="920849"/>
            <a:ext cx="409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Task: To approximate optimal function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6E23BA0-065B-95A2-79B8-1A92C6F1F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294040"/>
            <a:ext cx="5281203" cy="38502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5A9AD56-12EB-2A4F-5187-F48D29C3E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732" y="1679264"/>
            <a:ext cx="1452535" cy="23172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1B7D06D-84D0-36BB-9448-E6228A2E3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5732" y="2149495"/>
            <a:ext cx="1825560" cy="2091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5819D40-1A80-2D3D-2D2F-18F7E3017C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8112" y="2609451"/>
            <a:ext cx="1723826" cy="21477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888C22-C3D8-299C-17A2-6224AF4E0E25}"/>
              </a:ext>
            </a:extLst>
          </p:cNvPr>
          <p:cNvSpPr txBox="1"/>
          <p:nvPr/>
        </p:nvSpPr>
        <p:spPr>
          <a:xfrm>
            <a:off x="6172200" y="2033369"/>
            <a:ext cx="2383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Applying Heuristic </a:t>
            </a:r>
            <a:br>
              <a:rPr lang="en-US" altLang="ko-KR" dirty="0"/>
            </a:br>
            <a:r>
              <a:rPr lang="en-US" altLang="ko-KR" dirty="0"/>
              <a:t>     based on its goal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C2E035-D9A4-4287-B869-1B3FC8536183}"/>
              </a:ext>
            </a:extLst>
          </p:cNvPr>
          <p:cNvSpPr txBox="1"/>
          <p:nvPr/>
        </p:nvSpPr>
        <p:spPr>
          <a:xfrm>
            <a:off x="1676400" y="4035779"/>
            <a:ext cx="3711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Our goal is to get a ‘World Record’</a:t>
            </a:r>
          </a:p>
          <a:p>
            <a:r>
              <a:rPr lang="en-US" altLang="ko-KR" dirty="0"/>
              <a:t>Which we don’t know how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0E994C-57B2-AD29-BBBD-9B6B78F9DC9F}"/>
              </a:ext>
            </a:extLst>
          </p:cNvPr>
          <p:cNvSpPr/>
          <p:nvPr/>
        </p:nvSpPr>
        <p:spPr>
          <a:xfrm>
            <a:off x="3733800" y="1581150"/>
            <a:ext cx="4822386" cy="1426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1D2D0BF-CADB-3AA4-624F-C65D1281F38C}"/>
              </a:ext>
            </a:extLst>
          </p:cNvPr>
          <p:cNvSpPr/>
          <p:nvPr/>
        </p:nvSpPr>
        <p:spPr>
          <a:xfrm>
            <a:off x="5671292" y="3943350"/>
            <a:ext cx="3015508" cy="990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Impossible to establish feasibility of any instructions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31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EA19-F4CE-180C-79E9-02611E0D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4BC8317-07D0-DD57-7737-756E560A4DE7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7C1EBD6-8AF2-16DB-E8D1-1DB3F4A2A48D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4E93B9-29A3-0E0A-DC6A-554F0B5203AD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1F77526-B718-4081-DD49-F7C8793DBC6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7" name="제목 8">
            <a:extLst>
              <a:ext uri="{FF2B5EF4-FFF2-40B4-BE49-F238E27FC236}">
                <a16:creationId xmlns:a16="http://schemas.microsoft.com/office/drawing/2014/main" id="{38D247E2-C3F7-5511-70F4-1252C0D4672F}"/>
              </a:ext>
            </a:extLst>
          </p:cNvPr>
          <p:cNvSpPr txBox="1">
            <a:spLocks/>
          </p:cNvSpPr>
          <p:nvPr/>
        </p:nvSpPr>
        <p:spPr>
          <a:xfrm>
            <a:off x="1334924" y="133350"/>
            <a:ext cx="507619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en-US" altLang="ko-KR" dirty="0"/>
              <a:t>Challenge 2. Ensuring Continuity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183C97-C490-CBBC-D849-9B2244F215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09" y="752312"/>
            <a:ext cx="3429000" cy="137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7F51F2-CB99-37F2-3A43-80ECAB6A9ECF}"/>
              </a:ext>
            </a:extLst>
          </p:cNvPr>
          <p:cNvSpPr txBox="1"/>
          <p:nvPr/>
        </p:nvSpPr>
        <p:spPr>
          <a:xfrm>
            <a:off x="2133600" y="2131532"/>
            <a:ext cx="2279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&gt; Key log of World Record</a:t>
            </a:r>
            <a:endParaRPr lang="ko-KR" altLang="en-US" sz="1400" dirty="0"/>
          </a:p>
        </p:txBody>
      </p:sp>
      <p:pic>
        <p:nvPicPr>
          <p:cNvPr id="11" name="비디오 8">
            <a:hlinkClick r:id="" action="ppaction://media"/>
            <a:extLst>
              <a:ext uri="{FF2B5EF4-FFF2-40B4-BE49-F238E27FC236}">
                <a16:creationId xmlns:a16="http://schemas.microsoft.com/office/drawing/2014/main" id="{723A6F0B-BD1F-150A-0237-5CF1D9FBE0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42660" y="742157"/>
            <a:ext cx="2529827" cy="151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77F987-2C55-7403-D1A9-C0E5FF85B5BA}"/>
              </a:ext>
            </a:extLst>
          </p:cNvPr>
          <p:cNvSpPr txBox="1"/>
          <p:nvPr/>
        </p:nvSpPr>
        <p:spPr>
          <a:xfrm>
            <a:off x="5915991" y="2266950"/>
            <a:ext cx="2656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&gt; Short period of pressing keys</a:t>
            </a:r>
            <a:endParaRPr lang="ko-KR" altLang="en-US" sz="1400" dirty="0"/>
          </a:p>
        </p:txBody>
      </p:sp>
      <p:sp>
        <p:nvSpPr>
          <p:cNvPr id="13" name="화살표: 왼쪽/오른쪽 12">
            <a:extLst>
              <a:ext uri="{FF2B5EF4-FFF2-40B4-BE49-F238E27FC236}">
                <a16:creationId xmlns:a16="http://schemas.microsoft.com/office/drawing/2014/main" id="{9C0F0E36-D0A1-1221-FD63-C80D44E086B1}"/>
              </a:ext>
            </a:extLst>
          </p:cNvPr>
          <p:cNvSpPr/>
          <p:nvPr/>
        </p:nvSpPr>
        <p:spPr>
          <a:xfrm>
            <a:off x="5125641" y="1212325"/>
            <a:ext cx="710086" cy="451574"/>
          </a:xfrm>
          <a:prstGeom prst="leftRightArrow">
            <a:avLst>
              <a:gd name="adj1" fmla="val 50000"/>
              <a:gd name="adj2" fmla="val 361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D2DC3A2-EA56-20FA-1F5C-901AA17006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6814" y="3084954"/>
            <a:ext cx="2964372" cy="3693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FC9F858-464C-F77C-CBEE-65DCCC098D0B}"/>
              </a:ext>
            </a:extLst>
          </p:cNvPr>
          <p:cNvSpPr txBox="1"/>
          <p:nvPr/>
        </p:nvSpPr>
        <p:spPr>
          <a:xfrm>
            <a:off x="1600200" y="2704192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Set Reward Function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04CB9E-9061-23A9-ACB8-00179D6FBDB0}"/>
              </a:ext>
            </a:extLst>
          </p:cNvPr>
          <p:cNvSpPr txBox="1"/>
          <p:nvPr/>
        </p:nvSpPr>
        <p:spPr>
          <a:xfrm>
            <a:off x="1602859" y="364323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Chage Action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335C24-E2AC-4873-EA28-7D75A9968582}"/>
              </a:ext>
            </a:extLst>
          </p:cNvPr>
          <p:cNvSpPr txBox="1"/>
          <p:nvPr/>
        </p:nvSpPr>
        <p:spPr>
          <a:xfrm>
            <a:off x="1850208" y="4012562"/>
            <a:ext cx="5386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 integer variable </a:t>
            </a:r>
            <a:r>
              <a:rPr lang="en-US" altLang="ko-KR" dirty="0">
                <a:sym typeface="Wingdings" panose="05000000000000000000" pitchFamily="2" charset="2"/>
              </a:rPr>
              <a:t> how long to press each button</a:t>
            </a:r>
            <a:endParaRPr lang="ko-KR" altLang="en-US" dirty="0"/>
          </a:p>
        </p:txBody>
      </p:sp>
      <p:sp>
        <p:nvSpPr>
          <p:cNvPr id="19" name="웃는 얼굴 18">
            <a:extLst>
              <a:ext uri="{FF2B5EF4-FFF2-40B4-BE49-F238E27FC236}">
                <a16:creationId xmlns:a16="http://schemas.microsoft.com/office/drawing/2014/main" id="{0E919A9E-AAA6-4C6F-600A-E673D5593408}"/>
              </a:ext>
            </a:extLst>
          </p:cNvPr>
          <p:cNvSpPr/>
          <p:nvPr/>
        </p:nvSpPr>
        <p:spPr>
          <a:xfrm>
            <a:off x="3388512" y="3727058"/>
            <a:ext cx="304800" cy="292492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852706-FCE6-E253-0D9C-BD3D3BB2DCBC}"/>
              </a:ext>
            </a:extLst>
          </p:cNvPr>
          <p:cNvSpPr txBox="1"/>
          <p:nvPr/>
        </p:nvSpPr>
        <p:spPr>
          <a:xfrm>
            <a:off x="1838764" y="4327959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(Now we are solving discrete problem)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957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2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 mute="1">
                <p:cTn id="30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16" grpId="0"/>
      <p:bldP spid="17" grpId="0"/>
      <p:bldP spid="18" grpId="0"/>
      <p:bldP spid="19" grpId="0" animBg="1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D2DE6-C2F1-722C-36C4-AAB09EBD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9C25753-7560-0245-DB94-3A1A108A2D95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5490040-F3F2-2943-EC56-666A7F8DFBCC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226E94D-3AB8-3D8F-8BB8-D1CD087993BD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1E23214-9DA6-764A-7AA1-A335C9F3D10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9" name="제목 8">
            <a:extLst>
              <a:ext uri="{FF2B5EF4-FFF2-40B4-BE49-F238E27FC236}">
                <a16:creationId xmlns:a16="http://schemas.microsoft.com/office/drawing/2014/main" id="{FC8DD3F3-3977-216B-A697-D4987338ABDB}"/>
              </a:ext>
            </a:extLst>
          </p:cNvPr>
          <p:cNvSpPr txBox="1">
            <a:spLocks/>
          </p:cNvSpPr>
          <p:nvPr/>
        </p:nvSpPr>
        <p:spPr>
          <a:xfrm>
            <a:off x="1334924" y="133350"/>
            <a:ext cx="507619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en-US" altLang="ko-KR" dirty="0"/>
              <a:t>Training</a:t>
            </a:r>
            <a:endParaRPr lang="ko-KR" altLang="en-US" dirty="0"/>
          </a:p>
        </p:txBody>
      </p:sp>
      <p:pic>
        <p:nvPicPr>
          <p:cNvPr id="10" name="그림 9" descr="play">
            <a:extLst>
              <a:ext uri="{FF2B5EF4-FFF2-40B4-BE49-F238E27FC236}">
                <a16:creationId xmlns:a16="http://schemas.microsoft.com/office/drawing/2014/main" id="{2017D87A-9E61-7179-DA36-B3ED78795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060" y="590550"/>
            <a:ext cx="3319727" cy="426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1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EF30-0553-5DD8-1BB2-F567BFF3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D05264-0D13-1B30-D912-721F886B1ADD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E2AE56B-0EBD-C87A-9A3D-9FAB656A86C6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381C7C5-5EB7-BB55-E65E-4A65E114A4B9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F657BD7-6C78-B640-C591-8CDD25EE5F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8" name="제목 8">
            <a:extLst>
              <a:ext uri="{FF2B5EF4-FFF2-40B4-BE49-F238E27FC236}">
                <a16:creationId xmlns:a16="http://schemas.microsoft.com/office/drawing/2014/main" id="{2882CE8D-6F78-107B-7389-1305BF112B7F}"/>
              </a:ext>
            </a:extLst>
          </p:cNvPr>
          <p:cNvSpPr txBox="1">
            <a:spLocks/>
          </p:cNvSpPr>
          <p:nvPr/>
        </p:nvSpPr>
        <p:spPr>
          <a:xfrm>
            <a:off x="1334924" y="133350"/>
            <a:ext cx="507619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en-US" altLang="ko-KR" dirty="0"/>
              <a:t>Inverse Reinforcement Learning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543149-932B-8D4D-9917-40D5DFE980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897676"/>
            <a:ext cx="3028950" cy="12115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F329D9-31C8-69CA-42B1-D66594ACA759}"/>
              </a:ext>
            </a:extLst>
          </p:cNvPr>
          <p:cNvSpPr txBox="1"/>
          <p:nvPr/>
        </p:nvSpPr>
        <p:spPr>
          <a:xfrm>
            <a:off x="2133600" y="2131532"/>
            <a:ext cx="2279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&gt; Key log of World Record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A90F77-7B72-3C74-EB3F-5D6928FEAF27}"/>
              </a:ext>
            </a:extLst>
          </p:cNvPr>
          <p:cNvSpPr txBox="1"/>
          <p:nvPr/>
        </p:nvSpPr>
        <p:spPr>
          <a:xfrm>
            <a:off x="1788074" y="3784159"/>
            <a:ext cx="60965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Tasks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Setting video, game frame identical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Solve Distribution Shift problem(Not good for new env)</a:t>
            </a:r>
            <a:endParaRPr lang="ko-KR" altLang="en-US" dirty="0"/>
          </a:p>
        </p:txBody>
      </p:sp>
      <p:pic>
        <p:nvPicPr>
          <p:cNvPr id="14" name="그림 13" descr="05. [Imitation] Inverse Reinforcement Learning - Deep Learning Bible - 5.  Reinforcement Learning - 한글">
            <a:extLst>
              <a:ext uri="{FF2B5EF4-FFF2-40B4-BE49-F238E27FC236}">
                <a16:creationId xmlns:a16="http://schemas.microsoft.com/office/drawing/2014/main" id="{121417BE-6AD9-80E1-6FF1-CF136F9E7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830" y="893866"/>
            <a:ext cx="3951243" cy="12857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86878E-A93E-33AF-DC14-F368CFF47807}"/>
              </a:ext>
            </a:extLst>
          </p:cNvPr>
          <p:cNvSpPr txBox="1"/>
          <p:nvPr/>
        </p:nvSpPr>
        <p:spPr>
          <a:xfrm>
            <a:off x="6858000" y="2218923"/>
            <a:ext cx="1064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&gt; Structure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62AD74-D213-9FDE-B77B-06C9A742AD66}"/>
              </a:ext>
            </a:extLst>
          </p:cNvPr>
          <p:cNvSpPr/>
          <p:nvPr/>
        </p:nvSpPr>
        <p:spPr>
          <a:xfrm>
            <a:off x="2820030" y="2737350"/>
            <a:ext cx="4419600" cy="729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Strongly fit to World Record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524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B242-2040-7348-1930-249FAD3D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183ADB5-138C-D235-C87C-C30B1B510960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473E47F-1F95-873F-90FE-2579CF1894C5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B4D475C-B716-FD6D-D96D-83D29F5A54E2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102573D-1E02-6D59-2244-C3F9B18772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3326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D644-F6A6-1A8D-6FC7-1F84B35F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017A078-C120-FB9B-DFDE-C5F0E8E76EAF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FD07AEF-4CBF-4BD9-B4EA-EDA538089BC4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9F0C27E-E701-7B14-C758-220F4D633E9C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5257146-501B-5252-FE32-B366DD947B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CB32B1-5D35-A07D-3758-D8A1374692B9}"/>
              </a:ext>
            </a:extLst>
          </p:cNvPr>
          <p:cNvSpPr txBox="1"/>
          <p:nvPr/>
        </p:nvSpPr>
        <p:spPr>
          <a:xfrm>
            <a:off x="3429000" y="2647950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Still working on it..!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7026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73ED-6A36-867F-6F74-E31A05D7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76F4FA3-76CC-DD21-250F-2F4F23C88278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4332A7D-9A3A-52E5-1256-DC7BCCF703DB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1072AA6-8971-5E12-0C73-1305C68350CC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9492028-C41F-1B92-DCBF-FC71AF8646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7831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9C08-3876-BBD8-F6AE-CDDD5F1A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AF4D83-3543-C962-77F0-5F76712FDD31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AF0047A-CAE6-8C45-A2AC-71B21F813BF1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D873820-D8CD-8E61-ED6B-CADC201E3D76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68DA1FB-0BAA-55BB-9D70-E2E040AE2C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583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BD3D8-3607-A848-607D-853983E0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89F219A-68F7-5273-831D-C19A227C4912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245BCBE-C01A-99CF-3C81-A640273879B5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8BE82B9-EE35-A493-515A-A54725EA0973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521CEB8-EFF3-3C94-806E-9903DF69B3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6083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0397-1887-D2AA-DA03-EE601E6C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B26C3C-0477-19F6-1685-B8F70A51352F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24557A4-C365-48E9-511B-5A05F98564EA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9F6EC25-CC50-02AA-767B-FE325E094823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3B1C558-E5FE-0410-BB3B-6430254224A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9710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22173-E508-87EE-E3A2-EF3868E8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CE8A46F-6C39-719A-4B1F-F0339238327C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2BEC7E0-80E1-2236-5AD1-20DB7443AADF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8022D4E-2637-1495-47C8-E46CF1B5F681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84E0EB1-0ABB-A7BA-9680-ED20832D9CA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3875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53D4-6DCD-90A4-67E0-8FD6E941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8EFCAAB-8BE7-AE63-D55E-7AB6FBAB87BE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9989B5A-0ACE-823B-7BD4-A5F972375F33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ECFE26C-C10C-6BA3-95F4-842A6E3E379B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22247E1-AC0E-058A-C5EC-98FAF769D5C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4717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C495-1F6A-A26C-EF0F-16114A15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CBAAFE5-B7E8-8738-2CE9-9A6990AF0C55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CB54BD6-A1CE-B10A-F4B6-A4B2ABFEF557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9C11CEE-0A9C-5380-304A-A40601E7605D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7538DEF-83FE-A2B5-CEF5-6308DD3717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2323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025E-DD49-5009-89C1-6F5B4F92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9282F5B-B58D-69BE-662A-4B3671A39451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6221090-34B8-8C4B-53C2-BAFC1B397A07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988E0B9-1907-C031-B713-2880C43B3233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DDEFD95-F147-A7E3-28AC-6B7E70417A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0394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6AFD-D708-D4E6-B4EB-7ACEDDB39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1BA52AE-3EAB-2FA8-6EAC-F430A77B610C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37905A6-9AB3-B1F9-4660-217EB389DD83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47B7A5E-F263-20E3-D4F7-752AD966B235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19A6AFA-79C2-C127-CEE4-12A4DD86D4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0326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E973-D496-9347-87D6-98230E77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9EE3785-CB94-E335-3370-FBB6F8D4A6C3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4D86E18-5575-51EC-D801-698C7E10A589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1FDC81-F918-5E19-6DEC-2A2EC194FE2E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1B062B5-C551-6796-3B06-0C7AB054963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010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9A8C-EDB1-809B-2708-A925C69C4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CDB812C-EF03-8968-5515-375A60C99D62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2009D9B-9765-4153-6EC0-4F82D57C19B1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0516453-9C1F-4045-24EF-B832CC6156C6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953EB49-70D7-DB55-2B6F-C6D91F6DC1B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6161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68C20-F0E8-C3B0-4BDB-B371608D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7F008AE-EB49-D8DF-E1C3-2B2B5B3775CE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6D7F965-DF04-DF0E-7D7B-CD93280854D4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6BABCDD-7BF8-2715-28F1-4FBCAC920230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9789C1B-3218-0592-BF3E-B04566EBEBA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6214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004D-DF2E-E979-22D1-63BC803B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4644EF5-17B4-EAB8-38EE-98CC8F90E0E2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02C7FC4-FD01-5CA2-B319-8B3F6447FDB2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443AB83-DB6C-1D4D-22D8-E7BFCCB0BA0E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D939E4E-8F8E-6B7A-D764-A57C4D0B0A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065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</TotalTime>
  <Words>267</Words>
  <Application>Microsoft Office PowerPoint</Application>
  <PresentationFormat>화면 슬라이드 쇼(16:9)</PresentationFormat>
  <Paragraphs>58</Paragraphs>
  <Slides>28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Arial MT</vt:lpstr>
      <vt:lpstr>맑은 고딕</vt:lpstr>
      <vt:lpstr>맑은 고딕</vt:lpstr>
      <vt:lpstr>Arial</vt:lpstr>
      <vt:lpstr>Calibri</vt:lpstr>
      <vt:lpstr>Wingdings</vt:lpstr>
      <vt:lpstr>Office Theme</vt:lpstr>
      <vt:lpstr>PowerPoint 프레젠테이션</vt:lpstr>
      <vt:lpstr>What is Speed Run?</vt:lpstr>
      <vt:lpstr>QWOP</vt:lpstr>
      <vt:lpstr>PowerPoint 프레젠테이션</vt:lpstr>
      <vt:lpstr>Environment</vt:lpstr>
      <vt:lpstr>Action</vt:lpstr>
      <vt:lpstr>Algorithm 1. Deep Q-Network</vt:lpstr>
      <vt:lpstr>Algorithm 2. Proximal Policy Optimization(PPO)</vt:lpstr>
      <vt:lpstr>Challenge 1. Regulation Setting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0303 OT</dc:title>
  <cp:lastModifiedBy>찬진 주</cp:lastModifiedBy>
  <cp:revision>4</cp:revision>
  <dcterms:created xsi:type="dcterms:W3CDTF">2026-05-19T16:25:40Z</dcterms:created>
  <dcterms:modified xsi:type="dcterms:W3CDTF">2026-07-28T09:46:45Z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2026-05-19T00:00:00Z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2026-05-19T00:00:00Z</vt:filetime>
  </property>
</Properties>
</file>