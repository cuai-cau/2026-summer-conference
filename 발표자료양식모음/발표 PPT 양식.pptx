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5143500" cx="9144000"/>
  <p:notesSz cx="6858000" cy="9144000"/>
  <p:embeddedFontLst>
    <p:embeddedFont>
      <p:font typeface="NanumGothicExtraBold"/>
      <p:bold r:id="rId11"/>
    </p:embeddedFont>
    <p:embeddedFont>
      <p:font typeface="Nanum Gothic"/>
      <p:regular r:id="rId12"/>
      <p:bold r:id="rId1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NanumGothicExtraBold-bold.fntdata"/><Relationship Id="rId10" Type="http://schemas.openxmlformats.org/officeDocument/2006/relationships/slide" Target="slides/slide5.xml"/><Relationship Id="rId13" Type="http://schemas.openxmlformats.org/officeDocument/2006/relationships/font" Target="fonts/NanumGothic-bold.fntdata"/><Relationship Id="rId12" Type="http://schemas.openxmlformats.org/officeDocument/2006/relationships/font" Target="fonts/NanumGothic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26accca8d1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26accca8d1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여기부터는 스터디 발표에 쓰이는 PPT 슬라이드입니다!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6accca8d11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6accca8d11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이렇게 스터디원들을 만나 공부하신 사진을 넣어주시고 만남 인증을 해주세요!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비대면일 경우 화면 캡처를 이용해주시면 됩니다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지난 기수에서는 이걸 많이 까먹고 안올리셔서 전반적으로 스터디 참여가 저조했던 면이 있었는데, 스터디의 원활한 유지를 위해 꼭 잊지말고 첨부해주시면 감사하겠습니다!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26accca8d11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26accca8d11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6accca8d11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26accca8d11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1176d744966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1176d744966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  <p:sp>
        <p:nvSpPr>
          <p:cNvPr id="44" name="Google Shape;44;p10"/>
          <p:cNvSpPr/>
          <p:nvPr/>
        </p:nvSpPr>
        <p:spPr>
          <a:xfrm>
            <a:off x="-8275" y="-84750"/>
            <a:ext cx="9254700" cy="5231400"/>
          </a:xfrm>
          <a:prstGeom prst="rect">
            <a:avLst/>
          </a:prstGeom>
          <a:solidFill>
            <a:srgbClr val="19264B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45" name="Google Shape;45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5400000">
            <a:off x="-1049750" y="3137425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10"/>
          <p:cNvSpPr/>
          <p:nvPr/>
        </p:nvSpPr>
        <p:spPr>
          <a:xfrm>
            <a:off x="8685225" y="135475"/>
            <a:ext cx="335700" cy="335700"/>
          </a:xfrm>
          <a:prstGeom prst="rect">
            <a:avLst/>
          </a:prstGeom>
          <a:noFill/>
          <a:ln cap="flat" cmpd="sng" w="381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10"/>
          <p:cNvSpPr/>
          <p:nvPr/>
        </p:nvSpPr>
        <p:spPr>
          <a:xfrm>
            <a:off x="8685225" y="616375"/>
            <a:ext cx="335700" cy="3357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10"/>
          <p:cNvSpPr/>
          <p:nvPr/>
        </p:nvSpPr>
        <p:spPr>
          <a:xfrm>
            <a:off x="8685225" y="1097275"/>
            <a:ext cx="335700" cy="335700"/>
          </a:xfrm>
          <a:prstGeom prst="rect">
            <a:avLst/>
          </a:prstGeom>
          <a:noFill/>
          <a:ln cap="flat" cmpd="sng" w="381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9" name="Google Shape;49;p10"/>
          <p:cNvCxnSpPr/>
          <p:nvPr/>
        </p:nvCxnSpPr>
        <p:spPr>
          <a:xfrm rot="10800000">
            <a:off x="146900" y="0"/>
            <a:ext cx="0" cy="2152500"/>
          </a:xfrm>
          <a:prstGeom prst="straightConnector1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0" name="Google Shape;50;p10"/>
          <p:cNvSpPr/>
          <p:nvPr/>
        </p:nvSpPr>
        <p:spPr>
          <a:xfrm>
            <a:off x="1060050" y="211800"/>
            <a:ext cx="7420500" cy="4719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10"/>
          <p:cNvSpPr txBox="1"/>
          <p:nvPr/>
        </p:nvSpPr>
        <p:spPr>
          <a:xfrm>
            <a:off x="1469575" y="510025"/>
            <a:ext cx="147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10"/>
          <p:cNvSpPr txBox="1"/>
          <p:nvPr/>
        </p:nvSpPr>
        <p:spPr>
          <a:xfrm>
            <a:off x="146888" y="59400"/>
            <a:ext cx="1129500" cy="178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800">
                <a:solidFill>
                  <a:srgbClr val="9E9E9E"/>
                </a:solidFill>
                <a:latin typeface="Nanum Gothic"/>
                <a:ea typeface="Nanum Gothic"/>
                <a:cs typeface="Nanum Gothic"/>
                <a:sym typeface="Nanum Gothic"/>
              </a:rPr>
              <a:t>8</a:t>
            </a:r>
            <a:r>
              <a:rPr lang="ko" sz="800">
                <a:solidFill>
                  <a:srgbClr val="9E9E9E"/>
                </a:solidFill>
                <a:latin typeface="Nanum Gothic"/>
                <a:ea typeface="Nanum Gothic"/>
                <a:cs typeface="Nanum Gothic"/>
                <a:sym typeface="Nanum Gothic"/>
              </a:rPr>
              <a:t>기 활동 소개</a:t>
            </a:r>
            <a:endParaRPr sz="800">
              <a:solidFill>
                <a:srgbClr val="9E9E9E"/>
              </a:solidFill>
              <a:latin typeface="Nanum Gothic"/>
              <a:ea typeface="Nanum Gothic"/>
              <a:cs typeface="Nanum Gothic"/>
              <a:sym typeface="Nanum Gothic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" sz="800">
                <a:solidFill>
                  <a:srgbClr val="777777"/>
                </a:solidFill>
                <a:latin typeface="Nanum Gothic"/>
                <a:ea typeface="Nanum Gothic"/>
                <a:cs typeface="Nanum Gothic"/>
                <a:sym typeface="Nanum Gothic"/>
              </a:rPr>
              <a:t>9</a:t>
            </a:r>
            <a:r>
              <a:rPr b="1" lang="ko" sz="800">
                <a:solidFill>
                  <a:srgbClr val="777777"/>
                </a:solidFill>
                <a:latin typeface="Nanum Gothic"/>
                <a:ea typeface="Nanum Gothic"/>
                <a:cs typeface="Nanum Gothic"/>
                <a:sym typeface="Nanum Gothic"/>
              </a:rPr>
              <a:t>기 활동 안내</a:t>
            </a:r>
            <a:endParaRPr sz="800">
              <a:solidFill>
                <a:srgbClr val="9E9E9E"/>
              </a:solidFill>
              <a:latin typeface="Nanum Gothic"/>
              <a:ea typeface="Nanum Gothic"/>
              <a:cs typeface="Nanum Gothic"/>
              <a:sym typeface="Nanum Gothic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800">
                <a:solidFill>
                  <a:srgbClr val="9E9E9E"/>
                </a:solidFill>
                <a:latin typeface="Nanum Gothic"/>
                <a:ea typeface="Nanum Gothic"/>
                <a:cs typeface="Nanum Gothic"/>
                <a:sym typeface="Nanum Gothic"/>
              </a:rPr>
              <a:t>정기세션</a:t>
            </a:r>
            <a:endParaRPr sz="800">
              <a:solidFill>
                <a:srgbClr val="9E9E9E"/>
              </a:solidFill>
              <a:latin typeface="Nanum Gothic"/>
              <a:ea typeface="Nanum Gothic"/>
              <a:cs typeface="Nanum Gothic"/>
              <a:sym typeface="Nanum Gothic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800">
                <a:solidFill>
                  <a:srgbClr val="999999"/>
                </a:solidFill>
                <a:latin typeface="Nanum Gothic"/>
                <a:ea typeface="Nanum Gothic"/>
                <a:cs typeface="Nanum Gothic"/>
                <a:sym typeface="Nanum Gothic"/>
              </a:rPr>
              <a:t>CUAI Github</a:t>
            </a:r>
            <a:endParaRPr sz="800">
              <a:solidFill>
                <a:srgbClr val="999999"/>
              </a:solidFill>
              <a:latin typeface="Nanum Gothic"/>
              <a:ea typeface="Nanum Gothic"/>
              <a:cs typeface="Nanum Gothic"/>
              <a:sym typeface="Nanum Gothic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800">
                <a:solidFill>
                  <a:srgbClr val="9E9E9E"/>
                </a:solidFill>
                <a:latin typeface="Nanum Gothic"/>
                <a:ea typeface="Nanum Gothic"/>
                <a:cs typeface="Nanum Gothic"/>
                <a:sym typeface="Nanum Gothic"/>
              </a:rPr>
              <a:t>Basic Track</a:t>
            </a:r>
            <a:endParaRPr sz="800">
              <a:solidFill>
                <a:srgbClr val="9E9E9E"/>
              </a:solidFill>
              <a:latin typeface="Nanum Gothic"/>
              <a:ea typeface="Nanum Gothic"/>
              <a:cs typeface="Nanum Gothic"/>
              <a:sym typeface="Nanum Gothic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800">
                <a:solidFill>
                  <a:srgbClr val="9E9E9E"/>
                </a:solidFill>
                <a:latin typeface="Nanum Gothic"/>
                <a:ea typeface="Nanum Gothic"/>
                <a:cs typeface="Nanum Gothic"/>
                <a:sym typeface="Nanum Gothic"/>
              </a:rPr>
              <a:t>Advanced Track</a:t>
            </a:r>
            <a:endParaRPr sz="800">
              <a:solidFill>
                <a:srgbClr val="9E9E9E"/>
              </a:solidFill>
              <a:latin typeface="Nanum Gothic"/>
              <a:ea typeface="Nanum Gothic"/>
              <a:cs typeface="Nanum Gothic"/>
              <a:sym typeface="Nanum Gothic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800">
                <a:solidFill>
                  <a:srgbClr val="9E9E9E"/>
                </a:solidFill>
                <a:latin typeface="Nanum Gothic"/>
                <a:ea typeface="Nanum Gothic"/>
                <a:cs typeface="Nanum Gothic"/>
                <a:sym typeface="Nanum Gothic"/>
              </a:rPr>
              <a:t>스터디 소개</a:t>
            </a:r>
            <a:endParaRPr b="1" sz="800">
              <a:solidFill>
                <a:srgbClr val="9E9E9E"/>
              </a:solidFill>
              <a:latin typeface="Nanum Gothic"/>
              <a:ea typeface="Nanum Gothic"/>
              <a:cs typeface="Nanum Gothic"/>
              <a:sym typeface="Nanum Gothic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800">
                <a:solidFill>
                  <a:srgbClr val="9E9E9E"/>
                </a:solidFill>
                <a:latin typeface="Nanum Gothic"/>
                <a:ea typeface="Nanum Gothic"/>
                <a:cs typeface="Nanum Gothic"/>
                <a:sym typeface="Nanum Gothic"/>
              </a:rPr>
              <a:t>AI </a:t>
            </a:r>
            <a:r>
              <a:rPr b="1" lang="ko" sz="800">
                <a:solidFill>
                  <a:srgbClr val="9E9E9E"/>
                </a:solidFill>
                <a:latin typeface="Nanum Gothic"/>
                <a:ea typeface="Nanum Gothic"/>
                <a:cs typeface="Nanum Gothic"/>
                <a:sym typeface="Nanum Gothic"/>
              </a:rPr>
              <a:t>세미나 소개</a:t>
            </a:r>
            <a:endParaRPr sz="800">
              <a:solidFill>
                <a:srgbClr val="999999"/>
              </a:solidFill>
              <a:latin typeface="Nanum Gothic"/>
              <a:ea typeface="Nanum Gothic"/>
              <a:cs typeface="Nanum Gothic"/>
              <a:sym typeface="Nanum Gothic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800">
                <a:solidFill>
                  <a:srgbClr val="999999"/>
                </a:solidFill>
                <a:latin typeface="Nanum Gothic"/>
                <a:ea typeface="Nanum Gothic"/>
                <a:cs typeface="Nanum Gothic"/>
                <a:sym typeface="Nanum Gothic"/>
              </a:rPr>
              <a:t>CUAI 장학</a:t>
            </a:r>
            <a:r>
              <a:rPr lang="ko" sz="800">
                <a:solidFill>
                  <a:srgbClr val="999999"/>
                </a:solidFill>
                <a:latin typeface="Nanum Gothic"/>
                <a:ea typeface="Nanum Gothic"/>
                <a:cs typeface="Nanum Gothic"/>
                <a:sym typeface="Nanum Gothic"/>
              </a:rPr>
              <a:t>금</a:t>
            </a:r>
            <a:endParaRPr sz="800">
              <a:solidFill>
                <a:srgbClr val="999999"/>
              </a:solidFill>
              <a:latin typeface="Nanum Gothic"/>
              <a:ea typeface="Nanum Gothic"/>
              <a:cs typeface="Nanum Gothic"/>
              <a:sym typeface="Nanum Gothic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5" name="Google Shape;55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6" name="Google Shape;56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13"/>
          <p:cNvSpPr txBox="1"/>
          <p:nvPr/>
        </p:nvSpPr>
        <p:spPr>
          <a:xfrm>
            <a:off x="1339750" y="2710050"/>
            <a:ext cx="4979400" cy="153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2500">
                <a:solidFill>
                  <a:srgbClr val="19264B"/>
                </a:solidFill>
              </a:rPr>
              <a:t>CUAI 0팀</a:t>
            </a:r>
            <a:endParaRPr b="1" sz="2500">
              <a:solidFill>
                <a:srgbClr val="19264B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>
                <a:solidFill>
                  <a:srgbClr val="19264B"/>
                </a:solidFill>
              </a:rPr>
              <a:t>2025.03.04</a:t>
            </a:r>
            <a:endParaRPr>
              <a:solidFill>
                <a:srgbClr val="19264B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19264B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19264B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19264B"/>
                </a:solidFill>
              </a:rPr>
              <a:t>발표자 : 홍길동</a:t>
            </a:r>
            <a:endParaRPr sz="1100">
              <a:solidFill>
                <a:srgbClr val="19264B"/>
              </a:solidFill>
            </a:endParaRPr>
          </a:p>
        </p:txBody>
      </p:sp>
      <p:cxnSp>
        <p:nvCxnSpPr>
          <p:cNvPr id="65" name="Google Shape;65;p13"/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cap="flat" cmpd="sng" w="3810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6" name="Google Shape;66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72" name="Google Shape;72;p14"/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cap="flat" cmpd="sng" w="3810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73" name="Google Shape;73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14"/>
          <p:cNvSpPr/>
          <p:nvPr/>
        </p:nvSpPr>
        <p:spPr>
          <a:xfrm>
            <a:off x="1599250" y="1262100"/>
            <a:ext cx="4287600" cy="3414600"/>
          </a:xfrm>
          <a:prstGeom prst="rect">
            <a:avLst/>
          </a:prstGeom>
          <a:solidFill>
            <a:srgbClr val="EFEFEF"/>
          </a:solidFill>
          <a:ln cap="flat" cmpd="sng" w="38100">
            <a:solidFill>
              <a:srgbClr val="19264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/>
              <a:t>활동 사진이 있다면 사진을 넣어주세요.</a:t>
            </a:r>
            <a:endParaRPr sz="12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/>
              <a:t>(</a:t>
            </a:r>
            <a:r>
              <a:rPr lang="ko" sz="1200"/>
              <a:t>카카오톡 대화 </a:t>
            </a:r>
            <a:r>
              <a:rPr lang="ko" sz="1200"/>
              <a:t>화면 캡쳐 이용 </a:t>
            </a:r>
            <a:r>
              <a:rPr lang="ko" sz="1200"/>
              <a:t>가능</a:t>
            </a:r>
            <a:r>
              <a:rPr lang="ko" sz="1200"/>
              <a:t>)</a:t>
            </a:r>
            <a:endParaRPr sz="1200"/>
          </a:p>
        </p:txBody>
      </p:sp>
      <p:sp>
        <p:nvSpPr>
          <p:cNvPr id="75" name="Google Shape;75;p14"/>
          <p:cNvSpPr txBox="1"/>
          <p:nvPr/>
        </p:nvSpPr>
        <p:spPr>
          <a:xfrm>
            <a:off x="1408975" y="306875"/>
            <a:ext cx="4979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2000">
                <a:solidFill>
                  <a:srgbClr val="19264B"/>
                </a:solidFill>
                <a:latin typeface="NanumGothicExtraBold"/>
                <a:ea typeface="NanumGothicExtraBold"/>
                <a:cs typeface="NanumGothicExtraBold"/>
                <a:sym typeface="NanumGothicExtraBold"/>
              </a:rPr>
              <a:t>스터디원 소개 및 만남 인증</a:t>
            </a:r>
            <a:endParaRPr sz="2000">
              <a:solidFill>
                <a:srgbClr val="19264B"/>
              </a:solidFill>
              <a:latin typeface="NanumGothicExtraBold"/>
              <a:ea typeface="NanumGothicExtraBold"/>
              <a:cs typeface="NanumGothicExtraBold"/>
              <a:sym typeface="NanumGothicExtraBold"/>
            </a:endParaRPr>
          </a:p>
        </p:txBody>
      </p:sp>
      <p:sp>
        <p:nvSpPr>
          <p:cNvPr id="76" name="Google Shape;76;p14"/>
          <p:cNvSpPr txBox="1"/>
          <p:nvPr/>
        </p:nvSpPr>
        <p:spPr>
          <a:xfrm>
            <a:off x="6137600" y="1820125"/>
            <a:ext cx="2282100" cy="19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스터디원 1 : 김XX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스터디원 2 : 이XX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스터디원 3 : 박XX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/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82" name="Google Shape;82;p15"/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cap="flat" cmpd="sng" w="3810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83" name="Google Shape;83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5"/>
          <p:cNvSpPr txBox="1"/>
          <p:nvPr/>
        </p:nvSpPr>
        <p:spPr>
          <a:xfrm>
            <a:off x="1408975" y="306875"/>
            <a:ext cx="4979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2000">
                <a:solidFill>
                  <a:srgbClr val="19264B"/>
                </a:solidFill>
                <a:latin typeface="NanumGothicExtraBold"/>
                <a:ea typeface="NanumGothicExtraBold"/>
                <a:cs typeface="NanumGothicExtraBold"/>
                <a:sym typeface="NanumGothicExtraBold"/>
              </a:rPr>
              <a:t>목차</a:t>
            </a:r>
            <a:endParaRPr sz="2000">
              <a:solidFill>
                <a:srgbClr val="19264B"/>
              </a:solidFill>
              <a:latin typeface="NanumGothicExtraBold"/>
              <a:ea typeface="NanumGothicExtraBold"/>
              <a:cs typeface="NanumGothicExtraBold"/>
              <a:sym typeface="NanumGothicExtraBol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6"/>
          <p:cNvSpPr/>
          <p:nvPr/>
        </p:nvSpPr>
        <p:spPr>
          <a:xfrm>
            <a:off x="0" y="-37950"/>
            <a:ext cx="1181100" cy="5219400"/>
          </a:xfrm>
          <a:prstGeom prst="rect">
            <a:avLst/>
          </a:prstGeom>
          <a:solidFill>
            <a:srgbClr val="19264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90" name="Google Shape;90;p16"/>
          <p:cNvCxnSpPr/>
          <p:nvPr/>
        </p:nvCxnSpPr>
        <p:spPr>
          <a:xfrm>
            <a:off x="172875" y="-37950"/>
            <a:ext cx="0" cy="2187000"/>
          </a:xfrm>
          <a:prstGeom prst="straightConnector1">
            <a:avLst/>
          </a:prstGeom>
          <a:noFill/>
          <a:ln cap="flat" cmpd="sng" w="3810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1" name="Google Shape;91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928700" y="3071650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6"/>
          <p:cNvSpPr txBox="1"/>
          <p:nvPr/>
        </p:nvSpPr>
        <p:spPr>
          <a:xfrm>
            <a:off x="1408975" y="306875"/>
            <a:ext cx="4979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2000">
                <a:solidFill>
                  <a:srgbClr val="19264B"/>
                </a:solidFill>
                <a:latin typeface="NanumGothicExtraBold"/>
                <a:ea typeface="NanumGothicExtraBold"/>
                <a:cs typeface="NanumGothicExtraBold"/>
                <a:sym typeface="NanumGothicExtraBold"/>
              </a:rPr>
              <a:t>내용</a:t>
            </a:r>
            <a:endParaRPr sz="2000">
              <a:solidFill>
                <a:srgbClr val="19264B"/>
              </a:solidFill>
              <a:latin typeface="NanumGothicExtraBold"/>
              <a:ea typeface="NanumGothicExtraBold"/>
              <a:cs typeface="NanumGothicExtraBold"/>
              <a:sym typeface="NanumGothicExtraBold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9264B"/>
        </a:soli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1049750" y="3137425"/>
            <a:ext cx="3038475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7"/>
          <p:cNvSpPr/>
          <p:nvPr/>
        </p:nvSpPr>
        <p:spPr>
          <a:xfrm>
            <a:off x="8685225" y="135475"/>
            <a:ext cx="335700" cy="335700"/>
          </a:xfrm>
          <a:prstGeom prst="rect">
            <a:avLst/>
          </a:prstGeom>
          <a:noFill/>
          <a:ln cap="flat" cmpd="sng" w="381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17"/>
          <p:cNvSpPr/>
          <p:nvPr/>
        </p:nvSpPr>
        <p:spPr>
          <a:xfrm>
            <a:off x="8685225" y="616375"/>
            <a:ext cx="335700" cy="335700"/>
          </a:xfrm>
          <a:prstGeom prst="rect">
            <a:avLst/>
          </a:prstGeom>
          <a:noFill/>
          <a:ln cap="flat" cmpd="sng" w="381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7"/>
          <p:cNvSpPr/>
          <p:nvPr/>
        </p:nvSpPr>
        <p:spPr>
          <a:xfrm>
            <a:off x="8685225" y="1097275"/>
            <a:ext cx="335700" cy="3357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01" name="Google Shape;101;p17"/>
          <p:cNvCxnSpPr/>
          <p:nvPr/>
        </p:nvCxnSpPr>
        <p:spPr>
          <a:xfrm rot="10800000">
            <a:off x="146900" y="0"/>
            <a:ext cx="0" cy="2152500"/>
          </a:xfrm>
          <a:prstGeom prst="straightConnector1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2" name="Google Shape;102;p17"/>
          <p:cNvSpPr txBox="1"/>
          <p:nvPr/>
        </p:nvSpPr>
        <p:spPr>
          <a:xfrm>
            <a:off x="1469575" y="510025"/>
            <a:ext cx="147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7"/>
          <p:cNvSpPr txBox="1"/>
          <p:nvPr/>
        </p:nvSpPr>
        <p:spPr>
          <a:xfrm>
            <a:off x="2082300" y="2110050"/>
            <a:ext cx="49794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800">
              <a:solidFill>
                <a:schemeClr val="lt1"/>
              </a:solidFill>
              <a:latin typeface="NanumGothicExtraBold"/>
              <a:ea typeface="NanumGothicExtraBold"/>
              <a:cs typeface="NanumGothicExtraBold"/>
              <a:sym typeface="NanumGothicExtraBol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