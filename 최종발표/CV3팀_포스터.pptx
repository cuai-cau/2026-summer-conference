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2479913" cy="302402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" roundtripDataSignature="AMtx7mj3DEpEy1lW+IknwrV0K5B00CCi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92"/>
    <p:restoredTop sz="80253"/>
  </p:normalViewPr>
  <p:slideViewPr>
    <p:cSldViewPr snapToGrid="0">
      <p:cViewPr>
        <p:scale>
          <a:sx n="16" d="100"/>
          <a:sy n="16" d="100"/>
        </p:scale>
        <p:origin x="-4768" y="-5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customschemas.google.com/relationships/presentationmetadata" Target="metadata"/><Relationship Id="rId10" Type="http://schemas.openxmlformats.org/officeDocument/2006/relationships/tableStyles" Target="tableStyles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en-US" sz="1100" b="0" dirty="0">
                <a:solidFill>
                  <a:srgbClr val="1A1A2E"/>
                </a:solidFill>
                <a:latin typeface="Arial"/>
                <a:ea typeface="Arial"/>
              </a:rPr>
              <a:t>공격 기법</a:t>
            </a:r>
            <a:endParaRPr lang="en-US" altLang="ko-KR" sz="11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• PA-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Attack의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 2단계 PGD (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gray-box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)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• COCO 이미지 3,000장 → PCA·K-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means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 → 20개 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prototype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 방향 벡터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• 1단계: 코사인 유사도가 가장 낮은 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prototype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 방향으로 특징 이동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• 2단계: 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salience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1100" b="0" dirty="0" err="1">
                <a:solidFill>
                  <a:srgbClr val="1A1A2E"/>
                </a:solidFill>
                <a:latin typeface="Arial"/>
                <a:ea typeface="Arial"/>
              </a:rPr>
              <a:t>mask</a:t>
            </a:r>
            <a:r>
              <a:rPr lang="ko-KR" altLang="ko-KR" sz="1100" b="0" dirty="0">
                <a:solidFill>
                  <a:srgbClr val="1A1A2E"/>
                </a:solidFill>
                <a:latin typeface="Arial"/>
                <a:ea typeface="Arial"/>
              </a:rPr>
              <a:t> 재계산 후 추가 정제</a:t>
            </a:r>
          </a:p>
        </p:txBody>
      </p:sp>
      <p:sp>
        <p:nvSpPr>
          <p:cNvPr id="50" name="Google Shape;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020763" y="685800"/>
            <a:ext cx="48164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b16e703bd7_0_43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pic>
        <p:nvPicPr>
          <p:cNvPr id="11" name="Google Shape;11;g2b16e703bd7_0_43" descr="스크린샷, 직사각형, 사각형, 라인이(가) 표시된 사진&#10;&#10;자동 생성된 설명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62" y="2684"/>
            <a:ext cx="42476189" cy="30234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b16e703bd7_0_4"/>
          <p:cNvSpPr txBox="1">
            <a:spLocks noGrp="1"/>
          </p:cNvSpPr>
          <p:nvPr>
            <p:ph type="ctrTitle"/>
          </p:nvPr>
        </p:nvSpPr>
        <p:spPr>
          <a:xfrm>
            <a:off x="1448102" y="4377641"/>
            <a:ext cx="39584100" cy="120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300"/>
              <a:buNone/>
              <a:defRPr sz="26300"/>
            </a:lvl9pPr>
          </a:lstStyle>
          <a:p>
            <a:endParaRPr/>
          </a:p>
        </p:txBody>
      </p:sp>
      <p:sp>
        <p:nvSpPr>
          <p:cNvPr id="14" name="Google Shape;14;g2b16e703bd7_0_4"/>
          <p:cNvSpPr txBox="1">
            <a:spLocks noGrp="1"/>
          </p:cNvSpPr>
          <p:nvPr>
            <p:ph type="subTitle" idx="1"/>
          </p:nvPr>
        </p:nvSpPr>
        <p:spPr>
          <a:xfrm>
            <a:off x="1448063" y="16662903"/>
            <a:ext cx="39584100" cy="46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 sz="14200"/>
            </a:lvl9pPr>
          </a:lstStyle>
          <a:p>
            <a:endParaRPr/>
          </a:p>
        </p:txBody>
      </p:sp>
      <p:sp>
        <p:nvSpPr>
          <p:cNvPr id="15" name="Google Shape;15;g2b16e703bd7_0_4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2b16e703bd7_0_8"/>
          <p:cNvSpPr txBox="1">
            <a:spLocks noGrp="1"/>
          </p:cNvSpPr>
          <p:nvPr>
            <p:ph type="title"/>
          </p:nvPr>
        </p:nvSpPr>
        <p:spPr>
          <a:xfrm>
            <a:off x="1448063" y="12645668"/>
            <a:ext cx="39584100" cy="49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200"/>
              <a:buNone/>
              <a:defRPr sz="18200"/>
            </a:lvl9pPr>
          </a:lstStyle>
          <a:p>
            <a:endParaRPr/>
          </a:p>
        </p:txBody>
      </p:sp>
      <p:sp>
        <p:nvSpPr>
          <p:cNvPr id="18" name="Google Shape;18;g2b16e703bd7_0_8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2b16e703bd7_0_11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g2b16e703bd7_0_11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806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g2b16e703bd7_0_11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2b16e703bd7_0_15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2b16e703bd7_0_15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26" name="Google Shape;26;g2b16e703bd7_0_15"/>
          <p:cNvSpPr txBox="1">
            <a:spLocks noGrp="1"/>
          </p:cNvSpPr>
          <p:nvPr>
            <p:ph type="body" idx="2"/>
          </p:nvPr>
        </p:nvSpPr>
        <p:spPr>
          <a:xfrm>
            <a:off x="22449851" y="6775840"/>
            <a:ext cx="185823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 sz="7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27" name="Google Shape;27;g2b16e703bd7_0_15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2b16e703bd7_0_20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2b16e703bd7_0_2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2b16e703bd7_0_23"/>
          <p:cNvSpPr txBox="1">
            <a:spLocks noGrp="1"/>
          </p:cNvSpPr>
          <p:nvPr>
            <p:ph type="title"/>
          </p:nvPr>
        </p:nvSpPr>
        <p:spPr>
          <a:xfrm>
            <a:off x="1448063" y="3266584"/>
            <a:ext cx="13045200" cy="44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100"/>
              <a:buNone/>
              <a:defRPr sz="12100"/>
            </a:lvl9pPr>
          </a:lstStyle>
          <a:p>
            <a:endParaRPr/>
          </a:p>
        </p:txBody>
      </p:sp>
      <p:sp>
        <p:nvSpPr>
          <p:cNvPr id="33" name="Google Shape;33;g2b16e703bd7_0_23"/>
          <p:cNvSpPr txBox="1">
            <a:spLocks noGrp="1"/>
          </p:cNvSpPr>
          <p:nvPr>
            <p:ph type="body" idx="1"/>
          </p:nvPr>
        </p:nvSpPr>
        <p:spPr>
          <a:xfrm>
            <a:off x="1448063" y="8169989"/>
            <a:ext cx="13045200" cy="186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1pPr>
            <a:lvl2pPr marL="914400" lvl="1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2pPr>
            <a:lvl3pPr marL="1371600" lvl="2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3pPr>
            <a:lvl4pPr marL="1828800" lvl="3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4pPr>
            <a:lvl5pPr marL="2286000" lvl="4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5pPr>
            <a:lvl6pPr marL="2743200" lvl="5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6pPr>
            <a:lvl7pPr marL="3200400" lvl="6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●"/>
              <a:defRPr sz="6100"/>
            </a:lvl7pPr>
            <a:lvl8pPr marL="3657600" lvl="7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○"/>
              <a:defRPr sz="6100"/>
            </a:lvl8pPr>
            <a:lvl9pPr marL="4114800" lvl="8" indent="-615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6100"/>
              <a:buChar char="■"/>
              <a:defRPr sz="6100"/>
            </a:lvl9pPr>
          </a:lstStyle>
          <a:p>
            <a:endParaRPr/>
          </a:p>
        </p:txBody>
      </p:sp>
      <p:sp>
        <p:nvSpPr>
          <p:cNvPr id="34" name="Google Shape;34;g2b16e703bd7_0_23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b16e703bd7_0_27"/>
          <p:cNvSpPr txBox="1">
            <a:spLocks noGrp="1"/>
          </p:cNvSpPr>
          <p:nvPr>
            <p:ph type="title"/>
          </p:nvPr>
        </p:nvSpPr>
        <p:spPr>
          <a:xfrm>
            <a:off x="2277551" y="2646604"/>
            <a:ext cx="29583000" cy="240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300"/>
              <a:buNone/>
              <a:defRPr sz="24300"/>
            </a:lvl9pPr>
          </a:lstStyle>
          <a:p>
            <a:endParaRPr/>
          </a:p>
        </p:txBody>
      </p:sp>
      <p:sp>
        <p:nvSpPr>
          <p:cNvPr id="37" name="Google Shape;37;g2b16e703bd7_0_27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2b16e703bd7_0_30"/>
          <p:cNvSpPr/>
          <p:nvPr/>
        </p:nvSpPr>
        <p:spPr>
          <a:xfrm>
            <a:off x="21240113" y="-735"/>
            <a:ext cx="21240000" cy="30240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62325" tIns="462325" rIns="462325" bIns="4623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2b16e703bd7_0_30"/>
          <p:cNvSpPr txBox="1">
            <a:spLocks noGrp="1"/>
          </p:cNvSpPr>
          <p:nvPr>
            <p:ph type="title"/>
          </p:nvPr>
        </p:nvSpPr>
        <p:spPr>
          <a:xfrm>
            <a:off x="1233432" y="7250307"/>
            <a:ext cx="18792900" cy="87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200"/>
              <a:buNone/>
              <a:defRPr sz="21200"/>
            </a:lvl9pPr>
          </a:lstStyle>
          <a:p>
            <a:endParaRPr/>
          </a:p>
        </p:txBody>
      </p:sp>
      <p:sp>
        <p:nvSpPr>
          <p:cNvPr id="41" name="Google Shape;41;g2b16e703bd7_0_30"/>
          <p:cNvSpPr txBox="1">
            <a:spLocks noGrp="1"/>
          </p:cNvSpPr>
          <p:nvPr>
            <p:ph type="subTitle" idx="1"/>
          </p:nvPr>
        </p:nvSpPr>
        <p:spPr>
          <a:xfrm>
            <a:off x="1233432" y="16480348"/>
            <a:ext cx="18792900" cy="72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600"/>
              <a:buNone/>
              <a:defRPr sz="10600"/>
            </a:lvl9pPr>
          </a:lstStyle>
          <a:p>
            <a:endParaRPr/>
          </a:p>
        </p:txBody>
      </p:sp>
      <p:sp>
        <p:nvSpPr>
          <p:cNvPr id="42" name="Google Shape;42;g2b16e703bd7_0_30"/>
          <p:cNvSpPr txBox="1">
            <a:spLocks noGrp="1"/>
          </p:cNvSpPr>
          <p:nvPr>
            <p:ph type="body" idx="2"/>
          </p:nvPr>
        </p:nvSpPr>
        <p:spPr>
          <a:xfrm>
            <a:off x="22947405" y="4257113"/>
            <a:ext cx="17825400" cy="21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457200" lvl="0" indent="-806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g2b16e703bd7_0_3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b16e703bd7_0_39"/>
          <p:cNvSpPr txBox="1">
            <a:spLocks noGrp="1"/>
          </p:cNvSpPr>
          <p:nvPr>
            <p:ph type="title" hasCustomPrompt="1"/>
          </p:nvPr>
        </p:nvSpPr>
        <p:spPr>
          <a:xfrm>
            <a:off x="1448063" y="6503331"/>
            <a:ext cx="39584100" cy="1154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700"/>
              <a:buNone/>
              <a:defRPr sz="60700"/>
            </a:lvl9pPr>
          </a:lstStyle>
          <a:p>
            <a:r>
              <a:t>xx%</a:t>
            </a:r>
          </a:p>
        </p:txBody>
      </p:sp>
      <p:sp>
        <p:nvSpPr>
          <p:cNvPr id="46" name="Google Shape;46;g2b16e703bd7_0_39"/>
          <p:cNvSpPr txBox="1">
            <a:spLocks noGrp="1"/>
          </p:cNvSpPr>
          <p:nvPr>
            <p:ph type="body" idx="1"/>
          </p:nvPr>
        </p:nvSpPr>
        <p:spPr>
          <a:xfrm>
            <a:off x="1448063" y="18533134"/>
            <a:ext cx="39584100" cy="76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lvl="0" indent="-806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100"/>
              <a:buChar char="●"/>
              <a:defRPr/>
            </a:lvl1pPr>
            <a:lvl2pPr marL="914400" lvl="1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2pPr>
            <a:lvl3pPr marL="1371600" lvl="2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3pPr>
            <a:lvl4pPr marL="1828800" lvl="3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4pPr>
            <a:lvl5pPr marL="2286000" lvl="4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5pPr>
            <a:lvl6pPr marL="2743200" lvl="5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6pPr>
            <a:lvl7pPr marL="3200400" lvl="6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●"/>
              <a:defRPr/>
            </a:lvl7pPr>
            <a:lvl8pPr marL="3657600" lvl="7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○"/>
              <a:defRPr/>
            </a:lvl8pPr>
            <a:lvl9pPr marL="4114800" lvl="8" indent="-6794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7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g2b16e703bd7_0_39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2b16e703bd7_0_0"/>
          <p:cNvSpPr txBox="1">
            <a:spLocks noGrp="1"/>
          </p:cNvSpPr>
          <p:nvPr>
            <p:ph type="title"/>
          </p:nvPr>
        </p:nvSpPr>
        <p:spPr>
          <a:xfrm>
            <a:off x="1448063" y="2616472"/>
            <a:ext cx="39584100" cy="33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200"/>
              <a:buFont typeface="Arial"/>
              <a:buNone/>
              <a:defRPr sz="1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2b16e703bd7_0_0"/>
          <p:cNvSpPr txBox="1">
            <a:spLocks noGrp="1"/>
          </p:cNvSpPr>
          <p:nvPr>
            <p:ph type="body" idx="1"/>
          </p:nvPr>
        </p:nvSpPr>
        <p:spPr>
          <a:xfrm>
            <a:off x="1448063" y="6775840"/>
            <a:ext cx="39584100" cy="200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t" anchorCtr="0">
            <a:normAutofit/>
          </a:bodyPr>
          <a:lstStyle>
            <a:lvl1pPr marL="457200" marR="0" lvl="0" indent="-806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100"/>
              <a:buFont typeface="Arial"/>
              <a:buChar char="●"/>
              <a:defRPr sz="9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●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○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679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100"/>
              <a:buFont typeface="Arial"/>
              <a:buChar char="■"/>
              <a:defRPr sz="7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g2b16e703bd7_0_0"/>
          <p:cNvSpPr txBox="1">
            <a:spLocks noGrp="1"/>
          </p:cNvSpPr>
          <p:nvPr>
            <p:ph type="sldNum" idx="12"/>
          </p:nvPr>
        </p:nvSpPr>
        <p:spPr>
          <a:xfrm>
            <a:off x="39360446" y="27416832"/>
            <a:ext cx="2549100" cy="23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62325" tIns="462325" rIns="462325" bIns="4623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  <a:defRPr sz="5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"/>
          <p:cNvSpPr txBox="1"/>
          <p:nvPr/>
        </p:nvSpPr>
        <p:spPr>
          <a:xfrm>
            <a:off x="908275" y="2535759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Aim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 txBox="1"/>
          <p:nvPr/>
        </p:nvSpPr>
        <p:spPr>
          <a:xfrm>
            <a:off x="908275" y="1275658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27374374" y="2813550"/>
            <a:ext cx="13977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lang="ko-KR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</a:t>
            </a:r>
            <a:r>
              <a:rPr lang="en-US" altLang="ko-KR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sz="4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CUAI 중앙대학교 인공지능 학회 하계 컨퍼런스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2"/>
          <p:cNvSpPr txBox="1"/>
          <p:nvPr/>
        </p:nvSpPr>
        <p:spPr>
          <a:xfrm>
            <a:off x="25464113" y="3493698"/>
            <a:ext cx="158877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Proceeding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of 202</a:t>
            </a:r>
            <a:r>
              <a:rPr lang="en-US" alt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Chung-Ang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University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Artificial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Intelligence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Summer</a:t>
            </a:r>
            <a:r>
              <a:rPr lang="ko-KR" sz="32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ko-KR" sz="32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Conference</a:t>
            </a:r>
            <a:endParaRPr sz="32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 txBox="1"/>
          <p:nvPr/>
        </p:nvSpPr>
        <p:spPr>
          <a:xfrm>
            <a:off x="908275" y="509477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ko-KR" sz="4800" b="0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Abstract</a:t>
            </a:r>
            <a:endParaRPr sz="48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 txBox="1"/>
          <p:nvPr/>
        </p:nvSpPr>
        <p:spPr>
          <a:xfrm>
            <a:off x="14642318" y="5094779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Methods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2"/>
          <p:cNvSpPr txBox="1"/>
          <p:nvPr/>
        </p:nvSpPr>
        <p:spPr>
          <a:xfrm>
            <a:off x="14631502" y="24628257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Results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28412221" y="21369563"/>
            <a:ext cx="13159417" cy="831000"/>
          </a:xfrm>
          <a:prstGeom prst="rect">
            <a:avLst/>
          </a:prstGeom>
          <a:gradFill>
            <a:gsLst>
              <a:gs pos="0">
                <a:srgbClr val="17254A"/>
              </a:gs>
              <a:gs pos="50000">
                <a:srgbClr val="575D81"/>
              </a:gs>
              <a:gs pos="100000">
                <a:srgbClr val="CDDAEE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lang="ko-KR" sz="4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sz="4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 txBox="1"/>
          <p:nvPr/>
        </p:nvSpPr>
        <p:spPr>
          <a:xfrm>
            <a:off x="1128117" y="3108948"/>
            <a:ext cx="274821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ko-KR" altLang="en-US" sz="4400" dirty="0" err="1">
                <a:solidFill>
                  <a:schemeClr val="lt1"/>
                </a:solidFill>
              </a:rPr>
              <a:t>조해웅</a:t>
            </a:r>
            <a:r>
              <a:rPr lang="ko-KR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altLang="ko-KR" sz="4400" dirty="0">
                <a:solidFill>
                  <a:schemeClr val="lt1"/>
                </a:solidFill>
              </a:rPr>
              <a:t>(</a:t>
            </a:r>
            <a:r>
              <a:rPr lang="ko-KR" altLang="en-US" sz="4400" dirty="0">
                <a:solidFill>
                  <a:schemeClr val="lt1"/>
                </a:solidFill>
              </a:rPr>
              <a:t>도시시스템공학부</a:t>
            </a:r>
            <a:r>
              <a:rPr lang="ko-KR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ko-KR" altLang="en-US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유금헌</a:t>
            </a:r>
            <a:r>
              <a:rPr lang="ko-KR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altLang="ko-KR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</a:t>
            </a:r>
            <a:r>
              <a:rPr lang="ko-KR" sz="44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학과)</a:t>
            </a:r>
            <a:endParaRPr sz="4400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60;p2">
            <a:extLst>
              <a:ext uri="{FF2B5EF4-FFF2-40B4-BE49-F238E27FC236}">
                <a16:creationId xmlns:a16="http://schemas.microsoft.com/office/drawing/2014/main" id="{CFE1550B-526F-27F2-CF77-676018C79292}"/>
              </a:ext>
            </a:extLst>
          </p:cNvPr>
          <p:cNvSpPr txBox="1"/>
          <p:nvPr/>
        </p:nvSpPr>
        <p:spPr>
          <a:xfrm>
            <a:off x="952489" y="1241274"/>
            <a:ext cx="37372797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Arial"/>
              <a:buNone/>
            </a:pPr>
            <a:r>
              <a:rPr lang="en" altLang="ko-KR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Multi-Image VLM</a:t>
            </a:r>
            <a:r>
              <a:rPr lang="ko-KR" altLang="en-US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에서 위치</a:t>
            </a:r>
            <a:r>
              <a:rPr lang="en-US" altLang="ko-KR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개수</a:t>
            </a:r>
            <a:r>
              <a:rPr lang="en-US" altLang="ko-KR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손상 여부</a:t>
            </a:r>
            <a:r>
              <a:rPr lang="en-US" altLang="ko-KR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r>
              <a:rPr lang="ko-KR" altLang="en-US" sz="8000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모델에 따른 적대적 공격 취약성 분석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D772998-CAFC-A47B-EDF5-FDD882A3083B}"/>
              </a:ext>
            </a:extLst>
          </p:cNvPr>
          <p:cNvSpPr txBox="1"/>
          <p:nvPr/>
        </p:nvSpPr>
        <p:spPr>
          <a:xfrm>
            <a:off x="952489" y="5925779"/>
            <a:ext cx="13115203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3600" dirty="0" err="1"/>
              <a:t>멀티이미지</a:t>
            </a:r>
            <a:r>
              <a:rPr kumimoji="1" lang="ko-KR" altLang="en-US" sz="3600" dirty="0"/>
              <a:t> </a:t>
            </a:r>
            <a:r>
              <a:rPr kumimoji="1" lang="en" altLang="ko-KR" sz="3600" dirty="0"/>
              <a:t>VLM</a:t>
            </a:r>
            <a:r>
              <a:rPr kumimoji="1" lang="ko-KR" altLang="en-US" sz="3600" dirty="0"/>
              <a:t>에서 이미지 위치</a:t>
            </a:r>
            <a:r>
              <a:rPr kumimoji="1" lang="en-US" altLang="ko-KR" sz="3600" dirty="0"/>
              <a:t>·</a:t>
            </a:r>
            <a:r>
              <a:rPr kumimoji="1" lang="ko-KR" altLang="en-US" sz="3600" dirty="0"/>
              <a:t>개수</a:t>
            </a:r>
            <a:r>
              <a:rPr kumimoji="1" lang="en-US" altLang="ko-KR" sz="3600" dirty="0"/>
              <a:t>·</a:t>
            </a:r>
            <a:r>
              <a:rPr kumimoji="1" lang="ko-KR" altLang="en-US" sz="3600" dirty="0"/>
              <a:t>손상 여부</a:t>
            </a:r>
            <a:r>
              <a:rPr kumimoji="1" lang="en-US" altLang="ko-KR" sz="3600" dirty="0"/>
              <a:t>·</a:t>
            </a:r>
            <a:r>
              <a:rPr kumimoji="1" lang="ko-KR" altLang="en-US" sz="3600" dirty="0"/>
              <a:t>모델 종류가 적대적 공격 취약성에 미치는 영향을 여러 모델을 통해 진단했다</a:t>
            </a:r>
            <a:r>
              <a:rPr kumimoji="1" lang="en-US" altLang="ko-KR" sz="3600" dirty="0"/>
              <a:t>.</a:t>
            </a:r>
          </a:p>
          <a:p>
            <a:endParaRPr kumimoji="1" lang="en-US" altLang="ko-KR" sz="3600" dirty="0"/>
          </a:p>
          <a:p>
            <a:r>
              <a:rPr kumimoji="1" lang="ko-KR" altLang="en-US" sz="3600" dirty="0"/>
              <a:t>핵심 발견</a:t>
            </a:r>
            <a:endParaRPr kumimoji="1" lang="en-US" altLang="ko-KR" sz="3600" dirty="0"/>
          </a:p>
          <a:p>
            <a:r>
              <a:rPr kumimoji="1" lang="en-US" altLang="ko-KR" sz="3600" dirty="0"/>
              <a:t>• </a:t>
            </a:r>
            <a:r>
              <a:rPr kumimoji="1" lang="ko-KR" altLang="en-US" sz="3600" dirty="0"/>
              <a:t>단순 위치보다 </a:t>
            </a:r>
            <a:r>
              <a:rPr kumimoji="1" lang="en-US" altLang="ko-KR" sz="3600" dirty="0"/>
              <a:t>'</a:t>
            </a:r>
            <a:r>
              <a:rPr kumimoji="1" lang="ko-KR" altLang="en-US" sz="3600" dirty="0"/>
              <a:t>과제가 위치 정보를 요구하는가</a:t>
            </a:r>
            <a:r>
              <a:rPr kumimoji="1" lang="en-US" altLang="ko-KR" sz="3600" dirty="0"/>
              <a:t>'</a:t>
            </a:r>
            <a:r>
              <a:rPr kumimoji="1" lang="ko-KR" altLang="en-US" sz="3600" dirty="0"/>
              <a:t>가 공격 성공률을 더 잘 예측</a:t>
            </a:r>
          </a:p>
          <a:p>
            <a:r>
              <a:rPr kumimoji="1" lang="en-US" altLang="ko-KR" sz="3600" dirty="0"/>
              <a:t>• </a:t>
            </a:r>
            <a:r>
              <a:rPr kumimoji="1" lang="ko-KR" altLang="en-US" sz="3600" dirty="0"/>
              <a:t>이미지 개수 효과는 대부분 데이터셋 </a:t>
            </a:r>
            <a:r>
              <a:rPr kumimoji="1" lang="en" altLang="ko-KR" sz="3600" dirty="0"/>
              <a:t>confound (</a:t>
            </a:r>
            <a:r>
              <a:rPr kumimoji="1" lang="ko-KR" altLang="en-US" sz="3600" dirty="0"/>
              <a:t>장수↑ → </a:t>
            </a:r>
            <a:r>
              <a:rPr kumimoji="1" lang="en" altLang="ko-KR" sz="3600" dirty="0"/>
              <a:t>ASR↓ </a:t>
            </a:r>
            <a:r>
              <a:rPr kumimoji="1" lang="ko-KR" altLang="en-US" sz="3600" dirty="0"/>
              <a:t>는 공격 비율 희석 효과</a:t>
            </a:r>
            <a:r>
              <a:rPr kumimoji="1" lang="en-US" altLang="ko-KR" sz="3600" dirty="0"/>
              <a:t>)</a:t>
            </a:r>
          </a:p>
          <a:p>
            <a:r>
              <a:rPr kumimoji="1" lang="en-US" altLang="ko-KR" sz="3600" dirty="0"/>
              <a:t>• </a:t>
            </a:r>
            <a:r>
              <a:rPr kumimoji="1" lang="en" altLang="ko-KR" sz="3600" dirty="0"/>
              <a:t>JPEG </a:t>
            </a:r>
            <a:r>
              <a:rPr kumimoji="1" lang="ko-KR" altLang="en-US" sz="3600" dirty="0"/>
              <a:t>압축</a:t>
            </a:r>
            <a:r>
              <a:rPr kumimoji="1" lang="en-US" altLang="ko-KR" sz="3600" dirty="0"/>
              <a:t>·</a:t>
            </a:r>
            <a:r>
              <a:rPr kumimoji="1" lang="ko-KR" altLang="en-US" sz="3600" dirty="0"/>
              <a:t>리사이즈가 </a:t>
            </a:r>
            <a:r>
              <a:rPr kumimoji="1" lang="en" altLang="ko-KR" sz="3600" dirty="0"/>
              <a:t>ASR</a:t>
            </a:r>
            <a:r>
              <a:rPr kumimoji="1" lang="ko-KR" altLang="en-US" sz="3600" dirty="0"/>
              <a:t>을 </a:t>
            </a:r>
            <a:r>
              <a:rPr kumimoji="1" lang="en-US" altLang="ko-KR" sz="3600" dirty="0"/>
              <a:t>27.8% → 8.5~9.4%</a:t>
            </a:r>
            <a:r>
              <a:rPr kumimoji="1" lang="ko-KR" altLang="en-US" sz="3600" dirty="0"/>
              <a:t>로 크게 감소</a:t>
            </a:r>
          </a:p>
          <a:p>
            <a:r>
              <a:rPr kumimoji="1" lang="en-US" altLang="ko-KR" sz="3600" dirty="0"/>
              <a:t>• </a:t>
            </a:r>
            <a:r>
              <a:rPr kumimoji="1" lang="en" altLang="ko-KR" sz="3600" dirty="0"/>
              <a:t>Qwen3-VL(18.2%)</a:t>
            </a:r>
            <a:r>
              <a:rPr kumimoji="1" lang="ko-KR" altLang="en-US" sz="3600" dirty="0"/>
              <a:t>이 </a:t>
            </a:r>
            <a:r>
              <a:rPr kumimoji="1" lang="en" altLang="ko-KR" sz="3600" dirty="0"/>
              <a:t>InternVL2(27.8%)</a:t>
            </a:r>
            <a:r>
              <a:rPr kumimoji="1" lang="ko-KR" altLang="en-US" sz="3600" dirty="0"/>
              <a:t>보다 낮은 </a:t>
            </a:r>
            <a:r>
              <a:rPr kumimoji="1" lang="en" altLang="ko-KR" sz="3600" dirty="0"/>
              <a:t>ASR → </a:t>
            </a:r>
            <a:r>
              <a:rPr kumimoji="1" lang="ko-KR" altLang="en-US" sz="3600" dirty="0"/>
              <a:t>비전 인코더 구조 차이 시사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5FEC6D-D0BD-308F-C4A8-2D251A99E783}"/>
              </a:ext>
            </a:extLst>
          </p:cNvPr>
          <p:cNvSpPr txBox="1"/>
          <p:nvPr/>
        </p:nvSpPr>
        <p:spPr>
          <a:xfrm>
            <a:off x="908274" y="13779692"/>
            <a:ext cx="13159417" cy="11572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1" dirty="0">
                <a:solidFill>
                  <a:srgbClr val="17254A"/>
                </a:solidFill>
                <a:latin typeface="Arial"/>
                <a:ea typeface="Arial"/>
              </a:rPr>
              <a:t>연구 배경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멀티이미지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VLM</a:t>
            </a:r>
            <a:r>
              <a:rPr lang="ko-KR" altLang="en-US" sz="3200" b="0" dirty="0" err="1">
                <a:solidFill>
                  <a:srgbClr val="1A1A2E"/>
                </a:solidFill>
                <a:latin typeface="Arial"/>
                <a:ea typeface="Arial"/>
              </a:rPr>
              <a:t>은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이미지 간 상호 참조, 시계열 비교, 문서 다중 페이지 이해 등에서 빠르게 채택되고 있으나, 적대적 공격 취약성 연구는 초기 단계이다.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ko-KR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1" dirty="0">
                <a:solidFill>
                  <a:srgbClr val="17254A"/>
                </a:solidFill>
                <a:latin typeface="Arial"/>
                <a:ea typeface="Arial"/>
              </a:rPr>
              <a:t>선행 연구의 공백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Clean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환경에서 이미지 위치별 성능 차이를 측정했으나 적대적 공격 상황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을 다루지 않는 경우</a:t>
            </a:r>
            <a:endParaRPr lang="ko-KR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• 다중 이미지 특화 공격을 설계하고 위치별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ASR을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보고했으나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clean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position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bias와의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관계를 직접 분석하지 않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는 경우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(코드 미공개, 재현 불가)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ko-KR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1" dirty="0">
                <a:solidFill>
                  <a:srgbClr val="17254A"/>
                </a:solidFill>
                <a:latin typeface="Arial"/>
                <a:ea typeface="Arial"/>
              </a:rPr>
              <a:t>핵심 연구 질문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"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Clean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환경에서의 위치 편향이 적대적 공격 상황의 위치별 취약성을 예측하는가?”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ko-KR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이 핵심 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질문에서 시작해 총 네 개의 축으로 확장해서 </a:t>
            </a:r>
            <a:r>
              <a:rPr lang="ko-KR" altLang="ko-KR" sz="3200" dirty="0" err="1">
                <a:solidFill>
                  <a:srgbClr val="1A1A2E"/>
                </a:solidFill>
              </a:rPr>
              <a:t>Position</a:t>
            </a:r>
            <a:r>
              <a:rPr lang="ko-KR" altLang="ko-KR" sz="3200" dirty="0">
                <a:solidFill>
                  <a:srgbClr val="1A1A2E"/>
                </a:solidFill>
              </a:rPr>
              <a:t>,</a:t>
            </a:r>
            <a:r>
              <a:rPr lang="ko-KR" altLang="en-US" sz="3200" dirty="0">
                <a:solidFill>
                  <a:srgbClr val="1A1A2E"/>
                </a:solidFill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Count</a:t>
            </a:r>
            <a:r>
              <a:rPr lang="en-US" altLang="ko-KR" sz="3200" dirty="0">
                <a:solidFill>
                  <a:srgbClr val="1A1A2E"/>
                </a:solidFill>
              </a:rPr>
              <a:t>,</a:t>
            </a:r>
            <a:r>
              <a:rPr lang="ko-KR" altLang="en-US" sz="3200" dirty="0">
                <a:solidFill>
                  <a:srgbClr val="1A1A2E"/>
                </a:solidFill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Corruption</a:t>
            </a:r>
            <a:r>
              <a:rPr lang="en-US" altLang="ko-KR" sz="3200" b="0" dirty="0">
                <a:solidFill>
                  <a:srgbClr val="1A1A2E"/>
                </a:solidFill>
                <a:latin typeface="Arial"/>
                <a:ea typeface="Arial"/>
              </a:rPr>
              <a:t>,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Model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 별로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멀티이미지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VLM의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공격 취약성을 체계적으로 진단했다.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482331-69DF-3E0D-6B70-59DA71945F7A}"/>
              </a:ext>
            </a:extLst>
          </p:cNvPr>
          <p:cNvSpPr txBox="1"/>
          <p:nvPr/>
        </p:nvSpPr>
        <p:spPr>
          <a:xfrm>
            <a:off x="952489" y="26419678"/>
            <a:ext cx="13115202" cy="2551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①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Position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: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Clean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위치 편향이 공격 취약성을 예측하는지 검증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②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Count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: 이미지 장수 증가가 공격 강건성에 미치는 영향 분석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Corruption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: JPEG/리사이즈 등 이미지 손상의 방어 효과 측정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④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Model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: 모델(InternVL2, Qwen3-VL,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LLaVA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-OV) 간 취약성 차이 비교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49632F3-24A4-498D-8B51-7FFF5F97A37F}"/>
              </a:ext>
            </a:extLst>
          </p:cNvPr>
          <p:cNvSpPr txBox="1"/>
          <p:nvPr/>
        </p:nvSpPr>
        <p:spPr>
          <a:xfrm>
            <a:off x="14805372" y="6030132"/>
            <a:ext cx="12932568" cy="192648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1" dirty="0">
                <a:solidFill>
                  <a:srgbClr val="17254A"/>
                </a:solidFill>
                <a:latin typeface="Arial"/>
                <a:ea typeface="Arial"/>
              </a:rPr>
              <a:t>연구 프레임워크 — 4축 진단 체계</a:t>
            </a:r>
            <a:endParaRPr lang="en-US" altLang="ko-KR" sz="3200" b="1" dirty="0">
              <a:solidFill>
                <a:srgbClr val="17254A"/>
              </a:solidFill>
              <a:latin typeface="Arial"/>
              <a:ea typeface="Arial"/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Position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축</a:t>
            </a:r>
            <a:r>
              <a:rPr lang="en-US" altLang="ko-KR" sz="3200" dirty="0">
                <a:solidFill>
                  <a:srgbClr val="1A1A2E"/>
                </a:solidFill>
              </a:rPr>
              <a:t>:</a:t>
            </a:r>
            <a:r>
              <a:rPr lang="ko-KR" altLang="en-US" sz="3200" dirty="0">
                <a:solidFill>
                  <a:srgbClr val="1A1A2E"/>
                </a:solidFill>
              </a:rPr>
              <a:t> 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이미지 위치 (1st/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mid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/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last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)  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Count</a:t>
            </a:r>
            <a:r>
              <a:rPr lang="ko-KR" altLang="en-US" sz="3200" dirty="0">
                <a:solidFill>
                  <a:srgbClr val="1A1A2E"/>
                </a:solidFill>
              </a:rPr>
              <a:t> 축</a:t>
            </a:r>
            <a:r>
              <a:rPr lang="en-US" altLang="ko-KR" sz="3200" dirty="0">
                <a:solidFill>
                  <a:srgbClr val="1A1A2E"/>
                </a:solidFill>
              </a:rPr>
              <a:t>:</a:t>
            </a:r>
            <a:r>
              <a:rPr lang="ko-KR" altLang="en-US" sz="3200" dirty="0">
                <a:solidFill>
                  <a:srgbClr val="1A1A2E"/>
                </a:solidFill>
              </a:rPr>
              <a:t> 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이미지 장수 (2/3/4장)      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Corruption</a:t>
            </a:r>
            <a:r>
              <a:rPr lang="ko-KR" altLang="en-US" sz="3200" dirty="0">
                <a:solidFill>
                  <a:srgbClr val="1A1A2E"/>
                </a:solidFill>
              </a:rPr>
              <a:t> 축</a:t>
            </a:r>
            <a:r>
              <a:rPr lang="en-US" altLang="ko-KR" sz="3200" dirty="0">
                <a:solidFill>
                  <a:srgbClr val="1A1A2E"/>
                </a:solidFill>
              </a:rPr>
              <a:t>:</a:t>
            </a:r>
            <a:r>
              <a:rPr lang="ko-KR" altLang="en-US" sz="3200" dirty="0">
                <a:solidFill>
                  <a:srgbClr val="1A1A2E"/>
                </a:solidFill>
              </a:rPr>
              <a:t> 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JPEG q30 /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Resize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0.5x   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Model</a:t>
            </a:r>
            <a:r>
              <a:rPr lang="ko-KR" altLang="en-US" sz="3200" dirty="0">
                <a:solidFill>
                  <a:srgbClr val="1A1A2E"/>
                </a:solidFill>
              </a:rPr>
              <a:t> 축</a:t>
            </a:r>
            <a:r>
              <a:rPr lang="en-US" altLang="ko-KR" sz="3200" dirty="0">
                <a:solidFill>
                  <a:srgbClr val="1A1A2E"/>
                </a:solidFill>
              </a:rPr>
              <a:t>:</a:t>
            </a:r>
            <a:r>
              <a:rPr lang="ko-KR" altLang="en-US" sz="3200" dirty="0">
                <a:solidFill>
                  <a:srgbClr val="1A1A2E"/>
                </a:solidFill>
              </a:rPr>
              <a:t> 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InternVL2 / Qwen3-VL    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ko-KR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b="1" dirty="0">
                <a:solidFill>
                  <a:srgbClr val="17254A"/>
                </a:solidFill>
              </a:rPr>
              <a:t>데이터셋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TIGER-</a:t>
            </a:r>
            <a:r>
              <a:rPr lang="ko-KR" altLang="ko-KR" sz="3200" dirty="0" err="1">
                <a:solidFill>
                  <a:srgbClr val="1A1A2E"/>
                </a:solidFill>
              </a:rPr>
              <a:t>Lab의</a:t>
            </a:r>
            <a:r>
              <a:rPr lang="ko-KR" altLang="ko-KR" sz="3200" dirty="0">
                <a:solidFill>
                  <a:srgbClr val="1A1A2E"/>
                </a:solidFill>
              </a:rPr>
              <a:t> </a:t>
            </a:r>
            <a:r>
              <a:rPr lang="ko-KR" altLang="ko-KR" sz="3200" dirty="0" err="1">
                <a:solidFill>
                  <a:srgbClr val="1A1A2E"/>
                </a:solidFill>
              </a:rPr>
              <a:t>Mantis-Eval</a:t>
            </a:r>
            <a:r>
              <a:rPr lang="ko-KR" altLang="ko-KR" sz="3200" dirty="0">
                <a:solidFill>
                  <a:srgbClr val="1A1A2E"/>
                </a:solidFill>
              </a:rPr>
              <a:t> (217문제, 객관식)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위치 참조 문제의 정답 재계산 파서 구현 (202/217문제, 94% 동작)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dirty="0" err="1">
                <a:solidFill>
                  <a:srgbClr val="1A1A2E"/>
                </a:solidFill>
              </a:rPr>
              <a:t>Count</a:t>
            </a:r>
            <a:r>
              <a:rPr lang="ko-KR" altLang="ko-KR" sz="3200" dirty="0">
                <a:solidFill>
                  <a:srgbClr val="1A1A2E"/>
                </a:solidFill>
              </a:rPr>
              <a:t> 축: 무관 이미지 추가로 2/3/4장 통제 데이터셋 (373개) 구축</a:t>
            </a: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ko-KR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b="1" dirty="0">
                <a:solidFill>
                  <a:srgbClr val="17254A"/>
                </a:solidFill>
              </a:rPr>
              <a:t>공격 기법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ko-KR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en-US" altLang="ko-KR" sz="3200" b="1" dirty="0">
              <a:solidFill>
                <a:srgbClr val="17254A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b="1" dirty="0">
                <a:solidFill>
                  <a:srgbClr val="17254A"/>
                </a:solidFill>
              </a:rPr>
              <a:t>평가 지표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dirty="0" err="1">
                <a:solidFill>
                  <a:srgbClr val="1A1A2E"/>
                </a:solidFill>
              </a:rPr>
              <a:t>Clean</a:t>
            </a:r>
            <a:r>
              <a:rPr lang="ko-KR" altLang="ko-KR" sz="3200" dirty="0">
                <a:solidFill>
                  <a:srgbClr val="1A1A2E"/>
                </a:solidFill>
              </a:rPr>
              <a:t> </a:t>
            </a:r>
            <a:r>
              <a:rPr lang="ko-KR" altLang="ko-KR" sz="3200" dirty="0" err="1">
                <a:solidFill>
                  <a:srgbClr val="1A1A2E"/>
                </a:solidFill>
              </a:rPr>
              <a:t>Accuracy</a:t>
            </a:r>
            <a:r>
              <a:rPr lang="ko-KR" altLang="ko-KR" sz="3200" dirty="0">
                <a:solidFill>
                  <a:srgbClr val="1A1A2E"/>
                </a:solidFill>
              </a:rPr>
              <a:t>, </a:t>
            </a:r>
            <a:r>
              <a:rPr lang="ko-KR" altLang="ko-KR" sz="3200" dirty="0" err="1">
                <a:solidFill>
                  <a:srgbClr val="1A1A2E"/>
                </a:solidFill>
              </a:rPr>
              <a:t>Conditional</a:t>
            </a:r>
            <a:r>
              <a:rPr lang="ko-KR" altLang="ko-KR" sz="3200" dirty="0">
                <a:solidFill>
                  <a:srgbClr val="1A1A2E"/>
                </a:solidFill>
              </a:rPr>
              <a:t> ASR (</a:t>
            </a:r>
            <a:r>
              <a:rPr lang="ko-KR" altLang="ko-KR" sz="3200" dirty="0" err="1">
                <a:solidFill>
                  <a:srgbClr val="1A1A2E"/>
                </a:solidFill>
              </a:rPr>
              <a:t>정답→오답</a:t>
            </a:r>
            <a:r>
              <a:rPr lang="ko-KR" altLang="ko-KR" sz="3200" dirty="0">
                <a:solidFill>
                  <a:srgbClr val="1A1A2E"/>
                </a:solidFill>
              </a:rPr>
              <a:t> 전환 비율)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</a:t>
            </a:r>
            <a:r>
              <a:rPr lang="ko-KR" altLang="ko-KR" sz="3200" dirty="0" err="1">
                <a:solidFill>
                  <a:srgbClr val="1A1A2E"/>
                </a:solidFill>
              </a:rPr>
              <a:t>Position</a:t>
            </a:r>
            <a:r>
              <a:rPr lang="ko-KR" altLang="ko-KR" sz="3200" dirty="0">
                <a:solidFill>
                  <a:srgbClr val="1A1A2E"/>
                </a:solidFill>
              </a:rPr>
              <a:t> Gap (최대-최소 위치별 </a:t>
            </a:r>
            <a:r>
              <a:rPr lang="ko-KR" altLang="ko-KR" sz="3200" dirty="0" err="1">
                <a:solidFill>
                  <a:srgbClr val="1A1A2E"/>
                </a:solidFill>
              </a:rPr>
              <a:t>Acc</a:t>
            </a:r>
            <a:r>
              <a:rPr lang="ko-KR" altLang="ko-KR" sz="3200" dirty="0">
                <a:solidFill>
                  <a:srgbClr val="1A1A2E"/>
                </a:solidFill>
              </a:rPr>
              <a:t>), </a:t>
            </a:r>
            <a:r>
              <a:rPr lang="ko-KR" altLang="ko-KR" sz="3200" dirty="0" err="1">
                <a:solidFill>
                  <a:srgbClr val="1A1A2E"/>
                </a:solidFill>
              </a:rPr>
              <a:t>Spearman</a:t>
            </a:r>
            <a:r>
              <a:rPr lang="ko-KR" altLang="ko-KR" sz="3200" dirty="0">
                <a:solidFill>
                  <a:srgbClr val="1A1A2E"/>
                </a:solidFill>
              </a:rPr>
              <a:t> 상관</a:t>
            </a:r>
            <a:endParaRPr lang="en-US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endParaRPr lang="ko-KR" altLang="ko-KR" sz="3200" dirty="0">
              <a:solidFill>
                <a:srgbClr val="1A1A2E"/>
              </a:solidFill>
            </a:endParaRP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b="1" dirty="0">
                <a:solidFill>
                  <a:srgbClr val="17254A"/>
                </a:solidFill>
              </a:rPr>
              <a:t>대상 모델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InternVL2-8B: 패치별 3D </a:t>
            </a:r>
            <a:r>
              <a:rPr lang="ko-KR" altLang="ko-KR" sz="3200" dirty="0" err="1">
                <a:solidFill>
                  <a:srgbClr val="1A1A2E"/>
                </a:solidFill>
              </a:rPr>
              <a:t>prototype</a:t>
            </a:r>
            <a:r>
              <a:rPr lang="ko-KR" altLang="ko-KR" sz="3200" dirty="0">
                <a:solidFill>
                  <a:srgbClr val="1A1A2E"/>
                </a:solidFill>
              </a:rPr>
              <a:t> (20×1024×1024), </a:t>
            </a:r>
            <a:r>
              <a:rPr lang="ko-KR" altLang="ko-KR" sz="3200" dirty="0" err="1">
                <a:solidFill>
                  <a:srgbClr val="1A1A2E"/>
                </a:solidFill>
              </a:rPr>
              <a:t>eps</a:t>
            </a:r>
            <a:r>
              <a:rPr lang="ko-KR" altLang="ko-KR" sz="3200" dirty="0">
                <a:solidFill>
                  <a:srgbClr val="1A1A2E"/>
                </a:solidFill>
              </a:rPr>
              <a:t>=8/255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Qwen3-VL-8B: 전역 2D </a:t>
            </a:r>
            <a:r>
              <a:rPr lang="ko-KR" altLang="ko-KR" sz="3200" dirty="0" err="1">
                <a:solidFill>
                  <a:srgbClr val="1A1A2E"/>
                </a:solidFill>
              </a:rPr>
              <a:t>prototype</a:t>
            </a:r>
            <a:r>
              <a:rPr lang="ko-KR" altLang="ko-KR" sz="3200" dirty="0">
                <a:solidFill>
                  <a:srgbClr val="1A1A2E"/>
                </a:solidFill>
              </a:rPr>
              <a:t> (20×1152), </a:t>
            </a:r>
            <a:r>
              <a:rPr lang="ko-KR" altLang="ko-KR" sz="3200" dirty="0" err="1">
                <a:solidFill>
                  <a:srgbClr val="1A1A2E"/>
                </a:solidFill>
              </a:rPr>
              <a:t>eps</a:t>
            </a:r>
            <a:r>
              <a:rPr lang="ko-KR" altLang="ko-KR" sz="3200" dirty="0">
                <a:solidFill>
                  <a:srgbClr val="1A1A2E"/>
                </a:solidFill>
              </a:rPr>
              <a:t>=16/255</a:t>
            </a:r>
          </a:p>
          <a:p>
            <a:pPr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</a:pPr>
            <a:r>
              <a:rPr lang="ko-KR" altLang="ko-KR" sz="3200" dirty="0">
                <a:solidFill>
                  <a:srgbClr val="1A1A2E"/>
                </a:solidFill>
              </a:rPr>
              <a:t>• LLaVA-OneVision-7B: </a:t>
            </a:r>
            <a:r>
              <a:rPr lang="ko-KR" altLang="ko-KR" sz="3200" dirty="0" err="1">
                <a:solidFill>
                  <a:srgbClr val="1A1A2E"/>
                </a:solidFill>
              </a:rPr>
              <a:t>prototype</a:t>
            </a:r>
            <a:r>
              <a:rPr lang="ko-KR" altLang="ko-KR" sz="3200" dirty="0">
                <a:solidFill>
                  <a:srgbClr val="1A1A2E"/>
                </a:solidFill>
              </a:rPr>
              <a:t> </a:t>
            </a:r>
            <a:r>
              <a:rPr lang="ko-KR" altLang="ko-KR" sz="3200" dirty="0" err="1">
                <a:solidFill>
                  <a:srgbClr val="1A1A2E"/>
                </a:solidFill>
              </a:rPr>
              <a:t>미배포</a:t>
            </a:r>
            <a:r>
              <a:rPr lang="ko-KR" altLang="ko-KR" sz="3200" dirty="0">
                <a:solidFill>
                  <a:srgbClr val="1A1A2E"/>
                </a:solidFill>
              </a:rPr>
              <a:t> (</a:t>
            </a:r>
            <a:r>
              <a:rPr lang="ko-KR" altLang="ko-KR" sz="3200" dirty="0" err="1">
                <a:solidFill>
                  <a:srgbClr val="1A1A2E"/>
                </a:solidFill>
              </a:rPr>
              <a:t>clean</a:t>
            </a:r>
            <a:r>
              <a:rPr lang="ko-KR" altLang="ko-KR" sz="3200" dirty="0">
                <a:solidFill>
                  <a:srgbClr val="1A1A2E"/>
                </a:solidFill>
              </a:rPr>
              <a:t> 비교만)</a:t>
            </a:r>
          </a:p>
        </p:txBody>
      </p:sp>
      <p:pic>
        <p:nvPicPr>
          <p:cNvPr id="13" name="그림 1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64E82F9-2E40-A709-5D90-D930757A84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83"/>
          <a:stretch>
            <a:fillRect/>
          </a:stretch>
        </p:blipFill>
        <p:spPr>
          <a:xfrm>
            <a:off x="14743918" y="25488871"/>
            <a:ext cx="6496038" cy="3862111"/>
          </a:xfrm>
          <a:prstGeom prst="rect">
            <a:avLst/>
          </a:prstGeom>
        </p:spPr>
      </p:pic>
      <p:pic>
        <p:nvPicPr>
          <p:cNvPr id="17" name="그림 16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CFAACC-DAFF-D4D3-1266-64DE79C75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7133" y="5394112"/>
            <a:ext cx="9557278" cy="3497150"/>
          </a:xfrm>
          <a:prstGeom prst="rect">
            <a:avLst/>
          </a:prstGeom>
        </p:spPr>
      </p:pic>
      <p:pic>
        <p:nvPicPr>
          <p:cNvPr id="25" name="그림 2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45C80A-2958-57AD-A949-0D10D70A69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87482" y="16988589"/>
            <a:ext cx="9472330" cy="408373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E7A8B4F2-5C1B-E51D-2B98-57EB6BF3536A}"/>
              </a:ext>
            </a:extLst>
          </p:cNvPr>
          <p:cNvSpPr txBox="1"/>
          <p:nvPr/>
        </p:nvSpPr>
        <p:spPr>
          <a:xfrm>
            <a:off x="28469713" y="22407804"/>
            <a:ext cx="12881961" cy="6965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1" dirty="0">
                <a:solidFill>
                  <a:srgbClr val="17254A"/>
                </a:solidFill>
                <a:latin typeface="Arial"/>
                <a:ea typeface="Arial"/>
              </a:rPr>
              <a:t>주요 결론</a:t>
            </a:r>
          </a:p>
          <a:p>
            <a:pPr marL="514350" marR="0" indent="-51435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'위치 정보 요구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여부'가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공격 취약성의 핵심 예측 변수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514350" marR="0" indent="-51435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이미지 장수↑ → ASR↓ 는 장수 자체가 아닌 공격 비율 희석 효과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로</a:t>
            </a:r>
            <a:r>
              <a:rPr lang="en-US" altLang="ko-KR" sz="3200" b="0" dirty="0">
                <a:solidFill>
                  <a:srgbClr val="1A1A2E"/>
                </a:solidFill>
                <a:latin typeface="Arial"/>
                <a:ea typeface="Arial"/>
              </a:rPr>
              <a:t>,</a:t>
            </a:r>
            <a:r>
              <a:rPr lang="ko-KR" altLang="en-US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dirty="0">
                <a:solidFill>
                  <a:srgbClr val="1A1A2E"/>
                </a:solidFill>
              </a:rPr>
              <a:t>'장수가 많으면 안전' 가정은 전체 이미지 조작 시 성립하지 않음</a:t>
            </a:r>
            <a:endParaRPr lang="en-US" altLang="ko-KR" sz="3200" dirty="0">
              <a:solidFill>
                <a:srgbClr val="1A1A2E"/>
              </a:solidFill>
            </a:endParaRPr>
          </a:p>
          <a:p>
            <a:pPr marL="514350" marR="0" indent="-51435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JPEG/리사이즈만으로도 ASR 약 2/3 감소 가능 (실용적 방어)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514350" marR="0" indent="-51435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모델 간 비전 인코더 구조 차이가 강건성 차이를 유발</a:t>
            </a:r>
            <a:endParaRPr lang="en-US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514350" marR="0" indent="-51435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AutoNum type="arabicPeriod"/>
            </a:pPr>
            <a:endParaRPr lang="ko-KR" altLang="ko-KR" sz="3200" b="0" dirty="0">
              <a:solidFill>
                <a:srgbClr val="1A1A2E"/>
              </a:solidFill>
              <a:latin typeface="Arial"/>
              <a:ea typeface="Arial"/>
            </a:endParaRP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1" dirty="0">
                <a:solidFill>
                  <a:srgbClr val="17254A"/>
                </a:solidFill>
                <a:latin typeface="Arial"/>
                <a:ea typeface="Arial"/>
              </a:rPr>
              <a:t>한계 및 향후 과제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• LAMP 등 다중 이미지 특화 공격 재현 불가 → PA-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Attack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확장 적용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•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LLaVA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-OV 공식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prototype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</a:t>
            </a:r>
            <a:r>
              <a:rPr lang="ko-KR" altLang="ko-KR" sz="3200" b="0" dirty="0" err="1">
                <a:solidFill>
                  <a:srgbClr val="1A1A2E"/>
                </a:solidFill>
                <a:latin typeface="Arial"/>
                <a:ea typeface="Arial"/>
              </a:rPr>
              <a:t>미배포</a:t>
            </a: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 → 공격 실험 제외</a:t>
            </a:r>
          </a:p>
          <a:p>
            <a:pPr marL="0" marR="0" algn="l">
              <a:lnSpc>
                <a:spcPct val="115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ko-KR" altLang="ko-KR" sz="3200" b="0" dirty="0">
                <a:solidFill>
                  <a:srgbClr val="1A1A2E"/>
                </a:solidFill>
                <a:latin typeface="Arial"/>
                <a:ea typeface="Arial"/>
              </a:rPr>
              <a:t>• 향후: 3모델 전체 4축 완전 매트릭스 구축 예정</a:t>
            </a:r>
          </a:p>
        </p:txBody>
      </p:sp>
      <p:pic>
        <p:nvPicPr>
          <p:cNvPr id="29" name="그림 28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6E3DE0-B252-5279-E6CF-91EFAAC81EA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39957" y="25779512"/>
            <a:ext cx="6506742" cy="3261403"/>
          </a:xfrm>
          <a:prstGeom prst="rect">
            <a:avLst/>
          </a:prstGeom>
        </p:spPr>
      </p:pic>
      <p:pic>
        <p:nvPicPr>
          <p:cNvPr id="31" name="그림 30" descr="텍스트, 폰트, 스크린샷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0931E6-2EA0-D99A-7B2F-92218CA34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185946" y="9081945"/>
            <a:ext cx="9523131" cy="3487006"/>
          </a:xfrm>
          <a:prstGeom prst="rect">
            <a:avLst/>
          </a:prstGeom>
        </p:spPr>
      </p:pic>
      <p:pic>
        <p:nvPicPr>
          <p:cNvPr id="35" name="그림 3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D04C2F-6156-E662-0C9F-DB17D3669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74845" y="12746027"/>
            <a:ext cx="9472331" cy="4151352"/>
          </a:xfrm>
          <a:prstGeom prst="rect">
            <a:avLst/>
          </a:prstGeom>
        </p:spPr>
      </p:pic>
      <p:pic>
        <p:nvPicPr>
          <p:cNvPr id="37" name="그림 36" descr="텍스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D99618A-456D-7146-0AFB-FE6CB17BF4A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92136" y="13652102"/>
            <a:ext cx="12768049" cy="5446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602</Words>
  <Application>Microsoft Macintosh PowerPoint</Application>
  <PresentationFormat>사용자 지정</PresentationFormat>
  <Paragraphs>76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박경빈</dc:creator>
  <cp:lastModifiedBy>유금헌</cp:lastModifiedBy>
  <cp:revision>5</cp:revision>
  <dcterms:modified xsi:type="dcterms:W3CDTF">2026-08-23T12:20:39Z</dcterms:modified>
</cp:coreProperties>
</file>