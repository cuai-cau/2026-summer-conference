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42479913" cy="30240288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" roundtripDataSignature="AMtx7mj3DEpEy1lW+IknwrV0K5B00CCi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168" autoAdjust="0"/>
  </p:normalViewPr>
  <p:slideViewPr>
    <p:cSldViewPr snapToGrid="0">
      <p:cViewPr varScale="1">
        <p:scale>
          <a:sx n="17" d="100"/>
          <a:sy n="17" d="100"/>
        </p:scale>
        <p:origin x="132" y="7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customschemas.google.com/relationships/presentationmetadata" Target="metadata"/><Relationship Id="rId10" Type="http://schemas.openxmlformats.org/officeDocument/2006/relationships/tableStyles" Target="tableStyles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50" name="Google Shape;5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0763" y="685800"/>
            <a:ext cx="48164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2b16e703bd7_0_43"/>
          <p:cNvSpPr txBox="1">
            <a:spLocks noGrp="1"/>
          </p:cNvSpPr>
          <p:nvPr>
            <p:ph type="sldNum" idx="12"/>
          </p:nvPr>
        </p:nvSpPr>
        <p:spPr>
          <a:xfrm>
            <a:off x="39360446" y="27416832"/>
            <a:ext cx="2549100" cy="23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11" name="Google Shape;11;g2b16e703bd7_0_43" descr="스크린샷, 직사각형, 사각형, 라인이(가) 표시된 사진&#10;&#10;자동 생성된 설명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62" y="2684"/>
            <a:ext cx="42476189" cy="30234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2b16e703bd7_0_4"/>
          <p:cNvSpPr txBox="1">
            <a:spLocks noGrp="1"/>
          </p:cNvSpPr>
          <p:nvPr>
            <p:ph type="ctrTitle"/>
          </p:nvPr>
        </p:nvSpPr>
        <p:spPr>
          <a:xfrm>
            <a:off x="1448102" y="4377641"/>
            <a:ext cx="39584100" cy="120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300"/>
              <a:buNone/>
              <a:defRPr sz="26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300"/>
              <a:buNone/>
              <a:defRPr sz="26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300"/>
              <a:buNone/>
              <a:defRPr sz="26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300"/>
              <a:buNone/>
              <a:defRPr sz="26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300"/>
              <a:buNone/>
              <a:defRPr sz="26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300"/>
              <a:buNone/>
              <a:defRPr sz="26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300"/>
              <a:buNone/>
              <a:defRPr sz="26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300"/>
              <a:buNone/>
              <a:defRPr sz="26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300"/>
              <a:buNone/>
              <a:defRPr sz="26300"/>
            </a:lvl9pPr>
          </a:lstStyle>
          <a:p>
            <a:endParaRPr/>
          </a:p>
        </p:txBody>
      </p:sp>
      <p:sp>
        <p:nvSpPr>
          <p:cNvPr id="14" name="Google Shape;14;g2b16e703bd7_0_4"/>
          <p:cNvSpPr txBox="1">
            <a:spLocks noGrp="1"/>
          </p:cNvSpPr>
          <p:nvPr>
            <p:ph type="subTitle" idx="1"/>
          </p:nvPr>
        </p:nvSpPr>
        <p:spPr>
          <a:xfrm>
            <a:off x="1448063" y="16662903"/>
            <a:ext cx="39584100" cy="46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9pPr>
          </a:lstStyle>
          <a:p>
            <a:endParaRPr/>
          </a:p>
        </p:txBody>
      </p:sp>
      <p:sp>
        <p:nvSpPr>
          <p:cNvPr id="15" name="Google Shape;15;g2b16e703bd7_0_4"/>
          <p:cNvSpPr txBox="1">
            <a:spLocks noGrp="1"/>
          </p:cNvSpPr>
          <p:nvPr>
            <p:ph type="sldNum" idx="12"/>
          </p:nvPr>
        </p:nvSpPr>
        <p:spPr>
          <a:xfrm>
            <a:off x="39360446" y="27416832"/>
            <a:ext cx="2549100" cy="23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2b16e703bd7_0_8"/>
          <p:cNvSpPr txBox="1">
            <a:spLocks noGrp="1"/>
          </p:cNvSpPr>
          <p:nvPr>
            <p:ph type="title"/>
          </p:nvPr>
        </p:nvSpPr>
        <p:spPr>
          <a:xfrm>
            <a:off x="1448063" y="12645668"/>
            <a:ext cx="39584100" cy="49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00"/>
              <a:buNone/>
              <a:defRPr sz="18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00"/>
              <a:buNone/>
              <a:defRPr sz="18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00"/>
              <a:buNone/>
              <a:defRPr sz="18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00"/>
              <a:buNone/>
              <a:defRPr sz="18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00"/>
              <a:buNone/>
              <a:defRPr sz="18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00"/>
              <a:buNone/>
              <a:defRPr sz="18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00"/>
              <a:buNone/>
              <a:defRPr sz="18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00"/>
              <a:buNone/>
              <a:defRPr sz="18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00"/>
              <a:buNone/>
              <a:defRPr sz="18200"/>
            </a:lvl9pPr>
          </a:lstStyle>
          <a:p>
            <a:endParaRPr/>
          </a:p>
        </p:txBody>
      </p:sp>
      <p:sp>
        <p:nvSpPr>
          <p:cNvPr id="18" name="Google Shape;18;g2b16e703bd7_0_8"/>
          <p:cNvSpPr txBox="1">
            <a:spLocks noGrp="1"/>
          </p:cNvSpPr>
          <p:nvPr>
            <p:ph type="sldNum" idx="12"/>
          </p:nvPr>
        </p:nvSpPr>
        <p:spPr>
          <a:xfrm>
            <a:off x="39360446" y="27416832"/>
            <a:ext cx="2549100" cy="23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2b16e703bd7_0_11"/>
          <p:cNvSpPr txBox="1">
            <a:spLocks noGrp="1"/>
          </p:cNvSpPr>
          <p:nvPr>
            <p:ph type="title"/>
          </p:nvPr>
        </p:nvSpPr>
        <p:spPr>
          <a:xfrm>
            <a:off x="1448063" y="2616472"/>
            <a:ext cx="39584100" cy="33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g2b16e703bd7_0_11"/>
          <p:cNvSpPr txBox="1">
            <a:spLocks noGrp="1"/>
          </p:cNvSpPr>
          <p:nvPr>
            <p:ph type="body" idx="1"/>
          </p:nvPr>
        </p:nvSpPr>
        <p:spPr>
          <a:xfrm>
            <a:off x="1448063" y="6775840"/>
            <a:ext cx="39584100" cy="200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t" anchorCtr="0">
            <a:normAutofit/>
          </a:bodyPr>
          <a:lstStyle>
            <a:lvl1pPr marL="457200" lvl="0" indent="-806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100"/>
              <a:buChar char="●"/>
              <a:defRPr/>
            </a:lvl1pPr>
            <a:lvl2pPr marL="914400" lvl="1" indent="-679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○"/>
              <a:defRPr/>
            </a:lvl2pPr>
            <a:lvl3pPr marL="1371600" lvl="2" indent="-679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■"/>
              <a:defRPr/>
            </a:lvl3pPr>
            <a:lvl4pPr marL="1828800" lvl="3" indent="-679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●"/>
              <a:defRPr/>
            </a:lvl4pPr>
            <a:lvl5pPr marL="2286000" lvl="4" indent="-679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○"/>
              <a:defRPr/>
            </a:lvl5pPr>
            <a:lvl6pPr marL="2743200" lvl="5" indent="-679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■"/>
              <a:defRPr/>
            </a:lvl6pPr>
            <a:lvl7pPr marL="3200400" lvl="6" indent="-679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●"/>
              <a:defRPr/>
            </a:lvl7pPr>
            <a:lvl8pPr marL="3657600" lvl="7" indent="-679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○"/>
              <a:defRPr/>
            </a:lvl8pPr>
            <a:lvl9pPr marL="4114800" lvl="8" indent="-679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g2b16e703bd7_0_11"/>
          <p:cNvSpPr txBox="1">
            <a:spLocks noGrp="1"/>
          </p:cNvSpPr>
          <p:nvPr>
            <p:ph type="sldNum" idx="12"/>
          </p:nvPr>
        </p:nvSpPr>
        <p:spPr>
          <a:xfrm>
            <a:off x="39360446" y="27416832"/>
            <a:ext cx="2549100" cy="23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2b16e703bd7_0_15"/>
          <p:cNvSpPr txBox="1">
            <a:spLocks noGrp="1"/>
          </p:cNvSpPr>
          <p:nvPr>
            <p:ph type="title"/>
          </p:nvPr>
        </p:nvSpPr>
        <p:spPr>
          <a:xfrm>
            <a:off x="1448063" y="2616472"/>
            <a:ext cx="39584100" cy="33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g2b16e703bd7_0_15"/>
          <p:cNvSpPr txBox="1">
            <a:spLocks noGrp="1"/>
          </p:cNvSpPr>
          <p:nvPr>
            <p:ph type="body" idx="1"/>
          </p:nvPr>
        </p:nvSpPr>
        <p:spPr>
          <a:xfrm>
            <a:off x="1448063" y="6775840"/>
            <a:ext cx="18582300" cy="200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t" anchorCtr="0">
            <a:normAutofit/>
          </a:bodyPr>
          <a:lstStyle>
            <a:lvl1pPr marL="457200" lvl="0" indent="-679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●"/>
              <a:defRPr sz="7100"/>
            </a:lvl1pPr>
            <a:lvl2pPr marL="914400" lvl="1" indent="-615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○"/>
              <a:defRPr sz="6100"/>
            </a:lvl2pPr>
            <a:lvl3pPr marL="1371600" lvl="2" indent="-615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■"/>
              <a:defRPr sz="6100"/>
            </a:lvl3pPr>
            <a:lvl4pPr marL="1828800" lvl="3" indent="-615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●"/>
              <a:defRPr sz="6100"/>
            </a:lvl4pPr>
            <a:lvl5pPr marL="2286000" lvl="4" indent="-615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○"/>
              <a:defRPr sz="6100"/>
            </a:lvl5pPr>
            <a:lvl6pPr marL="2743200" lvl="5" indent="-615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■"/>
              <a:defRPr sz="6100"/>
            </a:lvl6pPr>
            <a:lvl7pPr marL="3200400" lvl="6" indent="-615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●"/>
              <a:defRPr sz="6100"/>
            </a:lvl7pPr>
            <a:lvl8pPr marL="3657600" lvl="7" indent="-615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○"/>
              <a:defRPr sz="6100"/>
            </a:lvl8pPr>
            <a:lvl9pPr marL="4114800" lvl="8" indent="-615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■"/>
              <a:defRPr sz="6100"/>
            </a:lvl9pPr>
          </a:lstStyle>
          <a:p>
            <a:endParaRPr/>
          </a:p>
        </p:txBody>
      </p:sp>
      <p:sp>
        <p:nvSpPr>
          <p:cNvPr id="26" name="Google Shape;26;g2b16e703bd7_0_15"/>
          <p:cNvSpPr txBox="1">
            <a:spLocks noGrp="1"/>
          </p:cNvSpPr>
          <p:nvPr>
            <p:ph type="body" idx="2"/>
          </p:nvPr>
        </p:nvSpPr>
        <p:spPr>
          <a:xfrm>
            <a:off x="22449851" y="6775840"/>
            <a:ext cx="18582300" cy="200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t" anchorCtr="0">
            <a:normAutofit/>
          </a:bodyPr>
          <a:lstStyle>
            <a:lvl1pPr marL="457200" lvl="0" indent="-679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●"/>
              <a:defRPr sz="7100"/>
            </a:lvl1pPr>
            <a:lvl2pPr marL="914400" lvl="1" indent="-615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○"/>
              <a:defRPr sz="6100"/>
            </a:lvl2pPr>
            <a:lvl3pPr marL="1371600" lvl="2" indent="-615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■"/>
              <a:defRPr sz="6100"/>
            </a:lvl3pPr>
            <a:lvl4pPr marL="1828800" lvl="3" indent="-615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●"/>
              <a:defRPr sz="6100"/>
            </a:lvl4pPr>
            <a:lvl5pPr marL="2286000" lvl="4" indent="-615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○"/>
              <a:defRPr sz="6100"/>
            </a:lvl5pPr>
            <a:lvl6pPr marL="2743200" lvl="5" indent="-615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■"/>
              <a:defRPr sz="6100"/>
            </a:lvl6pPr>
            <a:lvl7pPr marL="3200400" lvl="6" indent="-615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●"/>
              <a:defRPr sz="6100"/>
            </a:lvl7pPr>
            <a:lvl8pPr marL="3657600" lvl="7" indent="-615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○"/>
              <a:defRPr sz="6100"/>
            </a:lvl8pPr>
            <a:lvl9pPr marL="4114800" lvl="8" indent="-615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■"/>
              <a:defRPr sz="6100"/>
            </a:lvl9pPr>
          </a:lstStyle>
          <a:p>
            <a:endParaRPr/>
          </a:p>
        </p:txBody>
      </p:sp>
      <p:sp>
        <p:nvSpPr>
          <p:cNvPr id="27" name="Google Shape;27;g2b16e703bd7_0_15"/>
          <p:cNvSpPr txBox="1">
            <a:spLocks noGrp="1"/>
          </p:cNvSpPr>
          <p:nvPr>
            <p:ph type="sldNum" idx="12"/>
          </p:nvPr>
        </p:nvSpPr>
        <p:spPr>
          <a:xfrm>
            <a:off x="39360446" y="27416832"/>
            <a:ext cx="2549100" cy="23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2b16e703bd7_0_20"/>
          <p:cNvSpPr txBox="1">
            <a:spLocks noGrp="1"/>
          </p:cNvSpPr>
          <p:nvPr>
            <p:ph type="title"/>
          </p:nvPr>
        </p:nvSpPr>
        <p:spPr>
          <a:xfrm>
            <a:off x="1448063" y="2616472"/>
            <a:ext cx="39584100" cy="33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2b16e703bd7_0_20"/>
          <p:cNvSpPr txBox="1">
            <a:spLocks noGrp="1"/>
          </p:cNvSpPr>
          <p:nvPr>
            <p:ph type="sldNum" idx="12"/>
          </p:nvPr>
        </p:nvSpPr>
        <p:spPr>
          <a:xfrm>
            <a:off x="39360446" y="27416832"/>
            <a:ext cx="2549100" cy="23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2b16e703bd7_0_23"/>
          <p:cNvSpPr txBox="1">
            <a:spLocks noGrp="1"/>
          </p:cNvSpPr>
          <p:nvPr>
            <p:ph type="title"/>
          </p:nvPr>
        </p:nvSpPr>
        <p:spPr>
          <a:xfrm>
            <a:off x="1448063" y="3266584"/>
            <a:ext cx="13045200" cy="44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9pPr>
          </a:lstStyle>
          <a:p>
            <a:endParaRPr/>
          </a:p>
        </p:txBody>
      </p:sp>
      <p:sp>
        <p:nvSpPr>
          <p:cNvPr id="33" name="Google Shape;33;g2b16e703bd7_0_23"/>
          <p:cNvSpPr txBox="1">
            <a:spLocks noGrp="1"/>
          </p:cNvSpPr>
          <p:nvPr>
            <p:ph type="body" idx="1"/>
          </p:nvPr>
        </p:nvSpPr>
        <p:spPr>
          <a:xfrm>
            <a:off x="1448063" y="8169989"/>
            <a:ext cx="13045200" cy="186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t" anchorCtr="0">
            <a:normAutofit/>
          </a:bodyPr>
          <a:lstStyle>
            <a:lvl1pPr marL="457200" lvl="0" indent="-615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●"/>
              <a:defRPr sz="6100"/>
            </a:lvl1pPr>
            <a:lvl2pPr marL="914400" lvl="1" indent="-615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○"/>
              <a:defRPr sz="6100"/>
            </a:lvl2pPr>
            <a:lvl3pPr marL="1371600" lvl="2" indent="-615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■"/>
              <a:defRPr sz="6100"/>
            </a:lvl3pPr>
            <a:lvl4pPr marL="1828800" lvl="3" indent="-615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●"/>
              <a:defRPr sz="6100"/>
            </a:lvl4pPr>
            <a:lvl5pPr marL="2286000" lvl="4" indent="-615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○"/>
              <a:defRPr sz="6100"/>
            </a:lvl5pPr>
            <a:lvl6pPr marL="2743200" lvl="5" indent="-615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■"/>
              <a:defRPr sz="6100"/>
            </a:lvl6pPr>
            <a:lvl7pPr marL="3200400" lvl="6" indent="-615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●"/>
              <a:defRPr sz="6100"/>
            </a:lvl7pPr>
            <a:lvl8pPr marL="3657600" lvl="7" indent="-615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○"/>
              <a:defRPr sz="6100"/>
            </a:lvl8pPr>
            <a:lvl9pPr marL="4114800" lvl="8" indent="-615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■"/>
              <a:defRPr sz="6100"/>
            </a:lvl9pPr>
          </a:lstStyle>
          <a:p>
            <a:endParaRPr/>
          </a:p>
        </p:txBody>
      </p:sp>
      <p:sp>
        <p:nvSpPr>
          <p:cNvPr id="34" name="Google Shape;34;g2b16e703bd7_0_23"/>
          <p:cNvSpPr txBox="1">
            <a:spLocks noGrp="1"/>
          </p:cNvSpPr>
          <p:nvPr>
            <p:ph type="sldNum" idx="12"/>
          </p:nvPr>
        </p:nvSpPr>
        <p:spPr>
          <a:xfrm>
            <a:off x="39360446" y="27416832"/>
            <a:ext cx="2549100" cy="23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2b16e703bd7_0_27"/>
          <p:cNvSpPr txBox="1">
            <a:spLocks noGrp="1"/>
          </p:cNvSpPr>
          <p:nvPr>
            <p:ph type="title"/>
          </p:nvPr>
        </p:nvSpPr>
        <p:spPr>
          <a:xfrm>
            <a:off x="2277551" y="2646604"/>
            <a:ext cx="29583000" cy="240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300"/>
              <a:buNone/>
              <a:defRPr sz="24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300"/>
              <a:buNone/>
              <a:defRPr sz="24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300"/>
              <a:buNone/>
              <a:defRPr sz="24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300"/>
              <a:buNone/>
              <a:defRPr sz="24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300"/>
              <a:buNone/>
              <a:defRPr sz="24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300"/>
              <a:buNone/>
              <a:defRPr sz="24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300"/>
              <a:buNone/>
              <a:defRPr sz="24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300"/>
              <a:buNone/>
              <a:defRPr sz="24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300"/>
              <a:buNone/>
              <a:defRPr sz="24300"/>
            </a:lvl9pPr>
          </a:lstStyle>
          <a:p>
            <a:endParaRPr/>
          </a:p>
        </p:txBody>
      </p:sp>
      <p:sp>
        <p:nvSpPr>
          <p:cNvPr id="37" name="Google Shape;37;g2b16e703bd7_0_27"/>
          <p:cNvSpPr txBox="1">
            <a:spLocks noGrp="1"/>
          </p:cNvSpPr>
          <p:nvPr>
            <p:ph type="sldNum" idx="12"/>
          </p:nvPr>
        </p:nvSpPr>
        <p:spPr>
          <a:xfrm>
            <a:off x="39360446" y="27416832"/>
            <a:ext cx="2549100" cy="23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2b16e703bd7_0_30"/>
          <p:cNvSpPr/>
          <p:nvPr/>
        </p:nvSpPr>
        <p:spPr>
          <a:xfrm>
            <a:off x="21240113" y="-735"/>
            <a:ext cx="21240000" cy="30240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462325" tIns="462325" rIns="462325" bIns="4623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g2b16e703bd7_0_30"/>
          <p:cNvSpPr txBox="1">
            <a:spLocks noGrp="1"/>
          </p:cNvSpPr>
          <p:nvPr>
            <p:ph type="title"/>
          </p:nvPr>
        </p:nvSpPr>
        <p:spPr>
          <a:xfrm>
            <a:off x="1233432" y="7250307"/>
            <a:ext cx="18792900" cy="87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200"/>
              <a:buNone/>
              <a:defRPr sz="2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200"/>
              <a:buNone/>
              <a:defRPr sz="2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200"/>
              <a:buNone/>
              <a:defRPr sz="2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200"/>
              <a:buNone/>
              <a:defRPr sz="2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200"/>
              <a:buNone/>
              <a:defRPr sz="2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200"/>
              <a:buNone/>
              <a:defRPr sz="2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200"/>
              <a:buNone/>
              <a:defRPr sz="2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200"/>
              <a:buNone/>
              <a:defRPr sz="2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200"/>
              <a:buNone/>
              <a:defRPr sz="21200"/>
            </a:lvl9pPr>
          </a:lstStyle>
          <a:p>
            <a:endParaRPr/>
          </a:p>
        </p:txBody>
      </p:sp>
      <p:sp>
        <p:nvSpPr>
          <p:cNvPr id="41" name="Google Shape;41;g2b16e703bd7_0_30"/>
          <p:cNvSpPr txBox="1">
            <a:spLocks noGrp="1"/>
          </p:cNvSpPr>
          <p:nvPr>
            <p:ph type="subTitle" idx="1"/>
          </p:nvPr>
        </p:nvSpPr>
        <p:spPr>
          <a:xfrm>
            <a:off x="1233432" y="16480348"/>
            <a:ext cx="18792900" cy="726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600"/>
              <a:buNone/>
              <a:defRPr sz="10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600"/>
              <a:buNone/>
              <a:defRPr sz="10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600"/>
              <a:buNone/>
              <a:defRPr sz="10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600"/>
              <a:buNone/>
              <a:defRPr sz="10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600"/>
              <a:buNone/>
              <a:defRPr sz="10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600"/>
              <a:buNone/>
              <a:defRPr sz="10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600"/>
              <a:buNone/>
              <a:defRPr sz="10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600"/>
              <a:buNone/>
              <a:defRPr sz="10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600"/>
              <a:buNone/>
              <a:defRPr sz="10600"/>
            </a:lvl9pPr>
          </a:lstStyle>
          <a:p>
            <a:endParaRPr/>
          </a:p>
        </p:txBody>
      </p:sp>
      <p:sp>
        <p:nvSpPr>
          <p:cNvPr id="42" name="Google Shape;42;g2b16e703bd7_0_30"/>
          <p:cNvSpPr txBox="1">
            <a:spLocks noGrp="1"/>
          </p:cNvSpPr>
          <p:nvPr>
            <p:ph type="body" idx="2"/>
          </p:nvPr>
        </p:nvSpPr>
        <p:spPr>
          <a:xfrm>
            <a:off x="22947405" y="4257113"/>
            <a:ext cx="17825400" cy="217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ctr" anchorCtr="0">
            <a:normAutofit/>
          </a:bodyPr>
          <a:lstStyle>
            <a:lvl1pPr marL="457200" lvl="0" indent="-806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100"/>
              <a:buChar char="●"/>
              <a:defRPr/>
            </a:lvl1pPr>
            <a:lvl2pPr marL="914400" lvl="1" indent="-679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○"/>
              <a:defRPr/>
            </a:lvl2pPr>
            <a:lvl3pPr marL="1371600" lvl="2" indent="-679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■"/>
              <a:defRPr/>
            </a:lvl3pPr>
            <a:lvl4pPr marL="1828800" lvl="3" indent="-679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●"/>
              <a:defRPr/>
            </a:lvl4pPr>
            <a:lvl5pPr marL="2286000" lvl="4" indent="-679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○"/>
              <a:defRPr/>
            </a:lvl5pPr>
            <a:lvl6pPr marL="2743200" lvl="5" indent="-679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■"/>
              <a:defRPr/>
            </a:lvl6pPr>
            <a:lvl7pPr marL="3200400" lvl="6" indent="-679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●"/>
              <a:defRPr/>
            </a:lvl7pPr>
            <a:lvl8pPr marL="3657600" lvl="7" indent="-679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○"/>
              <a:defRPr/>
            </a:lvl8pPr>
            <a:lvl9pPr marL="4114800" lvl="8" indent="-679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■"/>
              <a:defRPr/>
            </a:lvl9pPr>
          </a:lstStyle>
          <a:p>
            <a:endParaRPr/>
          </a:p>
        </p:txBody>
      </p:sp>
      <p:sp>
        <p:nvSpPr>
          <p:cNvPr id="43" name="Google Shape;43;g2b16e703bd7_0_30"/>
          <p:cNvSpPr txBox="1">
            <a:spLocks noGrp="1"/>
          </p:cNvSpPr>
          <p:nvPr>
            <p:ph type="sldNum" idx="12"/>
          </p:nvPr>
        </p:nvSpPr>
        <p:spPr>
          <a:xfrm>
            <a:off x="39360446" y="27416832"/>
            <a:ext cx="2549100" cy="23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2b16e703bd7_0_39"/>
          <p:cNvSpPr txBox="1">
            <a:spLocks noGrp="1"/>
          </p:cNvSpPr>
          <p:nvPr>
            <p:ph type="title" hasCustomPrompt="1"/>
          </p:nvPr>
        </p:nvSpPr>
        <p:spPr>
          <a:xfrm>
            <a:off x="1448063" y="6503331"/>
            <a:ext cx="39584100" cy="115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700"/>
              <a:buNone/>
              <a:defRPr sz="60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700"/>
              <a:buNone/>
              <a:defRPr sz="60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700"/>
              <a:buNone/>
              <a:defRPr sz="60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700"/>
              <a:buNone/>
              <a:defRPr sz="60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700"/>
              <a:buNone/>
              <a:defRPr sz="60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700"/>
              <a:buNone/>
              <a:defRPr sz="60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700"/>
              <a:buNone/>
              <a:defRPr sz="60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700"/>
              <a:buNone/>
              <a:defRPr sz="60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700"/>
              <a:buNone/>
              <a:defRPr sz="60700"/>
            </a:lvl9pPr>
          </a:lstStyle>
          <a:p>
            <a:r>
              <a:t>xx%</a:t>
            </a:r>
          </a:p>
        </p:txBody>
      </p:sp>
      <p:sp>
        <p:nvSpPr>
          <p:cNvPr id="46" name="Google Shape;46;g2b16e703bd7_0_39"/>
          <p:cNvSpPr txBox="1">
            <a:spLocks noGrp="1"/>
          </p:cNvSpPr>
          <p:nvPr>
            <p:ph type="body" idx="1"/>
          </p:nvPr>
        </p:nvSpPr>
        <p:spPr>
          <a:xfrm>
            <a:off x="1448063" y="18533134"/>
            <a:ext cx="39584100" cy="76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t" anchorCtr="0">
            <a:normAutofit/>
          </a:bodyPr>
          <a:lstStyle>
            <a:lvl1pPr marL="457200" lvl="0" indent="-806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100"/>
              <a:buChar char="●"/>
              <a:defRPr/>
            </a:lvl1pPr>
            <a:lvl2pPr marL="914400" lvl="1" indent="-679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○"/>
              <a:defRPr/>
            </a:lvl2pPr>
            <a:lvl3pPr marL="1371600" lvl="2" indent="-679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■"/>
              <a:defRPr/>
            </a:lvl3pPr>
            <a:lvl4pPr marL="1828800" lvl="3" indent="-679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●"/>
              <a:defRPr/>
            </a:lvl4pPr>
            <a:lvl5pPr marL="2286000" lvl="4" indent="-679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○"/>
              <a:defRPr/>
            </a:lvl5pPr>
            <a:lvl6pPr marL="2743200" lvl="5" indent="-679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■"/>
              <a:defRPr/>
            </a:lvl6pPr>
            <a:lvl7pPr marL="3200400" lvl="6" indent="-679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●"/>
              <a:defRPr/>
            </a:lvl7pPr>
            <a:lvl8pPr marL="3657600" lvl="7" indent="-679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○"/>
              <a:defRPr/>
            </a:lvl8pPr>
            <a:lvl9pPr marL="4114800" lvl="8" indent="-679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g2b16e703bd7_0_39"/>
          <p:cNvSpPr txBox="1">
            <a:spLocks noGrp="1"/>
          </p:cNvSpPr>
          <p:nvPr>
            <p:ph type="sldNum" idx="12"/>
          </p:nvPr>
        </p:nvSpPr>
        <p:spPr>
          <a:xfrm>
            <a:off x="39360446" y="27416832"/>
            <a:ext cx="2549100" cy="23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2b16e703bd7_0_0"/>
          <p:cNvSpPr txBox="1">
            <a:spLocks noGrp="1"/>
          </p:cNvSpPr>
          <p:nvPr>
            <p:ph type="title"/>
          </p:nvPr>
        </p:nvSpPr>
        <p:spPr>
          <a:xfrm>
            <a:off x="1448063" y="2616472"/>
            <a:ext cx="39584100" cy="33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00"/>
              <a:buFont typeface="Arial"/>
              <a:buNone/>
              <a:defRPr sz="1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00"/>
              <a:buFont typeface="Arial"/>
              <a:buNone/>
              <a:defRPr sz="1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00"/>
              <a:buFont typeface="Arial"/>
              <a:buNone/>
              <a:defRPr sz="1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00"/>
              <a:buFont typeface="Arial"/>
              <a:buNone/>
              <a:defRPr sz="1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00"/>
              <a:buFont typeface="Arial"/>
              <a:buNone/>
              <a:defRPr sz="1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00"/>
              <a:buFont typeface="Arial"/>
              <a:buNone/>
              <a:defRPr sz="1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00"/>
              <a:buFont typeface="Arial"/>
              <a:buNone/>
              <a:defRPr sz="1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00"/>
              <a:buFont typeface="Arial"/>
              <a:buNone/>
              <a:defRPr sz="1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00"/>
              <a:buFont typeface="Arial"/>
              <a:buNone/>
              <a:defRPr sz="1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2b16e703bd7_0_0"/>
          <p:cNvSpPr txBox="1">
            <a:spLocks noGrp="1"/>
          </p:cNvSpPr>
          <p:nvPr>
            <p:ph type="body" idx="1"/>
          </p:nvPr>
        </p:nvSpPr>
        <p:spPr>
          <a:xfrm>
            <a:off x="1448063" y="6775840"/>
            <a:ext cx="39584100" cy="200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t" anchorCtr="0">
            <a:normAutofit/>
          </a:bodyPr>
          <a:lstStyle>
            <a:lvl1pPr marL="457200" marR="0" lvl="0" indent="-806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100"/>
              <a:buFont typeface="Arial"/>
              <a:buChar char="●"/>
              <a:defRPr sz="9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679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100"/>
              <a:buFont typeface="Arial"/>
              <a:buChar char="○"/>
              <a:defRPr sz="7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679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100"/>
              <a:buFont typeface="Arial"/>
              <a:buChar char="■"/>
              <a:defRPr sz="7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679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100"/>
              <a:buFont typeface="Arial"/>
              <a:buChar char="●"/>
              <a:defRPr sz="7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679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100"/>
              <a:buFont typeface="Arial"/>
              <a:buChar char="○"/>
              <a:defRPr sz="7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679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100"/>
              <a:buFont typeface="Arial"/>
              <a:buChar char="■"/>
              <a:defRPr sz="7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679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100"/>
              <a:buFont typeface="Arial"/>
              <a:buChar char="●"/>
              <a:defRPr sz="7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679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100"/>
              <a:buFont typeface="Arial"/>
              <a:buChar char="○"/>
              <a:defRPr sz="7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679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100"/>
              <a:buFont typeface="Arial"/>
              <a:buChar char="■"/>
              <a:defRPr sz="7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g2b16e703bd7_0_0"/>
          <p:cNvSpPr txBox="1">
            <a:spLocks noGrp="1"/>
          </p:cNvSpPr>
          <p:nvPr>
            <p:ph type="sldNum" idx="12"/>
          </p:nvPr>
        </p:nvSpPr>
        <p:spPr>
          <a:xfrm>
            <a:off x="39360446" y="27416832"/>
            <a:ext cx="2549100" cy="23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"/>
          <p:cNvSpPr txBox="1"/>
          <p:nvPr/>
        </p:nvSpPr>
        <p:spPr>
          <a:xfrm>
            <a:off x="908275" y="23294340"/>
            <a:ext cx="13159417" cy="831000"/>
          </a:xfrm>
          <a:prstGeom prst="rect">
            <a:avLst/>
          </a:prstGeom>
          <a:gradFill>
            <a:gsLst>
              <a:gs pos="0">
                <a:srgbClr val="17254A"/>
              </a:gs>
              <a:gs pos="50000">
                <a:srgbClr val="575D81"/>
              </a:gs>
              <a:gs pos="100000">
                <a:srgbClr val="CDDAE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lang="ko-KR"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Aim</a:t>
            </a:r>
            <a:endParaRPr sz="4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"/>
          <p:cNvSpPr txBox="1"/>
          <p:nvPr/>
        </p:nvSpPr>
        <p:spPr>
          <a:xfrm>
            <a:off x="908275" y="12756589"/>
            <a:ext cx="13159417" cy="831000"/>
          </a:xfrm>
          <a:prstGeom prst="rect">
            <a:avLst/>
          </a:prstGeom>
          <a:gradFill>
            <a:gsLst>
              <a:gs pos="0">
                <a:srgbClr val="17254A"/>
              </a:gs>
              <a:gs pos="50000">
                <a:srgbClr val="575D81"/>
              </a:gs>
              <a:gs pos="100000">
                <a:srgbClr val="CDDAE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lang="ko-KR"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sz="4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"/>
          <p:cNvSpPr txBox="1"/>
          <p:nvPr/>
        </p:nvSpPr>
        <p:spPr>
          <a:xfrm>
            <a:off x="27374374" y="2813550"/>
            <a:ext cx="13977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ko-KR" sz="42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</a:t>
            </a:r>
            <a:r>
              <a:rPr lang="en-US" altLang="ko-KR" sz="42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lang="ko-KR" sz="42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CUAI 중앙대학교 인공지능 학회 하계 컨퍼런스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"/>
          <p:cNvSpPr txBox="1"/>
          <p:nvPr/>
        </p:nvSpPr>
        <p:spPr>
          <a:xfrm>
            <a:off x="25464113" y="3493698"/>
            <a:ext cx="15887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ko-KR" sz="32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Proceeding</a:t>
            </a:r>
            <a:r>
              <a:rPr lang="ko-KR" sz="32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of 202</a:t>
            </a:r>
            <a:r>
              <a:rPr lang="en-US" altLang="ko-KR" sz="32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lang="ko-KR" sz="32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32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Chung-Ang</a:t>
            </a:r>
            <a:r>
              <a:rPr lang="ko-KR" sz="32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32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University</a:t>
            </a:r>
            <a:r>
              <a:rPr lang="ko-KR" sz="32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32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Artificial</a:t>
            </a:r>
            <a:r>
              <a:rPr lang="ko-KR" sz="32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32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Intelligence</a:t>
            </a:r>
            <a:r>
              <a:rPr lang="ko-KR" sz="32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32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Summer</a:t>
            </a:r>
            <a:r>
              <a:rPr lang="ko-KR" sz="32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32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Conference</a:t>
            </a:r>
            <a:endParaRPr sz="32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/>
          <p:cNvSpPr txBox="1"/>
          <p:nvPr/>
        </p:nvSpPr>
        <p:spPr>
          <a:xfrm>
            <a:off x="908275" y="5094779"/>
            <a:ext cx="13159417" cy="831000"/>
          </a:xfrm>
          <a:prstGeom prst="rect">
            <a:avLst/>
          </a:prstGeom>
          <a:gradFill>
            <a:gsLst>
              <a:gs pos="0">
                <a:srgbClr val="17254A"/>
              </a:gs>
              <a:gs pos="50000">
                <a:srgbClr val="575D81"/>
              </a:gs>
              <a:gs pos="100000">
                <a:srgbClr val="CDDAE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lang="ko-KR" sz="48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ko-KR" sz="48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Abstract</a:t>
            </a:r>
            <a:r>
              <a:rPr lang="ko-KR" sz="48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48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/>
          <p:cNvSpPr txBox="1"/>
          <p:nvPr/>
        </p:nvSpPr>
        <p:spPr>
          <a:xfrm>
            <a:off x="14660247" y="16545198"/>
            <a:ext cx="13159417" cy="831000"/>
          </a:xfrm>
          <a:prstGeom prst="rect">
            <a:avLst/>
          </a:prstGeom>
          <a:gradFill>
            <a:gsLst>
              <a:gs pos="0">
                <a:srgbClr val="17254A"/>
              </a:gs>
              <a:gs pos="50000">
                <a:srgbClr val="575D81"/>
              </a:gs>
              <a:gs pos="100000">
                <a:srgbClr val="CDDAE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lang="ko-KR"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Methods</a:t>
            </a:r>
            <a:endParaRPr sz="4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28412221" y="5001972"/>
            <a:ext cx="13159417" cy="831000"/>
          </a:xfrm>
          <a:prstGeom prst="rect">
            <a:avLst/>
          </a:prstGeom>
          <a:gradFill>
            <a:gsLst>
              <a:gs pos="0">
                <a:srgbClr val="17254A"/>
              </a:gs>
              <a:gs pos="50000">
                <a:srgbClr val="575D81"/>
              </a:gs>
              <a:gs pos="100000">
                <a:srgbClr val="CDDAE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lang="ko-KR"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endParaRPr sz="4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"/>
          <p:cNvSpPr txBox="1"/>
          <p:nvPr/>
        </p:nvSpPr>
        <p:spPr>
          <a:xfrm>
            <a:off x="28412221" y="18612165"/>
            <a:ext cx="13159417" cy="831000"/>
          </a:xfrm>
          <a:prstGeom prst="rect">
            <a:avLst/>
          </a:prstGeom>
          <a:gradFill>
            <a:gsLst>
              <a:gs pos="0">
                <a:srgbClr val="17254A"/>
              </a:gs>
              <a:gs pos="50000">
                <a:srgbClr val="575D81"/>
              </a:gs>
              <a:gs pos="100000">
                <a:srgbClr val="CDDAE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lang="ko-KR"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sz="4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"/>
          <p:cNvSpPr txBox="1"/>
          <p:nvPr/>
        </p:nvSpPr>
        <p:spPr>
          <a:xfrm>
            <a:off x="952490" y="1241274"/>
            <a:ext cx="35827200" cy="1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</a:pPr>
            <a:r>
              <a:rPr lang="ko-KR" altLang="en-US" sz="8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장기 소설 문맥 이해에서 요약 기반 되뇌기와 질문 생성의 효과 분석</a:t>
            </a:r>
            <a:endParaRPr sz="80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"/>
          <p:cNvSpPr txBox="1"/>
          <p:nvPr/>
        </p:nvSpPr>
        <p:spPr>
          <a:xfrm>
            <a:off x="1128117" y="3108948"/>
            <a:ext cx="274821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ko-KR" altLang="en-US" sz="4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이경환</a:t>
            </a:r>
            <a:r>
              <a:rPr lang="ko-KR" altLang="en-US" sz="4400" dirty="0">
                <a:solidFill>
                  <a:schemeClr val="lt1"/>
                </a:solidFill>
              </a:rPr>
              <a:t> </a:t>
            </a:r>
            <a:r>
              <a:rPr lang="en-US" altLang="ko-KR" sz="4400" dirty="0">
                <a:solidFill>
                  <a:schemeClr val="lt1"/>
                </a:solidFill>
              </a:rPr>
              <a:t>(AI</a:t>
            </a:r>
            <a:r>
              <a:rPr lang="ko-KR" altLang="en-US" sz="4400" dirty="0">
                <a:solidFill>
                  <a:schemeClr val="lt1"/>
                </a:solidFill>
              </a:rPr>
              <a:t>학과</a:t>
            </a:r>
            <a:r>
              <a:rPr lang="en-US" altLang="ko-KR" sz="4400" dirty="0">
                <a:solidFill>
                  <a:schemeClr val="lt1"/>
                </a:solidFill>
              </a:rPr>
              <a:t>)</a:t>
            </a:r>
            <a:endParaRPr sz="4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92A88F-332D-88DA-9031-A43B7B65466D}"/>
              </a:ext>
            </a:extLst>
          </p:cNvPr>
          <p:cNvSpPr txBox="1"/>
          <p:nvPr/>
        </p:nvSpPr>
        <p:spPr>
          <a:xfrm>
            <a:off x="6000750" y="800100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2F1CEA-07FF-E3F0-B219-3C7AAD8A2500}"/>
              </a:ext>
            </a:extLst>
          </p:cNvPr>
          <p:cNvSpPr txBox="1"/>
          <p:nvPr/>
        </p:nvSpPr>
        <p:spPr>
          <a:xfrm>
            <a:off x="952490" y="5925779"/>
            <a:ext cx="13115202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dirty="0"/>
              <a:t> 1. </a:t>
            </a:r>
            <a:r>
              <a:rPr lang="en-US" altLang="ko-KR" sz="5400" dirty="0" err="1"/>
              <a:t>장기</a:t>
            </a:r>
            <a:r>
              <a:rPr lang="en-US" altLang="ko-KR" sz="5400" dirty="0"/>
              <a:t> </a:t>
            </a:r>
            <a:r>
              <a:rPr lang="en-US" altLang="ko-KR" sz="5400" dirty="0" err="1"/>
              <a:t>소설</a:t>
            </a:r>
            <a:r>
              <a:rPr lang="en-US" altLang="ko-KR" sz="5400" dirty="0"/>
              <a:t> </a:t>
            </a:r>
            <a:r>
              <a:rPr lang="en-US" altLang="ko-KR" sz="5400" dirty="0" err="1"/>
              <a:t>문맥에서</a:t>
            </a:r>
            <a:r>
              <a:rPr lang="en-US" altLang="ko-KR" sz="5400" dirty="0"/>
              <a:t> </a:t>
            </a:r>
            <a:r>
              <a:rPr lang="ko-KR" altLang="en-US" sz="5400" dirty="0"/>
              <a:t>추출</a:t>
            </a:r>
            <a:r>
              <a:rPr lang="en-US" altLang="ko-KR" sz="5400" dirty="0"/>
              <a:t>, </a:t>
            </a:r>
            <a:r>
              <a:rPr lang="ko-KR" altLang="en-US" sz="5400" dirty="0"/>
              <a:t>생성요약과 검사효과의 효과를 검증</a:t>
            </a:r>
            <a:endParaRPr lang="en-US" altLang="ko-KR" sz="5400" dirty="0"/>
          </a:p>
          <a:p>
            <a:r>
              <a:rPr lang="en-US" altLang="ko-KR" sz="5400" dirty="0"/>
              <a:t>2. pko-T5 r</a:t>
            </a:r>
            <a:r>
              <a:rPr lang="ko-KR" altLang="en-US" sz="5400" dirty="0"/>
              <a:t>기반으로 요약</a:t>
            </a:r>
            <a:r>
              <a:rPr lang="en-US" altLang="ko-KR" sz="5400" dirty="0"/>
              <a:t>, </a:t>
            </a:r>
            <a:r>
              <a:rPr lang="ko-KR" altLang="en-US" sz="5400" dirty="0"/>
              <a:t>검사효과를 만들고 </a:t>
            </a:r>
            <a:r>
              <a:rPr lang="en-US" altLang="ko-KR" sz="5400" dirty="0"/>
              <a:t>Qwen3.5-9B</a:t>
            </a:r>
            <a:r>
              <a:rPr lang="ko-KR" altLang="en-US" sz="5400" dirty="0"/>
              <a:t>로 실제 문제셋을 통해 검증</a:t>
            </a:r>
            <a:endParaRPr lang="en-US" altLang="ko-KR" sz="5400" dirty="0"/>
          </a:p>
          <a:p>
            <a:r>
              <a:rPr lang="en-US" altLang="ko-KR" sz="5400" dirty="0"/>
              <a:t>3. </a:t>
            </a:r>
            <a:r>
              <a:rPr lang="ko-KR" altLang="en-US" sz="5400" dirty="0"/>
              <a:t>요약은 약간의 효과가 있었지만 검사효과는 효과를 얻지 못함</a:t>
            </a:r>
            <a:endParaRPr lang="ko-KR" altLang="en-US" sz="3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C67AB6-5432-2EED-5158-A8D7F4713AE6}"/>
              </a:ext>
            </a:extLst>
          </p:cNvPr>
          <p:cNvSpPr txBox="1"/>
          <p:nvPr/>
        </p:nvSpPr>
        <p:spPr>
          <a:xfrm>
            <a:off x="952490" y="13587589"/>
            <a:ext cx="12592060" cy="9233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dirty="0"/>
              <a:t> </a:t>
            </a:r>
            <a:r>
              <a:rPr lang="ko-KR" altLang="en-US" sz="5400" dirty="0"/>
              <a:t>문제의식 </a:t>
            </a:r>
            <a:r>
              <a:rPr lang="en-US" altLang="ko-KR" sz="5400" dirty="0"/>
              <a:t>: </a:t>
            </a:r>
            <a:r>
              <a:rPr lang="ko-KR" altLang="en-US" sz="5400" dirty="0"/>
              <a:t>긴 컨텍스트를 입력할 수 있다는 것과</a:t>
            </a:r>
            <a:r>
              <a:rPr lang="en-US" altLang="ko-KR" sz="5400" dirty="0"/>
              <a:t>, </a:t>
            </a:r>
            <a:r>
              <a:rPr lang="ko-KR" altLang="en-US" sz="5400" dirty="0"/>
              <a:t>이를</a:t>
            </a:r>
            <a:r>
              <a:rPr lang="en-US" altLang="ko-KR" sz="5400" dirty="0"/>
              <a:t> </a:t>
            </a:r>
            <a:r>
              <a:rPr lang="ko-KR" altLang="en-US" sz="5400" dirty="0"/>
              <a:t>활용할 수 있다는 것은 다른 문제임</a:t>
            </a:r>
            <a:r>
              <a:rPr lang="en-US" altLang="ko-KR" sz="5400" dirty="0"/>
              <a:t>.</a:t>
            </a:r>
          </a:p>
          <a:p>
            <a:br>
              <a:rPr lang="en-US" altLang="ko-KR" sz="5400" dirty="0"/>
            </a:br>
            <a:r>
              <a:rPr lang="en-US" altLang="ko-KR" sz="5400" dirty="0" err="1"/>
              <a:t>Recomp</a:t>
            </a:r>
            <a:r>
              <a:rPr lang="ko-KR" altLang="en-US" sz="5400" dirty="0"/>
              <a:t>는 검색 문서를 압축해 모델에 제공하지만 원문을 제거하지 않고 </a:t>
            </a:r>
            <a:r>
              <a:rPr lang="ko-KR" altLang="en-US" sz="5400" dirty="0" err="1"/>
              <a:t>청크</a:t>
            </a:r>
            <a:r>
              <a:rPr lang="ko-KR" altLang="en-US" sz="5400" dirty="0"/>
              <a:t> 뒤에 붙인다면 어떨까</a:t>
            </a:r>
            <a:r>
              <a:rPr lang="en-US" altLang="ko-KR" sz="5400" dirty="0"/>
              <a:t>?</a:t>
            </a:r>
          </a:p>
          <a:p>
            <a:endParaRPr lang="en-US" altLang="ko-KR" sz="5400" dirty="0"/>
          </a:p>
          <a:p>
            <a:r>
              <a:rPr lang="ko-KR" altLang="en-US" sz="5400" dirty="0"/>
              <a:t>추가적으로 여기에 </a:t>
            </a:r>
            <a:r>
              <a:rPr lang="en-US" altLang="ko-KR" sz="5400" dirty="0">
                <a:latin typeface="NanumSquare"/>
              </a:rPr>
              <a:t>testing effect</a:t>
            </a:r>
            <a:r>
              <a:rPr lang="ko-KR" altLang="en-US" sz="5400" dirty="0">
                <a:latin typeface="NanumSquare"/>
              </a:rPr>
              <a:t>까지 더한다면 어떨까</a:t>
            </a:r>
            <a:r>
              <a:rPr lang="en-US" altLang="ko-KR" sz="5400" dirty="0">
                <a:latin typeface="NanumSquare"/>
              </a:rPr>
              <a:t>?</a:t>
            </a:r>
            <a:endParaRPr lang="en-US" altLang="ko-KR" sz="5400" dirty="0"/>
          </a:p>
          <a:p>
            <a:endParaRPr lang="ko-KR" altLang="en-US" sz="5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C90A64-4FDF-9172-3627-513E7E122442}"/>
              </a:ext>
            </a:extLst>
          </p:cNvPr>
          <p:cNvSpPr txBox="1"/>
          <p:nvPr/>
        </p:nvSpPr>
        <p:spPr>
          <a:xfrm>
            <a:off x="952490" y="24125340"/>
            <a:ext cx="1311520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5400" dirty="0"/>
              <a:t>①</a:t>
            </a:r>
            <a:r>
              <a:rPr lang="en-US" altLang="ko-KR" sz="5400" dirty="0"/>
              <a:t> </a:t>
            </a:r>
            <a:r>
              <a:rPr lang="ko-KR" altLang="en-US" sz="5400" dirty="0"/>
              <a:t>검사효과를 모방한 </a:t>
            </a:r>
            <a:r>
              <a:rPr lang="ko-KR" altLang="ko-KR" sz="5400" dirty="0"/>
              <a:t>요약 기반 Q&amp;A 추가가 성능에 미치는 영향</a:t>
            </a:r>
            <a:br>
              <a:rPr lang="ko-KR" altLang="ko-KR" sz="5400" dirty="0"/>
            </a:br>
            <a:r>
              <a:rPr lang="ko-KR" altLang="ko-KR" sz="5400" dirty="0"/>
              <a:t>② 생성요약과 추출요약의 효과</a:t>
            </a:r>
            <a:br>
              <a:rPr lang="ko-KR" altLang="ko-KR" sz="5400" dirty="0"/>
            </a:br>
            <a:r>
              <a:rPr lang="ko-KR" altLang="ko-KR" sz="5400" dirty="0"/>
              <a:t>③ </a:t>
            </a:r>
            <a:r>
              <a:rPr lang="ko-KR" altLang="en-US" sz="5400" dirty="0"/>
              <a:t>요약모델의 데이터 규모와 도메인 중 무엇이 더 중요한가</a:t>
            </a:r>
            <a:r>
              <a:rPr lang="en-US" altLang="ko-KR" sz="5400" dirty="0"/>
              <a:t>?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4869167" y="7360924"/>
            <a:ext cx="12378984" cy="1587928"/>
          </a:xfrm>
          <a:prstGeom prst="roundRect">
            <a:avLst/>
          </a:prstGeom>
          <a:solidFill>
            <a:srgbClr val="DBE3F0"/>
          </a:solidFill>
          <a:ln w="13970">
            <a:solidFill>
              <a:srgbClr val="3A5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25400" rIns="76200" bIns="25400" rtlCol="0" anchor="ctr">
            <a:normAutofit/>
          </a:bodyPr>
          <a:lstStyle/>
          <a:p>
            <a:pPr algn="ctr"/>
            <a:r>
              <a:rPr sz="5400" b="1" dirty="0">
                <a:solidFill>
                  <a:srgbClr val="192949"/>
                </a:solidFill>
              </a:rPr>
              <a:t>2  </a:t>
            </a:r>
            <a:r>
              <a:rPr sz="5400" b="1" dirty="0" err="1">
                <a:solidFill>
                  <a:srgbClr val="192949"/>
                </a:solidFill>
              </a:rPr>
              <a:t>청크</a:t>
            </a:r>
            <a:r>
              <a:rPr sz="5400" b="1" dirty="0">
                <a:solidFill>
                  <a:srgbClr val="192949"/>
                </a:solidFill>
              </a:rPr>
              <a:t> </a:t>
            </a:r>
            <a:r>
              <a:rPr sz="5400" b="1" dirty="0" err="1">
                <a:solidFill>
                  <a:srgbClr val="192949"/>
                </a:solidFill>
              </a:rPr>
              <a:t>분할</a:t>
            </a:r>
            <a:endParaRPr lang="ko-KR" altLang="en-US" sz="5400" b="1" dirty="0">
              <a:solidFill>
                <a:srgbClr val="192949"/>
              </a:solidFill>
            </a:endParaRPr>
          </a:p>
          <a:p>
            <a:pPr algn="ctr">
              <a:lnSpc>
                <a:spcPct val="80000"/>
              </a:lnSpc>
            </a:pPr>
            <a:r>
              <a:rPr lang="en-US" altLang="ko-KR" sz="3000" b="0" dirty="0">
                <a:solidFill>
                  <a:srgbClr val="4A4F58"/>
                </a:solidFill>
              </a:rPr>
              <a:t>pko-T5 </a:t>
            </a:r>
            <a:r>
              <a:rPr lang="ko-KR" altLang="en-US" sz="3000" b="0" dirty="0">
                <a:solidFill>
                  <a:srgbClr val="4A4F58"/>
                </a:solidFill>
              </a:rPr>
              <a:t>토큰 기준 </a:t>
            </a:r>
            <a:r>
              <a:rPr lang="en-US" altLang="ko-KR" sz="3000" b="0" dirty="0">
                <a:solidFill>
                  <a:srgbClr val="4A4F58"/>
                </a:solidFill>
              </a:rPr>
              <a:t>1,300 </a:t>
            </a:r>
            <a:r>
              <a:rPr lang="ko-KR" altLang="en-US" sz="3000" b="0" dirty="0">
                <a:solidFill>
                  <a:srgbClr val="4A4F58"/>
                </a:solidFill>
              </a:rPr>
              <a:t>이하 </a:t>
            </a:r>
            <a:r>
              <a:rPr lang="en-US" altLang="ko-KR" sz="3000" b="0" dirty="0">
                <a:solidFill>
                  <a:srgbClr val="4A4F58"/>
                </a:solidFill>
              </a:rPr>
              <a:t>· </a:t>
            </a:r>
            <a:r>
              <a:rPr lang="ko-KR" altLang="en-US" sz="3000" b="0" dirty="0">
                <a:solidFill>
                  <a:srgbClr val="4A4F58"/>
                </a:solidFill>
              </a:rPr>
              <a:t>순서 보존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4893359" y="9224343"/>
            <a:ext cx="12378984" cy="1801919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A5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25400" rIns="76200" bIns="25400" rtlCol="0" anchor="ctr">
            <a:normAutofit/>
          </a:bodyPr>
          <a:lstStyle/>
          <a:p>
            <a:pPr algn="ctr"/>
            <a:r>
              <a:rPr lang="en-US" altLang="ko-KR" sz="5400" b="1" dirty="0">
                <a:solidFill>
                  <a:srgbClr val="192949"/>
                </a:solidFill>
              </a:rPr>
              <a:t>3  </a:t>
            </a:r>
            <a:r>
              <a:rPr lang="ko-KR" altLang="en-US" sz="5400" b="1" dirty="0">
                <a:solidFill>
                  <a:srgbClr val="192949"/>
                </a:solidFill>
              </a:rPr>
              <a:t>요약 생성</a:t>
            </a:r>
            <a:r>
              <a:rPr lang="en-US" altLang="ko-KR" sz="5400" b="1" dirty="0">
                <a:solidFill>
                  <a:srgbClr val="192949"/>
                </a:solidFill>
              </a:rPr>
              <a:t>/</a:t>
            </a:r>
            <a:r>
              <a:rPr lang="ko-KR" altLang="en-US" sz="5400" b="1" dirty="0">
                <a:solidFill>
                  <a:srgbClr val="192949"/>
                </a:solidFill>
              </a:rPr>
              <a:t>추출</a:t>
            </a:r>
          </a:p>
          <a:p>
            <a:pPr algn="ctr">
              <a:lnSpc>
                <a:spcPct val="80000"/>
              </a:lnSpc>
            </a:pPr>
            <a:r>
              <a:rPr lang="en-US" sz="3000" b="0" dirty="0">
                <a:solidFill>
                  <a:srgbClr val="4A4F58"/>
                </a:solidFill>
              </a:rPr>
              <a:t>Small/Large × Abstractive/Extractive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4893359" y="11204522"/>
            <a:ext cx="12378984" cy="1362456"/>
          </a:xfrm>
          <a:prstGeom prst="roundRect">
            <a:avLst/>
          </a:prstGeom>
          <a:solidFill>
            <a:srgbClr val="DBE3F0"/>
          </a:solidFill>
          <a:ln w="13970">
            <a:solidFill>
              <a:srgbClr val="3A5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25400" rIns="76200" bIns="25400" rtlCol="0" anchor="ctr">
            <a:normAutofit lnSpcReduction="10000"/>
          </a:bodyPr>
          <a:lstStyle/>
          <a:p>
            <a:pPr algn="ctr"/>
            <a:r>
              <a:rPr sz="5400" b="1" dirty="0">
                <a:solidFill>
                  <a:srgbClr val="192949"/>
                </a:solidFill>
              </a:rPr>
              <a:t>4  Testing </a:t>
            </a:r>
            <a:r>
              <a:rPr sz="5400" b="1" dirty="0" err="1">
                <a:solidFill>
                  <a:srgbClr val="192949"/>
                </a:solidFill>
              </a:rPr>
              <a:t>변형</a:t>
            </a:r>
            <a:endParaRPr sz="5400" b="1" dirty="0">
              <a:solidFill>
                <a:srgbClr val="192949"/>
              </a:solidFill>
            </a:endParaRPr>
          </a:p>
          <a:p>
            <a:pPr algn="ctr">
              <a:lnSpc>
                <a:spcPct val="80000"/>
              </a:lnSpc>
            </a:pPr>
            <a:r>
              <a:rPr sz="3000" b="0" dirty="0" err="1">
                <a:solidFill>
                  <a:srgbClr val="4A4F58"/>
                </a:solidFill>
              </a:rPr>
              <a:t>요약</a:t>
            </a:r>
            <a:r>
              <a:rPr sz="3000" b="0" dirty="0">
                <a:solidFill>
                  <a:srgbClr val="4A4F58"/>
                </a:solidFill>
              </a:rPr>
              <a:t> 뒤 </a:t>
            </a:r>
            <a:r>
              <a:rPr sz="3000" b="0" dirty="0" err="1">
                <a:solidFill>
                  <a:srgbClr val="4A4F58"/>
                </a:solidFill>
              </a:rPr>
              <a:t>자동</a:t>
            </a:r>
            <a:r>
              <a:rPr sz="3000" b="0" dirty="0">
                <a:solidFill>
                  <a:srgbClr val="4A4F58"/>
                </a:solidFill>
              </a:rPr>
              <a:t> </a:t>
            </a:r>
            <a:r>
              <a:rPr sz="3000" b="0" dirty="0" err="1">
                <a:solidFill>
                  <a:srgbClr val="4A4F58"/>
                </a:solidFill>
              </a:rPr>
              <a:t>생성</a:t>
            </a:r>
            <a:r>
              <a:rPr sz="3000" b="0" dirty="0">
                <a:solidFill>
                  <a:srgbClr val="4A4F58"/>
                </a:solidFill>
              </a:rPr>
              <a:t> Q&amp;A </a:t>
            </a:r>
            <a:r>
              <a:rPr sz="3000" b="0" dirty="0" err="1">
                <a:solidFill>
                  <a:srgbClr val="4A4F58"/>
                </a:solidFill>
              </a:rPr>
              <a:t>추가</a:t>
            </a:r>
            <a:endParaRPr sz="3000" b="0" dirty="0">
              <a:solidFill>
                <a:srgbClr val="4A4F58"/>
              </a:solidFill>
            </a:endParaRPr>
          </a:p>
        </p:txBody>
      </p:sp>
      <p:sp>
        <p:nvSpPr>
          <p:cNvPr id="92" name="Rounded Rectangle 91"/>
          <p:cNvSpPr/>
          <p:nvPr/>
        </p:nvSpPr>
        <p:spPr>
          <a:xfrm>
            <a:off x="14869167" y="12923497"/>
            <a:ext cx="12378984" cy="1532465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A5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25400" rIns="76200" bIns="25400" rtlCol="0" anchor="ctr">
            <a:noAutofit/>
          </a:bodyPr>
          <a:lstStyle/>
          <a:p>
            <a:pPr algn="ctr"/>
            <a:r>
              <a:rPr sz="5400" b="1" dirty="0">
                <a:solidFill>
                  <a:srgbClr val="192949"/>
                </a:solidFill>
              </a:rPr>
              <a:t>5  </a:t>
            </a:r>
            <a:r>
              <a:rPr sz="5400" b="1" dirty="0" err="1">
                <a:solidFill>
                  <a:srgbClr val="192949"/>
                </a:solidFill>
              </a:rPr>
              <a:t>최종</a:t>
            </a:r>
            <a:r>
              <a:rPr sz="5400" b="1" dirty="0">
                <a:solidFill>
                  <a:srgbClr val="192949"/>
                </a:solidFill>
              </a:rPr>
              <a:t> QA </a:t>
            </a:r>
            <a:r>
              <a:rPr sz="5400" b="1" dirty="0" err="1">
                <a:solidFill>
                  <a:srgbClr val="192949"/>
                </a:solidFill>
              </a:rPr>
              <a:t>평가</a:t>
            </a:r>
            <a:endParaRPr sz="5400" b="1" dirty="0">
              <a:solidFill>
                <a:srgbClr val="192949"/>
              </a:solidFill>
            </a:endParaRPr>
          </a:p>
          <a:p>
            <a:pPr algn="ctr">
              <a:lnSpc>
                <a:spcPct val="80000"/>
              </a:lnSpc>
            </a:pPr>
            <a:r>
              <a:rPr sz="3000" b="0" dirty="0">
                <a:solidFill>
                  <a:srgbClr val="4A4F58"/>
                </a:solidFill>
              </a:rPr>
              <a:t>Qwen3.5-9B · </a:t>
            </a:r>
            <a:r>
              <a:rPr sz="3000" b="0" dirty="0" err="1">
                <a:solidFill>
                  <a:srgbClr val="4A4F58"/>
                </a:solidFill>
              </a:rPr>
              <a:t>동일</a:t>
            </a:r>
            <a:r>
              <a:rPr sz="3000" b="0" dirty="0">
                <a:solidFill>
                  <a:srgbClr val="4A4F58"/>
                </a:solidFill>
              </a:rPr>
              <a:t> 100문항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14893359" y="14812482"/>
            <a:ext cx="12378984" cy="1532465"/>
          </a:xfrm>
          <a:prstGeom prst="roundRect">
            <a:avLst/>
          </a:prstGeom>
          <a:solidFill>
            <a:srgbClr val="DBE3F0"/>
          </a:solidFill>
          <a:ln w="13970">
            <a:solidFill>
              <a:srgbClr val="3A5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25400" rIns="76200" bIns="25400" rtlCol="0" anchor="ctr">
            <a:normAutofit/>
          </a:bodyPr>
          <a:lstStyle/>
          <a:p>
            <a:pPr algn="ctr"/>
            <a:r>
              <a:rPr sz="5400" b="1" dirty="0">
                <a:solidFill>
                  <a:srgbClr val="192949"/>
                </a:solidFill>
              </a:rPr>
              <a:t>6  </a:t>
            </a:r>
            <a:r>
              <a:rPr sz="5400" b="1" dirty="0" err="1">
                <a:solidFill>
                  <a:srgbClr val="192949"/>
                </a:solidFill>
              </a:rPr>
              <a:t>결과</a:t>
            </a:r>
            <a:r>
              <a:rPr sz="5400" b="1" dirty="0">
                <a:solidFill>
                  <a:srgbClr val="192949"/>
                </a:solidFill>
              </a:rPr>
              <a:t> </a:t>
            </a:r>
            <a:r>
              <a:rPr sz="5400" b="1" dirty="0" err="1">
                <a:solidFill>
                  <a:srgbClr val="192949"/>
                </a:solidFill>
              </a:rPr>
              <a:t>비교</a:t>
            </a:r>
            <a:endParaRPr sz="5400" b="1" dirty="0">
              <a:solidFill>
                <a:srgbClr val="192949"/>
              </a:solidFill>
            </a:endParaRPr>
          </a:p>
          <a:p>
            <a:pPr algn="ctr">
              <a:lnSpc>
                <a:spcPct val="80000"/>
              </a:lnSpc>
            </a:pPr>
            <a:r>
              <a:rPr sz="3000" b="0" dirty="0">
                <a:solidFill>
                  <a:srgbClr val="4A4F58"/>
                </a:solidFill>
              </a:rPr>
              <a:t>Accuracy + </a:t>
            </a:r>
            <a:r>
              <a:rPr sz="3000" b="0" dirty="0" err="1">
                <a:solidFill>
                  <a:srgbClr val="4A4F58"/>
                </a:solidFill>
              </a:rPr>
              <a:t>goldP로</a:t>
            </a:r>
            <a:r>
              <a:rPr sz="3000" b="0" dirty="0">
                <a:solidFill>
                  <a:srgbClr val="4A4F58"/>
                </a:solidFill>
              </a:rPr>
              <a:t> </a:t>
            </a:r>
            <a:r>
              <a:rPr sz="3000" b="0" dirty="0" err="1">
                <a:solidFill>
                  <a:srgbClr val="4A4F58"/>
                </a:solidFill>
              </a:rPr>
              <a:t>정답</a:t>
            </a:r>
            <a:r>
              <a:rPr sz="3000" b="0" dirty="0">
                <a:solidFill>
                  <a:srgbClr val="4A4F58"/>
                </a:solidFill>
              </a:rPr>
              <a:t> </a:t>
            </a:r>
            <a:r>
              <a:rPr sz="3000" b="0" dirty="0" err="1">
                <a:solidFill>
                  <a:srgbClr val="4A4F58"/>
                </a:solidFill>
              </a:rPr>
              <a:t>여부</a:t>
            </a:r>
            <a:r>
              <a:rPr sz="3000" b="0" dirty="0">
                <a:solidFill>
                  <a:srgbClr val="4A4F58"/>
                </a:solidFill>
              </a:rPr>
              <a:t>/</a:t>
            </a:r>
            <a:r>
              <a:rPr sz="3000" b="0" dirty="0" err="1">
                <a:solidFill>
                  <a:srgbClr val="4A4F58"/>
                </a:solidFill>
              </a:rPr>
              <a:t>확신도</a:t>
            </a:r>
            <a:r>
              <a:rPr sz="3000" b="0" dirty="0">
                <a:solidFill>
                  <a:srgbClr val="4A4F58"/>
                </a:solidFill>
              </a:rPr>
              <a:t> </a:t>
            </a:r>
            <a:r>
              <a:rPr sz="3000" b="0" dirty="0" err="1">
                <a:solidFill>
                  <a:srgbClr val="4A4F58"/>
                </a:solidFill>
              </a:rPr>
              <a:t>확인</a:t>
            </a:r>
            <a:endParaRPr sz="3000" b="0" dirty="0">
              <a:solidFill>
                <a:srgbClr val="4A4F58"/>
              </a:solidFill>
            </a:endParaRPr>
          </a:p>
        </p:txBody>
      </p:sp>
      <p:sp>
        <p:nvSpPr>
          <p:cNvPr id="41" name="Rounded Rectangle 87">
            <a:extLst>
              <a:ext uri="{FF2B5EF4-FFF2-40B4-BE49-F238E27FC236}">
                <a16:creationId xmlns:a16="http://schemas.microsoft.com/office/drawing/2014/main" id="{99756319-AA51-843D-F48A-0E755BFF06E2}"/>
              </a:ext>
            </a:extLst>
          </p:cNvPr>
          <p:cNvSpPr/>
          <p:nvPr/>
        </p:nvSpPr>
        <p:spPr>
          <a:xfrm>
            <a:off x="14893359" y="5271688"/>
            <a:ext cx="12354792" cy="1768389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A5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25400" rIns="76200" bIns="25400" rtlCol="0" anchor="ctr">
            <a:normAutofit/>
          </a:bodyPr>
          <a:lstStyle/>
          <a:p>
            <a:pPr algn="ctr"/>
            <a:r>
              <a:rPr sz="5200" b="1" dirty="0">
                <a:solidFill>
                  <a:srgbClr val="192949"/>
                </a:solidFill>
              </a:rPr>
              <a:t>1  </a:t>
            </a:r>
            <a:r>
              <a:rPr sz="5200" b="1" dirty="0" err="1">
                <a:solidFill>
                  <a:srgbClr val="192949"/>
                </a:solidFill>
              </a:rPr>
              <a:t>자체</a:t>
            </a:r>
            <a:r>
              <a:rPr sz="5200" b="1" dirty="0">
                <a:solidFill>
                  <a:srgbClr val="192949"/>
                </a:solidFill>
              </a:rPr>
              <a:t> </a:t>
            </a:r>
            <a:r>
              <a:rPr sz="5200" b="1" dirty="0" err="1">
                <a:solidFill>
                  <a:srgbClr val="192949"/>
                </a:solidFill>
              </a:rPr>
              <a:t>장편</a:t>
            </a:r>
            <a:r>
              <a:rPr sz="5200" b="1" dirty="0">
                <a:solidFill>
                  <a:srgbClr val="192949"/>
                </a:solidFill>
              </a:rPr>
              <a:t> </a:t>
            </a:r>
            <a:r>
              <a:rPr sz="5200" b="1" dirty="0" err="1">
                <a:solidFill>
                  <a:srgbClr val="192949"/>
                </a:solidFill>
              </a:rPr>
              <a:t>소설</a:t>
            </a:r>
            <a:endParaRPr lang="ko-KR" altLang="en-US" sz="5200" b="1" dirty="0">
              <a:solidFill>
                <a:srgbClr val="192949"/>
              </a:solidFill>
            </a:endParaRPr>
          </a:p>
          <a:p>
            <a:pPr algn="ctr">
              <a:lnSpc>
                <a:spcPct val="80000"/>
              </a:lnSpc>
            </a:pPr>
            <a:r>
              <a:rPr lang="ko-KR" altLang="en-US" sz="3000" b="0" dirty="0">
                <a:solidFill>
                  <a:srgbClr val="4A4F58"/>
                </a:solidFill>
              </a:rPr>
              <a:t>학습 오염 가능성 차단 및 검수 난이도 완화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7FBC9AD-7BB1-10CE-8BC3-AB26D5DB7DCA}"/>
              </a:ext>
            </a:extLst>
          </p:cNvPr>
          <p:cNvSpPr txBox="1"/>
          <p:nvPr/>
        </p:nvSpPr>
        <p:spPr>
          <a:xfrm>
            <a:off x="14869166" y="17804990"/>
            <a:ext cx="12950497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5400" dirty="0"/>
              <a:t>요약 모델</a:t>
            </a:r>
          </a:p>
          <a:p>
            <a:r>
              <a:rPr lang="en-US" altLang="ko-KR" sz="5400" dirty="0"/>
              <a:t>pko-T5 (</a:t>
            </a:r>
            <a:r>
              <a:rPr lang="en-US" altLang="ko-KR" sz="5400" dirty="0" err="1"/>
              <a:t>encorder</a:t>
            </a:r>
            <a:r>
              <a:rPr lang="en-US" altLang="ko-KR" sz="5400" dirty="0"/>
              <a:t> –</a:t>
            </a:r>
            <a:r>
              <a:rPr lang="en-US" altLang="ko-KR" sz="5400" dirty="0" err="1"/>
              <a:t>decorder</a:t>
            </a:r>
            <a:r>
              <a:rPr lang="en-US" altLang="ko-KR" sz="5400" dirty="0"/>
              <a:t>)</a:t>
            </a:r>
          </a:p>
          <a:p>
            <a:r>
              <a:rPr lang="ko-KR" altLang="en-US" sz="5400" dirty="0"/>
              <a:t>생성요약</a:t>
            </a:r>
            <a:r>
              <a:rPr lang="en-US" altLang="ko-KR" sz="5400" dirty="0"/>
              <a:t>·</a:t>
            </a:r>
            <a:r>
              <a:rPr lang="ko-KR" altLang="en-US" sz="5400" dirty="0"/>
              <a:t>질문생성 사용</a:t>
            </a:r>
            <a:r>
              <a:rPr lang="en-US" altLang="ko-KR" sz="5400" dirty="0"/>
              <a:t>.</a:t>
            </a:r>
          </a:p>
          <a:p>
            <a:r>
              <a:rPr lang="ko-KR" altLang="en-US" sz="5400" dirty="0"/>
              <a:t>추출요약 </a:t>
            </a:r>
            <a:r>
              <a:rPr lang="en-US" altLang="ko-KR" sz="5400" dirty="0"/>
              <a:t>(encoder-only)</a:t>
            </a:r>
          </a:p>
          <a:p>
            <a:endParaRPr lang="en-US" altLang="ko-KR" sz="5400" dirty="0"/>
          </a:p>
          <a:p>
            <a:r>
              <a:rPr lang="ko-KR" altLang="en-US" sz="5400" dirty="0"/>
              <a:t>파인 튜닝 데이터 </a:t>
            </a:r>
            <a:r>
              <a:rPr lang="en-US" altLang="ko-KR" sz="5400" dirty="0"/>
              <a:t>– AI Hub</a:t>
            </a:r>
            <a:r>
              <a:rPr lang="ko-KR" altLang="en-US" sz="5400" dirty="0"/>
              <a:t>기반</a:t>
            </a:r>
            <a:endParaRPr lang="en-US" altLang="ko-KR" sz="5400" dirty="0"/>
          </a:p>
        </p:txBody>
      </p:sp>
      <p:graphicFrame>
        <p:nvGraphicFramePr>
          <p:cNvPr id="46" name="표 45">
            <a:extLst>
              <a:ext uri="{FF2B5EF4-FFF2-40B4-BE49-F238E27FC236}">
                <a16:creationId xmlns:a16="http://schemas.microsoft.com/office/drawing/2014/main" id="{48E95A79-31AB-6DDF-EE95-CE04BB56EC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7450704"/>
              </p:ext>
            </p:extLst>
          </p:nvPr>
        </p:nvGraphicFramePr>
        <p:xfrm>
          <a:off x="14869166" y="23312094"/>
          <a:ext cx="12505208" cy="54993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4507">
                  <a:extLst>
                    <a:ext uri="{9D8B030D-6E8A-4147-A177-3AD203B41FA5}">
                      <a16:colId xmlns:a16="http://schemas.microsoft.com/office/drawing/2014/main" val="1276607757"/>
                    </a:ext>
                  </a:extLst>
                </a:gridCol>
                <a:gridCol w="3949013">
                  <a:extLst>
                    <a:ext uri="{9D8B030D-6E8A-4147-A177-3AD203B41FA5}">
                      <a16:colId xmlns:a16="http://schemas.microsoft.com/office/drawing/2014/main" val="2160708545"/>
                    </a:ext>
                  </a:extLst>
                </a:gridCol>
                <a:gridCol w="6581688">
                  <a:extLst>
                    <a:ext uri="{9D8B030D-6E8A-4147-A177-3AD203B41FA5}">
                      <a16:colId xmlns:a16="http://schemas.microsoft.com/office/drawing/2014/main" val="4168583594"/>
                    </a:ext>
                  </a:extLst>
                </a:gridCol>
              </a:tblGrid>
              <a:tr h="78562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</a:pPr>
                      <a:r>
                        <a:rPr lang="ko-KR" altLang="en-US" sz="3000" b="1" dirty="0">
                          <a:solidFill>
                            <a:srgbClr val="FFFFFF"/>
                          </a:solidFill>
                          <a:latin typeface="+mj-lt"/>
                        </a:rPr>
                        <a:t>조건</a:t>
                      </a:r>
                    </a:p>
                  </a:txBody>
                  <a:tcPr>
                    <a:solidFill>
                      <a:srgbClr val="1929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</a:pPr>
                      <a:r>
                        <a:rPr lang="ko-KR" altLang="en-US" sz="3000" b="1" dirty="0">
                          <a:solidFill>
                            <a:srgbClr val="FFFFFF"/>
                          </a:solidFill>
                          <a:latin typeface="+mj-lt"/>
                        </a:rPr>
                        <a:t>구성</a:t>
                      </a:r>
                    </a:p>
                  </a:txBody>
                  <a:tcPr>
                    <a:solidFill>
                      <a:srgbClr val="1929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</a:pPr>
                      <a:r>
                        <a:rPr lang="ko-KR" altLang="en-US" sz="3000" b="1">
                          <a:solidFill>
                            <a:srgbClr val="FFFFFF"/>
                          </a:solidFill>
                          <a:latin typeface="+mj-lt"/>
                        </a:rPr>
                        <a:t>역할</a:t>
                      </a:r>
                    </a:p>
                  </a:txBody>
                  <a:tcPr>
                    <a:solidFill>
                      <a:srgbClr val="1929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1242576"/>
                  </a:ext>
                </a:extLst>
              </a:tr>
              <a:tr h="78562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</a:pPr>
                      <a:r>
                        <a:rPr lang="en-US" sz="3000" b="0">
                          <a:solidFill>
                            <a:srgbClr val="161616"/>
                          </a:solidFill>
                          <a:latin typeface="+mj-lt"/>
                        </a:rPr>
                        <a:t>Closed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</a:pPr>
                      <a:r>
                        <a:rPr lang="ko-KR" altLang="en-US" sz="3000" b="0" dirty="0">
                          <a:solidFill>
                            <a:srgbClr val="161616"/>
                          </a:solidFill>
                          <a:latin typeface="+mj-lt"/>
                        </a:rPr>
                        <a:t>본문 없이 질문만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</a:pPr>
                      <a:r>
                        <a:rPr lang="ko-KR" altLang="en-US" sz="3000" b="0">
                          <a:solidFill>
                            <a:srgbClr val="161616"/>
                          </a:solidFill>
                          <a:latin typeface="+mj-lt"/>
                        </a:rPr>
                        <a:t>문항 자체 난이도</a:t>
                      </a:r>
                      <a:r>
                        <a:rPr lang="en-US" altLang="ko-KR" sz="3000" b="0">
                          <a:solidFill>
                            <a:srgbClr val="161616"/>
                          </a:solidFill>
                          <a:latin typeface="+mj-lt"/>
                        </a:rPr>
                        <a:t>·</a:t>
                      </a:r>
                      <a:r>
                        <a:rPr lang="ko-KR" altLang="en-US" sz="3000" b="0">
                          <a:solidFill>
                            <a:srgbClr val="161616"/>
                          </a:solidFill>
                          <a:latin typeface="+mj-lt"/>
                        </a:rPr>
                        <a:t>선지 단서 확인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0603248"/>
                  </a:ext>
                </a:extLst>
              </a:tr>
              <a:tr h="78562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</a:pPr>
                      <a:r>
                        <a:rPr lang="en-US" sz="3000" b="0">
                          <a:solidFill>
                            <a:srgbClr val="161616"/>
                          </a:solidFill>
                          <a:latin typeface="+mj-lt"/>
                        </a:rPr>
                        <a:t>Raw</a:t>
                      </a:r>
                    </a:p>
                  </a:txBody>
                  <a:tcPr>
                    <a:solidFill>
                      <a:srgbClr val="DBE3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</a:pPr>
                      <a:r>
                        <a:rPr lang="ko-KR" altLang="en-US" sz="3000" b="0" dirty="0">
                          <a:solidFill>
                            <a:srgbClr val="161616"/>
                          </a:solidFill>
                          <a:latin typeface="+mj-lt"/>
                        </a:rPr>
                        <a:t>원문만 제공</a:t>
                      </a:r>
                    </a:p>
                  </a:txBody>
                  <a:tcPr>
                    <a:solidFill>
                      <a:srgbClr val="DBE3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</a:pPr>
                      <a:r>
                        <a:rPr lang="ko-KR" altLang="en-US" sz="3000" b="0">
                          <a:solidFill>
                            <a:srgbClr val="161616"/>
                          </a:solidFill>
                          <a:latin typeface="+mj-lt"/>
                        </a:rPr>
                        <a:t>개입 없는 기준선</a:t>
                      </a:r>
                      <a:endParaRPr lang="ko-KR" altLang="en-US" sz="3000" b="0" dirty="0">
                        <a:solidFill>
                          <a:srgbClr val="161616"/>
                        </a:solidFill>
                        <a:latin typeface="+mj-lt"/>
                      </a:endParaRPr>
                    </a:p>
                  </a:txBody>
                  <a:tcPr>
                    <a:solidFill>
                      <a:srgbClr val="DB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8010834"/>
                  </a:ext>
                </a:extLst>
              </a:tr>
              <a:tr h="78562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</a:pPr>
                      <a:r>
                        <a:rPr lang="en-US" sz="3000" b="0">
                          <a:solidFill>
                            <a:srgbClr val="161616"/>
                          </a:solidFill>
                          <a:latin typeface="+mj-lt"/>
                        </a:rPr>
                        <a:t>S/L-Abs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</a:pPr>
                      <a:r>
                        <a:rPr lang="ko-KR" altLang="en-US" sz="3000" b="0" dirty="0">
                          <a:solidFill>
                            <a:srgbClr val="161616"/>
                          </a:solidFill>
                          <a:latin typeface="+mj-lt"/>
                        </a:rPr>
                        <a:t>생성요약 삽입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</a:pPr>
                      <a:r>
                        <a:rPr lang="ko-KR" altLang="en-US" sz="3000" b="0" dirty="0">
                          <a:solidFill>
                            <a:srgbClr val="161616"/>
                          </a:solidFill>
                          <a:latin typeface="+mj-lt"/>
                        </a:rPr>
                        <a:t>내용을 직접 만들어 요약</a:t>
                      </a:r>
                      <a:endParaRPr lang="en-US" sz="3000" b="0" dirty="0">
                        <a:solidFill>
                          <a:srgbClr val="161616"/>
                        </a:solidFill>
                        <a:latin typeface="+mj-lt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611234"/>
                  </a:ext>
                </a:extLst>
              </a:tr>
              <a:tr h="78562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</a:pPr>
                      <a:r>
                        <a:rPr lang="en-US" sz="3000" b="0">
                          <a:solidFill>
                            <a:srgbClr val="161616"/>
                          </a:solidFill>
                          <a:latin typeface="+mj-lt"/>
                        </a:rPr>
                        <a:t>S/L-Ext</a:t>
                      </a:r>
                    </a:p>
                  </a:txBody>
                  <a:tcPr>
                    <a:solidFill>
                      <a:srgbClr val="DBE3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</a:pPr>
                      <a:r>
                        <a:rPr lang="ko-KR" altLang="en-US" sz="3000" b="0" dirty="0">
                          <a:solidFill>
                            <a:srgbClr val="161616"/>
                          </a:solidFill>
                          <a:latin typeface="+mj-lt"/>
                        </a:rPr>
                        <a:t>추출요약 삽입</a:t>
                      </a:r>
                    </a:p>
                  </a:txBody>
                  <a:tcPr>
                    <a:solidFill>
                      <a:srgbClr val="DBE3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</a:pPr>
                      <a:r>
                        <a:rPr lang="ko-KR" altLang="en-US" sz="3000" b="0" dirty="0">
                          <a:solidFill>
                            <a:srgbClr val="161616"/>
                          </a:solidFill>
                          <a:latin typeface="+mj-lt"/>
                        </a:rPr>
                        <a:t>중요 문장 반복</a:t>
                      </a:r>
                      <a:endParaRPr lang="en-US" sz="3000" b="0" dirty="0">
                        <a:solidFill>
                          <a:srgbClr val="161616"/>
                        </a:solidFill>
                        <a:latin typeface="+mj-lt"/>
                      </a:endParaRPr>
                    </a:p>
                  </a:txBody>
                  <a:tcPr>
                    <a:solidFill>
                      <a:srgbClr val="DB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6180942"/>
                  </a:ext>
                </a:extLst>
              </a:tr>
              <a:tr h="78562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</a:pPr>
                      <a:r>
                        <a:rPr lang="en-US" sz="3000" b="0">
                          <a:solidFill>
                            <a:srgbClr val="161616"/>
                          </a:solidFill>
                          <a:latin typeface="+mj-lt"/>
                        </a:rPr>
                        <a:t>+Testing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</a:pPr>
                      <a:r>
                        <a:rPr lang="ko-KR" altLang="en-US" sz="3000" b="0">
                          <a:solidFill>
                            <a:srgbClr val="161616"/>
                          </a:solidFill>
                          <a:latin typeface="+mj-lt"/>
                        </a:rPr>
                        <a:t>요약 뒤 </a:t>
                      </a:r>
                      <a:r>
                        <a:rPr lang="en-US" altLang="ko-KR" sz="3000" b="0">
                          <a:solidFill>
                            <a:srgbClr val="161616"/>
                          </a:solidFill>
                          <a:latin typeface="+mj-lt"/>
                        </a:rPr>
                        <a:t>Q&amp;A </a:t>
                      </a:r>
                      <a:r>
                        <a:rPr lang="ko-KR" altLang="en-US" sz="3000" b="0">
                          <a:solidFill>
                            <a:srgbClr val="161616"/>
                          </a:solidFill>
                          <a:latin typeface="+mj-lt"/>
                        </a:rPr>
                        <a:t>추가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</a:pPr>
                      <a:r>
                        <a:rPr lang="ko-KR" altLang="en-US" sz="3000" b="0" dirty="0">
                          <a:solidFill>
                            <a:srgbClr val="161616"/>
                          </a:solidFill>
                          <a:latin typeface="+mj-lt"/>
                        </a:rPr>
                        <a:t>검사효과 모방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0054693"/>
                  </a:ext>
                </a:extLst>
              </a:tr>
              <a:tr h="78562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</a:pPr>
                      <a:r>
                        <a:rPr lang="en-US" sz="3000" b="0">
                          <a:solidFill>
                            <a:srgbClr val="161616"/>
                          </a:solidFill>
                          <a:latin typeface="+mj-lt"/>
                        </a:rPr>
                        <a:t>QA-FT</a:t>
                      </a:r>
                    </a:p>
                  </a:txBody>
                  <a:tcPr>
                    <a:solidFill>
                      <a:srgbClr val="DBE3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</a:pPr>
                      <a:r>
                        <a:rPr lang="en-US" sz="3000" b="0">
                          <a:solidFill>
                            <a:srgbClr val="161616"/>
                          </a:solidFill>
                          <a:latin typeface="+mj-lt"/>
                        </a:rPr>
                        <a:t>Q&amp;A</a:t>
                      </a:r>
                      <a:r>
                        <a:rPr lang="ko-KR" altLang="en-US" sz="3000" b="0">
                          <a:solidFill>
                            <a:srgbClr val="161616"/>
                          </a:solidFill>
                          <a:latin typeface="+mj-lt"/>
                        </a:rPr>
                        <a:t>로 파인튜닝</a:t>
                      </a:r>
                    </a:p>
                  </a:txBody>
                  <a:tcPr>
                    <a:solidFill>
                      <a:srgbClr val="DBE3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</a:pPr>
                      <a:r>
                        <a:rPr lang="ko-KR" altLang="en-US" sz="3000" b="0" dirty="0">
                          <a:solidFill>
                            <a:srgbClr val="161616"/>
                          </a:solidFill>
                          <a:latin typeface="+mj-lt"/>
                        </a:rPr>
                        <a:t>검사효과 모방</a:t>
                      </a:r>
                    </a:p>
                  </a:txBody>
                  <a:tcPr>
                    <a:solidFill>
                      <a:srgbClr val="DB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643785"/>
                  </a:ext>
                </a:extLst>
              </a:tr>
            </a:tbl>
          </a:graphicData>
        </a:graphic>
      </p:graphicFrame>
      <p:sp>
        <p:nvSpPr>
          <p:cNvPr id="62" name="TextBox 61">
            <a:extLst>
              <a:ext uri="{FF2B5EF4-FFF2-40B4-BE49-F238E27FC236}">
                <a16:creationId xmlns:a16="http://schemas.microsoft.com/office/drawing/2014/main" id="{F55F7FE5-B2E2-C862-3501-9343356896A6}"/>
              </a:ext>
            </a:extLst>
          </p:cNvPr>
          <p:cNvSpPr txBox="1"/>
          <p:nvPr/>
        </p:nvSpPr>
        <p:spPr>
          <a:xfrm>
            <a:off x="28610217" y="19793340"/>
            <a:ext cx="13159417" cy="8894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5200" b="1" dirty="0">
                <a:solidFill>
                  <a:srgbClr val="192949"/>
                </a:solidFill>
                <a:latin typeface="NanumSquare Bold"/>
              </a:rPr>
              <a:t>결론 요약</a:t>
            </a:r>
            <a:r>
              <a:rPr lang="en-US" altLang="ko-KR" sz="5200" b="1" dirty="0">
                <a:solidFill>
                  <a:srgbClr val="192949"/>
                </a:solidFill>
                <a:latin typeface="NanumSquare Bold"/>
              </a:rPr>
              <a:t>: </a:t>
            </a:r>
            <a:r>
              <a:rPr lang="ko-KR" altLang="en-US" sz="5200" b="1" dirty="0">
                <a:solidFill>
                  <a:srgbClr val="192949"/>
                </a:solidFill>
                <a:latin typeface="NanumSquare Bold"/>
              </a:rPr>
              <a:t>데이터는 도메인이 안 맞더라도 큰 편이 낫다</a:t>
            </a:r>
            <a:r>
              <a:rPr lang="en-US" altLang="ko-KR" sz="5200" b="1" dirty="0">
                <a:solidFill>
                  <a:srgbClr val="192949"/>
                </a:solidFill>
                <a:latin typeface="NanumSquare Bold"/>
              </a:rPr>
              <a:t>. </a:t>
            </a:r>
            <a:r>
              <a:rPr lang="ko-KR" altLang="en-US" sz="5200" b="1" dirty="0">
                <a:solidFill>
                  <a:srgbClr val="192949"/>
                </a:solidFill>
                <a:latin typeface="NanumSquare Bold"/>
              </a:rPr>
              <a:t>또한 요약은 정답 확신도를 조금 올렸지만</a:t>
            </a:r>
            <a:r>
              <a:rPr lang="en-US" altLang="ko-KR" sz="5200" b="1" dirty="0">
                <a:solidFill>
                  <a:srgbClr val="192949"/>
                </a:solidFill>
                <a:latin typeface="NanumSquare Bold"/>
              </a:rPr>
              <a:t>, testing effect</a:t>
            </a:r>
            <a:r>
              <a:rPr lang="ko-KR" altLang="en-US" sz="5200" b="1" dirty="0">
                <a:solidFill>
                  <a:srgbClr val="192949"/>
                </a:solidFill>
                <a:latin typeface="NanumSquare Bold"/>
              </a:rPr>
              <a:t>를 모방했던 질문생성은 정답 확신도를 올리지 못했다</a:t>
            </a:r>
            <a:r>
              <a:rPr lang="en-US" altLang="ko-KR" sz="5200" b="1" dirty="0">
                <a:solidFill>
                  <a:srgbClr val="192949"/>
                </a:solidFill>
                <a:latin typeface="NanumSquare Bold"/>
              </a:rPr>
              <a:t>.</a:t>
            </a:r>
          </a:p>
          <a:p>
            <a:endParaRPr lang="en-US" altLang="ko-KR" sz="5200" b="1" dirty="0">
              <a:solidFill>
                <a:srgbClr val="192949"/>
              </a:solidFill>
              <a:latin typeface="NanumSquare Bold"/>
            </a:endParaRPr>
          </a:p>
          <a:p>
            <a:pPr algn="ctr"/>
            <a:r>
              <a:rPr lang="en-US" altLang="ko-KR" sz="5200" b="1" dirty="0">
                <a:solidFill>
                  <a:srgbClr val="192949"/>
                </a:solidFill>
                <a:latin typeface="NanumSquare Bold"/>
              </a:rPr>
              <a:t>testing effect</a:t>
            </a:r>
            <a:r>
              <a:rPr lang="ko-KR" altLang="en-US" sz="5200" b="1" dirty="0">
                <a:solidFill>
                  <a:srgbClr val="192949"/>
                </a:solidFill>
                <a:latin typeface="NanumSquare Bold"/>
              </a:rPr>
              <a:t>의</a:t>
            </a:r>
            <a:r>
              <a:rPr lang="en-US" altLang="ko-KR" sz="5200" b="1" dirty="0">
                <a:solidFill>
                  <a:srgbClr val="192949"/>
                </a:solidFill>
                <a:latin typeface="NanumSquare Bold"/>
              </a:rPr>
              <a:t> </a:t>
            </a:r>
            <a:r>
              <a:rPr lang="ko-KR" altLang="en-US" sz="5200" b="1" dirty="0">
                <a:solidFill>
                  <a:srgbClr val="192949"/>
                </a:solidFill>
                <a:latin typeface="NanumSquare Bold"/>
              </a:rPr>
              <a:t>실패원인</a:t>
            </a:r>
            <a:endParaRPr lang="en-US" altLang="ko-KR" sz="5200" b="1" dirty="0">
              <a:solidFill>
                <a:srgbClr val="192949"/>
              </a:solidFill>
              <a:latin typeface="NanumSquare Bold"/>
            </a:endParaRPr>
          </a:p>
          <a:p>
            <a:pPr marL="914400" indent="-914400">
              <a:buAutoNum type="arabicPeriod"/>
            </a:pPr>
            <a:r>
              <a:rPr lang="ko-KR" altLang="en-US" sz="5200" b="1" dirty="0">
                <a:solidFill>
                  <a:srgbClr val="192949"/>
                </a:solidFill>
                <a:latin typeface="NanumSquare Bold"/>
              </a:rPr>
              <a:t>사람과 컴퓨터는 다르다</a:t>
            </a:r>
            <a:r>
              <a:rPr lang="en-US" altLang="ko-KR" sz="5200" b="1" dirty="0">
                <a:solidFill>
                  <a:srgbClr val="192949"/>
                </a:solidFill>
                <a:latin typeface="NanumSquare Bold"/>
              </a:rPr>
              <a:t>.</a:t>
            </a:r>
          </a:p>
          <a:p>
            <a:pPr marL="914400" indent="-914400">
              <a:buAutoNum type="arabicPeriod"/>
            </a:pPr>
            <a:r>
              <a:rPr lang="ko-KR" altLang="en-US" sz="5200" b="1" dirty="0">
                <a:solidFill>
                  <a:srgbClr val="192949"/>
                </a:solidFill>
                <a:latin typeface="NanumSquare Bold"/>
              </a:rPr>
              <a:t>질문을 글로 삽입하는 것은 가중치를 바꾸지 못하는 한계를</a:t>
            </a:r>
            <a:r>
              <a:rPr lang="en-US" altLang="ko-KR" sz="5200" b="1" dirty="0">
                <a:solidFill>
                  <a:srgbClr val="192949"/>
                </a:solidFill>
                <a:latin typeface="NanumSquare Bold"/>
              </a:rPr>
              <a:t>, </a:t>
            </a:r>
            <a:r>
              <a:rPr lang="ko-KR" altLang="en-US" sz="5200" b="1" dirty="0" err="1">
                <a:solidFill>
                  <a:srgbClr val="192949"/>
                </a:solidFill>
                <a:latin typeface="NanumSquare Bold"/>
              </a:rPr>
              <a:t>파인튜닝</a:t>
            </a:r>
            <a:r>
              <a:rPr lang="ko-KR" altLang="en-US" sz="5200" b="1" dirty="0">
                <a:solidFill>
                  <a:srgbClr val="192949"/>
                </a:solidFill>
                <a:latin typeface="NanumSquare Bold"/>
              </a:rPr>
              <a:t> 하는 것은 입력 중간에 학습하지 못하는 한계로 </a:t>
            </a:r>
            <a:r>
              <a:rPr lang="en-US" altLang="ko-KR" sz="5200" b="1" dirty="0">
                <a:solidFill>
                  <a:srgbClr val="192949"/>
                </a:solidFill>
                <a:latin typeface="NanumSquare Bold"/>
              </a:rPr>
              <a:t>testing effect</a:t>
            </a:r>
            <a:r>
              <a:rPr lang="ko-KR" altLang="en-US" sz="5200" b="1" dirty="0">
                <a:solidFill>
                  <a:srgbClr val="192949"/>
                </a:solidFill>
                <a:latin typeface="NanumSquare Bold"/>
              </a:rPr>
              <a:t>에는 차이가 있다</a:t>
            </a:r>
            <a:r>
              <a:rPr lang="en-US" altLang="ko-KR" sz="5200" b="1" dirty="0">
                <a:solidFill>
                  <a:srgbClr val="192949"/>
                </a:solidFill>
                <a:latin typeface="NanumSquare Bold"/>
              </a:rPr>
              <a:t>.</a:t>
            </a:r>
            <a:endParaRPr lang="ko-KR" altLang="en-US" sz="5200" dirty="0"/>
          </a:p>
        </p:txBody>
      </p:sp>
      <p:pic>
        <p:nvPicPr>
          <p:cNvPr id="63" name="Picture 127">
            <a:extLst>
              <a:ext uri="{FF2B5EF4-FFF2-40B4-BE49-F238E27FC236}">
                <a16:creationId xmlns:a16="http://schemas.microsoft.com/office/drawing/2014/main" id="{88EFA445-B58A-FB38-59F8-EC58E33F50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01674" y="6543880"/>
            <a:ext cx="12450000" cy="5150000"/>
          </a:xfrm>
          <a:prstGeom prst="rect">
            <a:avLst/>
          </a:prstGeom>
        </p:spPr>
      </p:pic>
      <p:pic>
        <p:nvPicPr>
          <p:cNvPr id="64" name="Picture 128">
            <a:extLst>
              <a:ext uri="{FF2B5EF4-FFF2-40B4-BE49-F238E27FC236}">
                <a16:creationId xmlns:a16="http://schemas.microsoft.com/office/drawing/2014/main" id="{7130CFB6-504F-782E-D8FD-8A337F1C70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01674" y="12743880"/>
            <a:ext cx="12450000" cy="515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353</Words>
  <Application>Microsoft Office PowerPoint</Application>
  <PresentationFormat>사용자 지정</PresentationFormat>
  <Paragraphs>62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NanumSquare</vt:lpstr>
      <vt:lpstr>NanumSquare Bold</vt:lpstr>
      <vt:lpstr>Arial</vt:lpstr>
      <vt:lpstr>Simple Light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박경빈</dc:creator>
  <cp:lastModifiedBy>경환 이</cp:lastModifiedBy>
  <cp:revision>2</cp:revision>
  <dcterms:modified xsi:type="dcterms:W3CDTF">2026-08-21T16:18:54Z</dcterms:modified>
</cp:coreProperties>
</file>