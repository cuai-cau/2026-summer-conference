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58" r:id="rId3"/>
  </p:sldIdLst>
  <p:sldSz cx="42479913" cy="302402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188" y="112"/>
      </p:cViewPr>
      <p:guideLst>
        <p:guide orient="horz" pos="9522"/>
        <p:guide pos="133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ko-KR" altLang="en-US"/>
          </a:p>
        </p:txBody>
      </p:sp>
      <p:sp>
        <p:nvSpPr>
          <p:cNvPr id="50" name="Google Shape;50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020763" y="685800"/>
            <a:ext cx="481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82397688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b16e703bd7_0_43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" name="Google Shape;11;g2b16e703bd7_0_43" descr="스크린샷, 직사각형, 사각형, 라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62" y="2684"/>
            <a:ext cx="42476189" cy="3023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b16e703bd7_0_8"/>
          <p:cNvSpPr txBox="1">
            <a:spLocks noGrp="1"/>
          </p:cNvSpPr>
          <p:nvPr>
            <p:ph type="title"/>
          </p:nvPr>
        </p:nvSpPr>
        <p:spPr>
          <a:xfrm>
            <a:off x="1448063" y="12645668"/>
            <a:ext cx="39584100" cy="49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9pPr>
          </a:lstStyle>
          <a:p>
            <a:endParaRPr/>
          </a:p>
        </p:txBody>
      </p:sp>
      <p:sp>
        <p:nvSpPr>
          <p:cNvPr id="18" name="Google Shape;18;g2b16e703bd7_0_8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b16e703bd7_0_11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b16e703bd7_0_11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395841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806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2b16e703bd7_0_11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b16e703bd7_0_15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2b16e703bd7_0_15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185823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 sz="7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26" name="Google Shape;26;g2b16e703bd7_0_15"/>
          <p:cNvSpPr txBox="1">
            <a:spLocks noGrp="1"/>
          </p:cNvSpPr>
          <p:nvPr>
            <p:ph type="body" idx="2"/>
          </p:nvPr>
        </p:nvSpPr>
        <p:spPr>
          <a:xfrm>
            <a:off x="22449851" y="6775840"/>
            <a:ext cx="185823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 sz="7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27" name="Google Shape;27;g2b16e703bd7_0_15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b16e703bd7_0_20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2b16e703bd7_0_2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b16e703bd7_0_23"/>
          <p:cNvSpPr txBox="1">
            <a:spLocks noGrp="1"/>
          </p:cNvSpPr>
          <p:nvPr>
            <p:ph type="title"/>
          </p:nvPr>
        </p:nvSpPr>
        <p:spPr>
          <a:xfrm>
            <a:off x="1448063" y="3266584"/>
            <a:ext cx="13045200" cy="44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endParaRPr/>
          </a:p>
        </p:txBody>
      </p:sp>
      <p:sp>
        <p:nvSpPr>
          <p:cNvPr id="33" name="Google Shape;33;g2b16e703bd7_0_23"/>
          <p:cNvSpPr txBox="1">
            <a:spLocks noGrp="1"/>
          </p:cNvSpPr>
          <p:nvPr>
            <p:ph type="body" idx="1"/>
          </p:nvPr>
        </p:nvSpPr>
        <p:spPr>
          <a:xfrm>
            <a:off x="1448063" y="8169989"/>
            <a:ext cx="13045200" cy="186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34" name="Google Shape;34;g2b16e703bd7_0_23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b16e703bd7_0_27"/>
          <p:cNvSpPr txBox="1">
            <a:spLocks noGrp="1"/>
          </p:cNvSpPr>
          <p:nvPr>
            <p:ph type="title"/>
          </p:nvPr>
        </p:nvSpPr>
        <p:spPr>
          <a:xfrm>
            <a:off x="2277551" y="2646604"/>
            <a:ext cx="29583000" cy="240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9pPr>
          </a:lstStyle>
          <a:p>
            <a:endParaRPr/>
          </a:p>
        </p:txBody>
      </p:sp>
      <p:sp>
        <p:nvSpPr>
          <p:cNvPr id="37" name="Google Shape;37;g2b16e703bd7_0_27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b16e703bd7_0_30"/>
          <p:cNvSpPr/>
          <p:nvPr/>
        </p:nvSpPr>
        <p:spPr>
          <a:xfrm>
            <a:off x="21240113" y="-735"/>
            <a:ext cx="21240000" cy="3024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62325" tIns="462325" rIns="462325" bIns="462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b16e703bd7_0_30"/>
          <p:cNvSpPr txBox="1">
            <a:spLocks noGrp="1"/>
          </p:cNvSpPr>
          <p:nvPr>
            <p:ph type="title"/>
          </p:nvPr>
        </p:nvSpPr>
        <p:spPr>
          <a:xfrm>
            <a:off x="1233432" y="7250307"/>
            <a:ext cx="18792900" cy="8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9pPr>
          </a:lstStyle>
          <a:p>
            <a:endParaRPr/>
          </a:p>
        </p:txBody>
      </p:sp>
      <p:sp>
        <p:nvSpPr>
          <p:cNvPr id="41" name="Google Shape;41;g2b16e703bd7_0_30"/>
          <p:cNvSpPr txBox="1">
            <a:spLocks noGrp="1"/>
          </p:cNvSpPr>
          <p:nvPr>
            <p:ph type="subTitle" idx="1"/>
          </p:nvPr>
        </p:nvSpPr>
        <p:spPr>
          <a:xfrm>
            <a:off x="1233432" y="16480348"/>
            <a:ext cx="18792900" cy="72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9pPr>
          </a:lstStyle>
          <a:p>
            <a:endParaRPr/>
          </a:p>
        </p:txBody>
      </p:sp>
      <p:sp>
        <p:nvSpPr>
          <p:cNvPr id="42" name="Google Shape;42;g2b16e703bd7_0_30"/>
          <p:cNvSpPr txBox="1">
            <a:spLocks noGrp="1"/>
          </p:cNvSpPr>
          <p:nvPr>
            <p:ph type="body" idx="2"/>
          </p:nvPr>
        </p:nvSpPr>
        <p:spPr>
          <a:xfrm>
            <a:off x="22947405" y="4257113"/>
            <a:ext cx="17825400" cy="21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457200" lvl="0" indent="-806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g2b16e703bd7_0_3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b16e703bd7_0_39"/>
          <p:cNvSpPr txBox="1">
            <a:spLocks noGrp="1"/>
          </p:cNvSpPr>
          <p:nvPr>
            <p:ph type="title" hasCustomPrompt="1"/>
          </p:nvPr>
        </p:nvSpPr>
        <p:spPr>
          <a:xfrm>
            <a:off x="1448063" y="6503331"/>
            <a:ext cx="39584100" cy="115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9pPr>
          </a:lstStyle>
          <a:p>
            <a:r>
              <a:t>xx%</a:t>
            </a:r>
          </a:p>
        </p:txBody>
      </p:sp>
      <p:sp>
        <p:nvSpPr>
          <p:cNvPr id="46" name="Google Shape;46;g2b16e703bd7_0_39"/>
          <p:cNvSpPr txBox="1">
            <a:spLocks noGrp="1"/>
          </p:cNvSpPr>
          <p:nvPr>
            <p:ph type="body" idx="1"/>
          </p:nvPr>
        </p:nvSpPr>
        <p:spPr>
          <a:xfrm>
            <a:off x="1448063" y="18533134"/>
            <a:ext cx="39584100" cy="76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806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2b16e703bd7_0_39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670780"/>
      </p:ext>
    </p:extLst>
  </p:cSld>
  <p:clrMapOvr>
    <a:masterClrMapping/>
  </p:clrMapOvr>
  <p:transition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16e703bd7_0_0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2b16e703bd7_0_0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395841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marR="0" lvl="0" indent="-806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100"/>
              <a:buFont typeface="Arial"/>
              <a:buChar char="●"/>
              <a:defRPr sz="9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●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●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2b16e703bd7_0_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/>
        </p:nvSpPr>
        <p:spPr>
          <a:xfrm>
            <a:off x="881059" y="23502984"/>
            <a:ext cx="13159418" cy="830956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  <a:defRPr/>
            </a:pPr>
            <a:r>
              <a:rPr lang="ko-KR" sz="48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Aim</a:t>
            </a:r>
            <a:endParaRPr sz="48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935489" y="14712353"/>
            <a:ext cx="13159418" cy="820997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  <a:defRPr/>
            </a:pPr>
            <a:r>
              <a:rPr lang="ko-KR" sz="48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Introduction</a:t>
            </a:r>
            <a:endParaRPr sz="48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27374376" y="2813550"/>
            <a:ext cx="13977298" cy="727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42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202</a:t>
            </a:r>
            <a:r>
              <a:rPr lang="en-US" altLang="ko-KR" sz="42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6</a:t>
            </a:r>
            <a:r>
              <a:rPr lang="ko-KR" sz="42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 CUAI 중앙대학교 인공지능 학회 하계 컨퍼런스</a:t>
            </a:r>
            <a:endParaRPr sz="1400" i="0" u="none" strike="noStrike" cap="none">
              <a:solidFill>
                <a:srgbClr val="000000"/>
              </a:solidFill>
              <a:latin typeface="나눔스퀘어"/>
              <a:ea typeface="나눔고딕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25464112" y="3493698"/>
            <a:ext cx="15887698" cy="5715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sz="32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Proceeding of 202</a:t>
            </a:r>
            <a:r>
              <a:rPr lang="en-US" altLang="ko-KR" sz="32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6</a:t>
            </a:r>
            <a:r>
              <a:rPr lang="ko-KR" sz="32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 Chung-Ang University Artificial Intelligence Summer Conference</a:t>
            </a:r>
            <a:endParaRPr sz="32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908275" y="5094779"/>
            <a:ext cx="13159418" cy="818321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  <a:defRPr/>
            </a:pPr>
            <a:r>
              <a:rPr lang="ko-KR" sz="48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  Abstract (나눔스퀘어 54pt) </a:t>
            </a:r>
            <a:endParaRPr sz="48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4660247" y="4988199"/>
            <a:ext cx="13159418" cy="823301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  <a:defRPr/>
            </a:pPr>
            <a:r>
              <a:rPr lang="ko-KR" sz="48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Methods</a:t>
            </a:r>
            <a:endParaRPr sz="48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8412220" y="5001972"/>
            <a:ext cx="13159414" cy="815878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  <a:defRPr/>
            </a:pPr>
            <a:r>
              <a:rPr lang="ko-KR" sz="48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Results</a:t>
            </a:r>
            <a:endParaRPr sz="48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8412220" y="18612164"/>
            <a:ext cx="13159414" cy="816911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  <a:defRPr/>
            </a:pPr>
            <a:r>
              <a:rPr lang="ko-KR" sz="48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Conclusion</a:t>
            </a:r>
            <a:endParaRPr sz="48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952490" y="1241274"/>
            <a:ext cx="35827308" cy="130950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  <a:defRPr/>
            </a:pPr>
            <a:r>
              <a:rPr lang="en-US" sz="80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2D Molecular Image </a:t>
            </a:r>
            <a:r>
              <a:rPr lang="ko-KR" altLang="en-US" sz="80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기반 </a:t>
            </a:r>
            <a:r>
              <a:rPr lang="en-US" altLang="ko-KR" sz="80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CNN</a:t>
            </a:r>
            <a:r>
              <a:rPr lang="ko-KR" altLang="en-US" sz="80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을 활용한 고분자 물성 예측</a:t>
            </a:r>
            <a:endParaRPr sz="80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128117" y="3108948"/>
            <a:ext cx="27482150" cy="75627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  <a:defRPr/>
            </a:pPr>
            <a:r>
              <a:rPr lang="ko-KR" altLang="en-US" sz="44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김강민</a:t>
            </a:r>
            <a:r>
              <a:rPr lang="en-US" altLang="ko-KR" sz="44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(</a:t>
            </a:r>
            <a:r>
              <a:rPr lang="ko-KR" altLang="en-US" sz="44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화학과</a:t>
            </a:r>
            <a:r>
              <a:rPr lang="en-US" altLang="ko-KR" sz="44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), </a:t>
            </a:r>
            <a:r>
              <a:rPr lang="ko-KR" altLang="en-US" sz="44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정효림</a:t>
            </a:r>
            <a:r>
              <a:rPr lang="en-US" altLang="ko-KR" sz="44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(</a:t>
            </a:r>
            <a:r>
              <a:rPr lang="ko-KR" altLang="en-US" sz="44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화학과</a:t>
            </a:r>
            <a:r>
              <a:rPr lang="en-US" altLang="ko-KR" sz="4400" i="0" u="none" strike="noStrike" cap="none">
                <a:solidFill>
                  <a:schemeClr val="lt1"/>
                </a:solidFill>
                <a:latin typeface="나눔스퀘어"/>
                <a:ea typeface="나눔고딕"/>
              </a:rPr>
              <a:t>) | </a:t>
            </a:r>
            <a:r>
              <a:rPr lang="en-US" altLang="ko-KR" sz="4400">
                <a:solidFill>
                  <a:schemeClr val="lt1"/>
                </a:solidFill>
                <a:latin typeface="나눔스퀘어"/>
                <a:ea typeface="나눔고딕"/>
              </a:rPr>
              <a:t>CUAI CV 1</a:t>
            </a:r>
            <a:r>
              <a:rPr lang="ko-KR" altLang="en-US" sz="4400">
                <a:solidFill>
                  <a:schemeClr val="lt1"/>
                </a:solidFill>
                <a:latin typeface="나눔스퀘어"/>
                <a:ea typeface="나눔고딕"/>
              </a:rPr>
              <a:t>팀</a:t>
            </a:r>
            <a:endParaRPr sz="4400" i="0" u="none" strike="noStrike" cap="none">
              <a:solidFill>
                <a:schemeClr val="lt1"/>
              </a:solidFill>
              <a:latin typeface="나눔스퀘어"/>
              <a:ea typeface="나눔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8275" y="5925777"/>
            <a:ext cx="13159418" cy="5845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ko-KR" altLang="ko-KR" sz="5400">
                <a:latin typeface="나눔스퀘어"/>
                <a:ea typeface="나눔고딕"/>
              </a:rPr>
              <a:t>고분자 SMILES를 2D 구조 이미지로 변환하여 CNN 기반 멀티태스크 회귀로 Tg, Density, FFV, Tc, Rg를 동시에 예측하였다.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단계별 모델 최적화를 통해 최종 MAE 0.317, R² 0.719를 달성하였으며, Grad-CAM과 외부 검증을 통해 모델의 해석 가능성과 한계를 분석하였다. </a:t>
            </a:r>
            <a:endParaRPr lang="ko-KR" altLang="en-US" sz="5400">
              <a:latin typeface="나눔스퀘어"/>
              <a:ea typeface="나눔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3844" y="15691644"/>
            <a:ext cx="13159418" cy="930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  <a:defRPr/>
            </a:pPr>
            <a:r>
              <a:rPr lang="ko-KR" altLang="ko-KR" sz="5400">
                <a:latin typeface="나눔스퀘어"/>
                <a:ea typeface="나눔고딕"/>
              </a:rPr>
              <a:t>고분자 물성 예측은 신소재 개발에 중요하지만, 기존 실험 및 시뮬레이션 기반 접근은 많은 시간과 비용을 요구한다.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buNone/>
              <a:defRPr/>
            </a:pPr>
            <a:r>
              <a:rPr lang="ko-KR" altLang="ko-KR" sz="5400">
                <a:latin typeface="나눔스퀘어"/>
                <a:ea typeface="나눔고딕"/>
              </a:rPr>
              <a:t>본 연구에서는 SMILES를 2D 분자 구조 이미지로 변환하고 CNN을 적용하여 5개 고분자 물성을 동시에 예측하였다.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buNone/>
              <a:defRPr/>
            </a:pPr>
            <a:r>
              <a:rPr lang="ko-KR" altLang="ko-KR" sz="5400">
                <a:latin typeface="나눔스퀘어"/>
                <a:ea typeface="나눔고딕"/>
              </a:rPr>
              <a:t>또한 Backbone → Loss Function → HPO 순으로 단계별 통제 실험을 수행하여 각 요소의 성능 기여도를 비교하였다.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buNone/>
              <a:defRPr/>
            </a:pPr>
            <a:endParaRPr lang="ko-KR" altLang="ko-KR" sz="5400">
              <a:latin typeface="나눔스퀘어"/>
              <a:ea typeface="나눔고딕"/>
            </a:endParaRPr>
          </a:p>
          <a:p>
            <a:pPr marL="0" lvl="0" indent="0" algn="l">
              <a:lnSpc>
                <a:spcPct val="120000"/>
              </a:lnSpc>
              <a:buNone/>
              <a:defRPr/>
            </a:pPr>
            <a:endParaRPr lang="en-US" altLang="ko-KR" sz="5400">
              <a:solidFill>
                <a:srgbClr val="3d3d3a"/>
              </a:solidFill>
              <a:latin typeface="나눔스퀘어"/>
              <a:ea typeface="나눔고딕"/>
              <a:cs typeface="나눔스퀘어OTF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5486" y="24303688"/>
            <a:ext cx="12939575" cy="5021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① Multi-property Prediction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Tg · Density · FFV · Tc · Rg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② Systematic Optimization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Backbone → Loss → HPO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③ Interpretation &amp; Validation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Grad-CAM · External Validation</a:t>
            </a:r>
            <a:endParaRPr lang="ko-KR" altLang="ko-KR" sz="5400">
              <a:latin typeface="나눔스퀘어"/>
              <a:ea typeface="나눔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60247" y="5847622"/>
            <a:ext cx="13159416" cy="1819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Data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8,974 polymers → RDKit 2D images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Masked learning for missing labels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Model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ResNet18 multi-task regression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Shared feature → 5 property outputs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en-US" altLang="ko-KR" sz="5400">
                <a:solidFill>
                  <a:schemeClr val="tx1"/>
                </a:solidFill>
                <a:latin typeface="나눔스퀘어"/>
                <a:ea typeface="나눔고딕"/>
              </a:rPr>
              <a:t>-</a:t>
            </a:r>
            <a:r>
              <a:rPr lang="ko-KR" altLang="en-US" sz="5400">
                <a:solidFill>
                  <a:schemeClr val="tx1"/>
                </a:solidFill>
                <a:latin typeface="나눔스퀘어"/>
                <a:ea typeface="나눔고딕"/>
              </a:rPr>
              <a:t> </a:t>
            </a:r>
            <a:r>
              <a:rPr lang="ko-KR" altLang="ko-KR" sz="5400">
                <a:solidFill>
                  <a:schemeClr val="tx1"/>
                </a:solidFill>
                <a:latin typeface="나눔스퀘어"/>
                <a:ea typeface="나눔고딕"/>
              </a:rPr>
              <a:t>Dropout(0.2) → BatchNorm1d → Linear(512→5): 과적합 방지 + 학습 안정화</a:t>
            </a:r>
            <a:endParaRPr lang="ko-KR" altLang="ko-KR" sz="5400">
              <a:solidFill>
                <a:schemeClr val="tx1"/>
              </a:solidFill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en-US" altLang="ko-KR" sz="5400">
                <a:solidFill>
                  <a:schemeClr val="tx1"/>
                </a:solidFill>
                <a:latin typeface="나눔스퀘어"/>
                <a:ea typeface="나눔고딕"/>
              </a:rPr>
              <a:t>-</a:t>
            </a:r>
            <a:r>
              <a:rPr lang="ko-KR" altLang="en-US" sz="5400">
                <a:solidFill>
                  <a:schemeClr val="tx1"/>
                </a:solidFill>
                <a:latin typeface="나눔스퀘어"/>
                <a:ea typeface="나눔고딕"/>
              </a:rPr>
              <a:t> </a:t>
            </a:r>
            <a:r>
              <a:rPr lang="ko-KR" altLang="ko-KR" sz="5400">
                <a:solidFill>
                  <a:schemeClr val="tx1"/>
                </a:solidFill>
                <a:latin typeface="나눔스퀘어"/>
                <a:ea typeface="나눔고딕"/>
              </a:rPr>
              <a:t>Multi-Task Head: 5개 물성이 공유 표상을 사용하도록 설계 (single-task 비교는 미실시)</a:t>
            </a:r>
            <a:endParaRPr lang="ko-KR" altLang="ko-KR" sz="5400">
              <a:solidFill>
                <a:schemeClr val="tx1"/>
              </a:solidFill>
              <a:latin typeface="나눔스퀘어"/>
              <a:ea typeface="나눔고딕"/>
            </a:endParaRPr>
          </a:p>
          <a:p>
            <a:pPr lvl="0">
              <a:defRPr/>
            </a:pP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endParaRPr lang="en-US" altLang="ko-KR" sz="5400">
              <a:latin typeface="나눔스퀘어"/>
              <a:ea typeface="나눔고딕"/>
            </a:endParaRPr>
          </a:p>
          <a:p>
            <a:pPr lvl="0">
              <a:defRPr/>
            </a:pP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Validation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5-fold GroupKFold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Canonical SMILES-based leakage control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Optimization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Backbone → Loss → HPO</a:t>
            </a:r>
            <a:br>
              <a:rPr lang="ko-KR" altLang="ko-KR" sz="5400">
                <a:latin typeface="나눔스퀘어"/>
                <a:ea typeface="나눔고딕"/>
              </a:rPr>
            </a:br>
            <a:r>
              <a:rPr lang="ko-KR" altLang="ko-KR" sz="5400">
                <a:latin typeface="나눔스퀘어"/>
                <a:ea typeface="나눔고딕"/>
              </a:rPr>
              <a:t>Stepwise controlled comparison</a:t>
            </a:r>
            <a:endParaRPr lang="ko-KR" altLang="ko-KR" sz="5400">
              <a:latin typeface="나눔스퀘어"/>
              <a:ea typeface="나눔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412220" y="19443164"/>
            <a:ext cx="13159416" cy="996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Key Findings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</a:rPr>
              <a:t>✓</a:t>
            </a:r>
            <a:r>
              <a:rPr lang="ko-KR" altLang="ko-KR" sz="5400">
                <a:latin typeface="나눔스퀘어"/>
                <a:ea typeface="나눔고딕"/>
              </a:rPr>
              <a:t> 5-property prediction with CNN (MAE 0.338 → 0.317)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</a:rPr>
              <a:t>✓</a:t>
            </a:r>
            <a:r>
              <a:rPr lang="ko-KR" altLang="ko-KR" sz="5400">
                <a:latin typeface="나눔스퀘어"/>
                <a:ea typeface="나눔고딕"/>
              </a:rPr>
              <a:t> Grad-CAM interpretability (8/15 chemically plausible)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</a:rPr>
              <a:t>✓</a:t>
            </a:r>
            <a:r>
              <a:rPr lang="ko-KR" altLang="ko-KR" sz="5400">
                <a:latin typeface="나눔스퀘어"/>
                <a:ea typeface="나눔고딕"/>
              </a:rPr>
              <a:t> Limits of 2D representation (grade-dependency confirmed)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Future Work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 b="1">
                <a:latin typeface="나눔스퀘어"/>
              </a:rPr>
              <a:t>3D representation · stronger validatio</a:t>
            </a:r>
            <a:r>
              <a:rPr lang="en-US" altLang="ko-KR" sz="5400" b="1">
                <a:latin typeface="나눔스퀘어"/>
              </a:rPr>
              <a:t>n</a:t>
            </a:r>
            <a:endParaRPr lang="en-US" altLang="ko-KR" sz="5400" b="1">
              <a:latin typeface="나눔스퀘어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External Validation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Tg MAE: 53.9 → 60.1 °C</a:t>
            </a:r>
            <a:endParaRPr lang="ko-KR" altLang="ko-KR" sz="5400">
              <a:latin typeface="나눔스퀘어"/>
              <a:ea typeface="나눔고딕"/>
            </a:endParaRPr>
          </a:p>
          <a:p>
            <a:pPr lvl="0">
              <a:defRPr/>
            </a:pPr>
            <a:r>
              <a:rPr lang="ko-KR" altLang="ko-KR" sz="5400">
                <a:latin typeface="나눔스퀘어"/>
                <a:ea typeface="나눔고딕"/>
              </a:rPr>
              <a:t>Density MAE: 0.033 → 0.211 g/cm³</a:t>
            </a:r>
            <a:endParaRPr lang="ko-KR" altLang="ko-KR" sz="5400">
              <a:latin typeface="나눔스퀘어"/>
              <a:ea typeface="나눔고딕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408820" y="6013811"/>
            <a:ext cx="11908405" cy="7635593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02324" y="11189647"/>
            <a:ext cx="7481712" cy="3930497"/>
          </a:xfrm>
          <a:prstGeom prst="rect">
            <a:avLst/>
          </a:prstGeom>
        </p:spPr>
      </p:pic>
      <p:pic>
        <p:nvPicPr>
          <p:cNvPr id="62" name="Image 1" descr="/home/claude/pdf_extract/model_architectur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971118" y="15248933"/>
            <a:ext cx="11616324" cy="3973492"/>
          </a:xfrm>
          <a:prstGeom prst="rect">
            <a:avLst/>
          </a:prstGeom>
        </p:spPr>
      </p:pic>
      <p:graphicFrame>
        <p:nvGraphicFramePr>
          <p:cNvPr id="63" name="Table 0"/>
          <p:cNvGraphicFramePr>
            <a:graphicFrameLocks noGrp="1"/>
          </p:cNvGraphicFramePr>
          <p:nvPr/>
        </p:nvGraphicFramePr>
        <p:xfrm>
          <a:off x="28564134" y="13529088"/>
          <a:ext cx="13021048" cy="1591050"/>
        </p:xfrm>
        <a:graphic>
          <a:graphicData uri="http://schemas.openxmlformats.org/drawingml/2006/table">
            <a:tbl>
              <a:tblGrid>
                <a:gridCol w="3255262"/>
                <a:gridCol w="3255262"/>
                <a:gridCol w="3255262"/>
                <a:gridCol w="3255262"/>
              </a:tblGrid>
              <a:tr h="265175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7254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물성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7254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MAE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7254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R²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7254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라벨 수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Tg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53.9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0.590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557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Density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0.0327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0.820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613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FFV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0.00647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0.791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7,892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Tc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0.0306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0.585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867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Rg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1.716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0.703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3d3d3a"/>
                          </a:solidFill>
                          <a:latin typeface="Bahnschrift SemiBold"/>
                          <a:ea typeface="나눔고딕"/>
                          <a:cs typeface="나눔스퀘어OTF"/>
                        </a:rPr>
                        <a:t>614</a:t>
                      </a:r>
                      <a:endParaRPr lang="en-US" sz="1000">
                        <a:latin typeface="Bahnschrift SemiBold"/>
                        <a:ea typeface="나눔고딕"/>
                        <a:cs typeface="나눔스퀘어OTF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575d8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4" name="Image 4" descr="/home/claude/pdf_extract/page3_xref46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8445072" y="15519909"/>
            <a:ext cx="13021049" cy="2710263"/>
          </a:xfrm>
          <a:prstGeom prst="rect">
            <a:avLst/>
          </a:prstGeom>
        </p:spPr>
      </p:pic>
      <p:sp>
        <p:nvSpPr>
          <p:cNvPr id="65" name="Text 19"/>
          <p:cNvSpPr/>
          <p:nvPr/>
        </p:nvSpPr>
        <p:spPr>
          <a:xfrm>
            <a:off x="28548264" y="18201722"/>
            <a:ext cx="13021049" cy="320039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 algn="l">
              <a:lnSpc>
                <a:spcPct val="120000"/>
              </a:lnSpc>
              <a:buNone/>
              <a:defRPr/>
            </a:pPr>
            <a:r>
              <a:rPr lang="en-US" sz="1100" i="1">
                <a:solidFill>
                  <a:srgbClr val="0f6e56"/>
                </a:solidFill>
                <a:latin typeface="나눔스퀘어"/>
                <a:ea typeface="나눔고딕"/>
                <a:cs typeface="나눔스퀘어OTF"/>
              </a:rPr>
              <a:t>Grad-CAM: 8/15(53%) 화학적으로 해석 가능 (FFV가 가장 설득력 있음)</a:t>
            </a:r>
            <a:endParaRPr lang="en-US" sz="1000">
              <a:latin typeface="나눔스퀘어"/>
              <a:ea typeface="나눔고딕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14976319" y="18856666"/>
            <a:ext cx="12527273" cy="365759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100" i="1">
                <a:solidFill>
                  <a:srgbClr val="888780"/>
                </a:solidFill>
                <a:latin typeface="나눔스퀘어"/>
                <a:ea typeface="나눔고딕"/>
                <a:cs typeface="나눔스퀘어OTF"/>
              </a:rPr>
              <a:t>Model Architecture (Backbone: ResNet18, He et al., 2016)</a:t>
            </a:r>
            <a:endParaRPr lang="en-US" sz="1100">
              <a:latin typeface="나눔스퀘어"/>
              <a:ea typeface="나눔고딕"/>
            </a:endParaRPr>
          </a:p>
        </p:txBody>
      </p:sp>
      <p:graphicFrame>
        <p:nvGraphicFramePr>
          <p:cNvPr id="67" name="표 66"/>
          <p:cNvGraphicFramePr/>
          <p:nvPr/>
        </p:nvGraphicFramePr>
        <p:xfrm>
          <a:off x="15084901" y="24422800"/>
          <a:ext cx="12310110" cy="4815273"/>
        </p:xfrm>
        <a:graphic>
          <a:graphicData uri="http://schemas.openxmlformats.org/drawingml/2006/table">
            <a:tbl>
              <a:tblPr firstRow="1" bandRow="1"/>
              <a:tblGrid>
                <a:gridCol w="6155055"/>
                <a:gridCol w="6155055"/>
              </a:tblGrid>
              <a:tr h="816659"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항목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22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설정값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22000"/>
                      </a:schemeClr>
                    </a:solidFill>
                  </a:tcPr>
                </a:tc>
              </a:tr>
              <a:tr h="880130"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Optimizer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AdamW (lr </a:t>
                      </a: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a typeface="나눔고딕"/>
                        </a:rPr>
                        <a:t>≈</a:t>
                      </a: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 2.37e-4, wd </a:t>
                      </a: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a typeface="나눔고딕"/>
                        </a:rPr>
                        <a:t>≈</a:t>
                      </a: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 7.97e-5)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41618"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Loss Function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Masked Huber Loss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41618"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lang="en-US" altLang="ko-KR"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epoch, </a:t>
                      </a: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Batch Size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lang="en-US" altLang="ko-KR"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30, </a:t>
                      </a: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64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880130"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Regularization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Dropout(0.2), BatchNorm1d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41618"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Evaluation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>
                        <a:defRPr/>
                      </a:pPr>
                      <a:r>
                        <a:rPr sz="360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Bahnschrift SemiBold"/>
                          <a:ea typeface="나눔고딕"/>
                        </a:rPr>
                        <a:t>MAE, RMSE, R²</a:t>
                      </a:r>
                      <a:endParaRPr sz="360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Bahnschrift SemiBold"/>
                        <a:ea typeface="나눔고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70237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247</ep:Words>
  <ep:PresentationFormat>사용자 지정</ep:PresentationFormat>
  <ep:Paragraphs>42</ep:Paragraphs>
  <ep:Slides>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Simple Light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박경빈</dc:creator>
  <cp:lastModifiedBy>hyoli</cp:lastModifiedBy>
  <dcterms:modified xsi:type="dcterms:W3CDTF">2026-08-23T13:54:42.130</dcterms:modified>
  <cp:revision>21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